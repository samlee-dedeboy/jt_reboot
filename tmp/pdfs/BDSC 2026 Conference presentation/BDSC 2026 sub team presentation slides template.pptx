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6"/>
    <p:sldMasterId id="2147483671"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Lst>
  <p:sldSz cy="5143500" cx="9144000"/>
  <p:notesSz cx="6858000" cy="9144000"/>
  <p:embeddedFontLst>
    <p:embeddedFont>
      <p:font typeface="Hammersmith One"/>
      <p:regular r:id="rId102"/>
    </p:embeddedFont>
    <p:embeddedFont>
      <p:font typeface="Proxima Nova"/>
      <p:regular r:id="rId103"/>
      <p:bold r:id="rId104"/>
      <p:italic r:id="rId105"/>
      <p:boldItalic r:id="rId106"/>
    </p:embeddedFont>
    <p:embeddedFont>
      <p:font typeface="Proxima Nova Semibold"/>
      <p:regular r:id="rId107"/>
      <p:bold r:id="rId108"/>
      <p:boldItalic r:id="rId10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Isaac Sanchez"/>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5CED069-D96A-4F69-AB26-FEDBC44AE582}">
  <a:tblStyle styleId="{85CED069-D96A-4F69-AB26-FEDBC44AE58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CC4AB25-8DFD-4ACA-88D2-885EBE8A8D3D}"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07" Type="http://schemas.openxmlformats.org/officeDocument/2006/relationships/font" Target="fonts/ProximaNovaSemibold-regular.fntdata"/><Relationship Id="rId106" Type="http://schemas.openxmlformats.org/officeDocument/2006/relationships/font" Target="fonts/ProximaNova-boldItalic.fntdata"/><Relationship Id="rId105" Type="http://schemas.openxmlformats.org/officeDocument/2006/relationships/font" Target="fonts/ProximaNova-italic.fntdata"/><Relationship Id="rId104" Type="http://schemas.openxmlformats.org/officeDocument/2006/relationships/font" Target="fonts/ProximaNova-bold.fntdata"/><Relationship Id="rId109" Type="http://schemas.openxmlformats.org/officeDocument/2006/relationships/font" Target="fonts/ProximaNovaSemibold-boldItalic.fntdata"/><Relationship Id="rId108" Type="http://schemas.openxmlformats.org/officeDocument/2006/relationships/font" Target="fonts/ProximaNovaSemibold-bold.fntdata"/><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3" Type="http://schemas.openxmlformats.org/officeDocument/2006/relationships/font" Target="fonts/ProximaNova-regular.fntdata"/><Relationship Id="rId102" Type="http://schemas.openxmlformats.org/officeDocument/2006/relationships/font" Target="fonts/HammersmithOne-regular.fntdata"/><Relationship Id="rId101" Type="http://schemas.openxmlformats.org/officeDocument/2006/relationships/slide" Target="slides/slide93.xml"/><Relationship Id="rId100" Type="http://schemas.openxmlformats.org/officeDocument/2006/relationships/slide" Target="slides/slide92.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95" Type="http://schemas.openxmlformats.org/officeDocument/2006/relationships/slide" Target="slides/slide87.xml"/><Relationship Id="rId94" Type="http://schemas.openxmlformats.org/officeDocument/2006/relationships/slide" Target="slides/slide86.xml"/><Relationship Id="rId97" Type="http://schemas.openxmlformats.org/officeDocument/2006/relationships/slide" Target="slides/slide89.xml"/><Relationship Id="rId96" Type="http://schemas.openxmlformats.org/officeDocument/2006/relationships/slide" Target="slides/slide88.xml"/><Relationship Id="rId11" Type="http://schemas.openxmlformats.org/officeDocument/2006/relationships/slide" Target="slides/slide3.xml"/><Relationship Id="rId99" Type="http://schemas.openxmlformats.org/officeDocument/2006/relationships/slide" Target="slides/slide91.xml"/><Relationship Id="rId10" Type="http://schemas.openxmlformats.org/officeDocument/2006/relationships/slide" Target="slides/slide2.xml"/><Relationship Id="rId98" Type="http://schemas.openxmlformats.org/officeDocument/2006/relationships/slide" Target="slides/slide90.xml"/><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slide" Target="slides/slide85.xml"/><Relationship Id="rId92" Type="http://schemas.openxmlformats.org/officeDocument/2006/relationships/slide" Target="slides/slide8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06T18:00:01.281">
    <p:pos x="161" y="61"/>
    <p:text>include in order importance of landscape, temp and salinity</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9-29T03:58:10.030">
    <p:pos x="4845" y="1867"/>
    <p:text>Jeff, the Central Delta only reaches these 40 or so activity relative salinity days due to the fact that we include the antioch station within the central delta, make sure to include that nuance, which will support why no +30% runs in the central delta reach that high threshold... those are brackish conditions but reach antioch and by extension the Central delta.  as it sits right at the confluence of brackish and fresh water. Especially during dry and critical years.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9-28T20:32:19.462">
    <p:pos x="1299" y="66"/>
    <p:text>Similar story to boating, every days 24h average from 15 -min station readings yielded vs day uses an exceedance reading at Delta-wide granularity. story could change with min/max but those are for final report appendix.</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57239606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f57239606a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Hi, my name is Lynette and I am representing the Ecology Subteam for Just Transitions. We used the scenario planning and hydrodynamic modeling to inform suitability models for stakeholder selected species, and we assessed landscape and food web contributions of the scenarios.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b9609b97e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3fb9609b97e_1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 there is no perfect definition for ecosystem health. The Delta is a novel system with a combination of native and non-native species. So how do we reconcile a novel ecosystem with the </a:t>
            </a:r>
            <a:r>
              <a:rPr lang="en"/>
              <a:t>definition</a:t>
            </a:r>
            <a:r>
              <a:rPr lang="en"/>
              <a:t> of a just </a:t>
            </a:r>
            <a:r>
              <a:rPr lang="en"/>
              <a:t>transitions, which refers to ensuring that no one is left behind during a transition to a low carbon and environmentally sustainable economy and society?  So we approached the ecology aspect of this project as focusing on enhancing the pre-existing novel ecosystem in ways that are beneficial to the species that live here. We focused on ecosystem function as species fundamental abiotic niches, pelagic food webs, and newly available aquatic habitat.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b9609b97e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3fb9609b97e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And this matters because since colonization the delta has lost over 90% of its historic wetlands. Many of the species that are currently here have </a:t>
            </a:r>
            <a:r>
              <a:rPr lang="en"/>
              <a:t>significant</a:t>
            </a:r>
            <a:r>
              <a:rPr lang="en"/>
              <a:t> cultural and ecological importance in the region, and many are facing declines. So when considering what a just transition we should consider a functional ecosystem as </a:t>
            </a:r>
            <a:r>
              <a:rPr lang="en"/>
              <a:t>requisite</a:t>
            </a:r>
            <a:r>
              <a:rPr lang="en"/>
              <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b9609b97e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g3fb9609b97e_1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 ultimately our criteria were developed to be 4 main deliverables for this project. First, we isolated species of interest using feedback from stakeholders. We combined this with known functional abiotic thresholds for salinity and temperature tolerances. We wanted to represent </a:t>
            </a:r>
            <a:r>
              <a:rPr lang="en"/>
              <a:t>pieces</a:t>
            </a:r>
            <a:r>
              <a:rPr lang="en"/>
              <a:t> that people were interested in understanding how the </a:t>
            </a:r>
            <a:r>
              <a:rPr lang="en"/>
              <a:t>scenarios</a:t>
            </a:r>
            <a:r>
              <a:rPr lang="en"/>
              <a:t> would impact, but we also wanted to be sure tha </a:t>
            </a:r>
            <a:r>
              <a:rPr lang="en"/>
              <a:t>temperature</a:t>
            </a:r>
            <a:r>
              <a:rPr lang="en"/>
              <a:t> and salinity thresholds were actually useful for the species. We will go into more detail about this in a bit. We also evaluated newly </a:t>
            </a:r>
            <a:r>
              <a:rPr lang="en"/>
              <a:t>accessible</a:t>
            </a:r>
            <a:r>
              <a:rPr lang="en"/>
              <a:t> aquatic habitat, and food web contributions. We are tying all of this up with conceptual modeling to describe the various changes according to scenario.</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h4edec2100839ef0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h4edec2100839ef0b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At our June 2025 workshop we asked participants to fill out a questionnaire telling us what species they are interested in seeing how each scenario impacts them. We couldn’t do some of them, such as “songbirds” but we selected some top choices where salinity and temperature could be informative. Here are our species we selected according to their prevalence in our questionnaire.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4edec2100839ef0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h4edec2100839ef0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Once we got our  species of interests we split these species-specific models into two metrics - total proportion of suitable points, and average length of suitable consecutive days for all of our points. I want to be really clear that for species-specific modeling we are just looking at the fundamental abiotic niche - the physiological tolerances of those species - we are not modeling occupancy, or populations, nor are we modeling other factors that go into a species’ realized niche, like vegetation structure, or competition, or predation, or anything. This is simply an exercise to determine where meets a species’ minimum physiological needs from a water chemistry perspective. We also assessed landscape in newly accessible wetland acres, and food web modeling according to food web positive landscape acreage. We are pulling this all together with conceptual models, which we won’t touch on too much todat.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b9609b97e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3fb9609b97e_1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our regions we selected 145 </a:t>
            </a:r>
            <a:r>
              <a:rPr lang="en"/>
              <a:t>points</a:t>
            </a:r>
            <a:r>
              <a:rPr lang="en"/>
              <a:t> across the estuary. We grouped our regions using pien et al. 2025, which grouped regions based on Euclidean distances of temperatures at specific stations, and using grimaldo et al. 2020, which nicely shows known diversions for the bay delta.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h4edec2100839ef0b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h4edec2100839ef0b_0_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And here are the species thresholds we used. We used conservative numbers, especially with temperature, and tried to represent the thresholds at which species start to feel significant physiological stress. Again, we only used this for functional abiotic niches, so where can a species survive at any given point given no other stressors.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4edec2100839ef0b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h4edec2100839ef0b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We want to be really clear that we are not modeling occupancy, or populations. We are modeling where, according to the </a:t>
            </a:r>
            <a:r>
              <a:rPr lang="en"/>
              <a:t>hydrodynamic</a:t>
            </a:r>
            <a:r>
              <a:rPr lang="en"/>
              <a:t> outputs, reach the minimal thresholds for where a species can physiologically exist in space in time We are not taking into other covariates that contribute to a species realized niche - landscape, predation, competition, vegetation structure - that contribute to where a species actually is in space and time. Our points also span throughout the estuary, including regions of the bay, but most of our points are in the legal delta. We started off our modeling with isolating this spring pulse flow and spawning period, so we are only using data from february 1st to june 1st. For threshold data, if an individual day at an individual site falls within the salinity and temperature bracket, it was assigned to a 1. If one or both did not meet the criteria, we assigned it to a zero. For proportion of suitable days we took the total number of suitable days and divided by the total number of days in the run. Then we wanted to look at streak lengths - so how many average consecutive suitable days were in the run. We calculated average number of suitable consecutive days per site, then divided by the total number of streaks.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h3a048fc4063a24c8_1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h3a048fc4063a24c8_13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 a general results of our summary showed little </a:t>
            </a:r>
            <a:r>
              <a:rPr lang="en"/>
              <a:t>variation</a:t>
            </a:r>
            <a:r>
              <a:rPr lang="en"/>
              <a:t> between scenarios. Calling on reserves was the most variable for the species of interest, and new green watershed and ego machine were often close to identical. Here is a quick summary where I have species that declined according to baseline in red, and species that increased from baseline in blue. Generally we saw </a:t>
            </a:r>
            <a:r>
              <a:rPr lang="en"/>
              <a:t>decreases</a:t>
            </a:r>
            <a:r>
              <a:rPr lang="en"/>
              <a:t> in freshwater obligates with increases in species that prefer saltier </a:t>
            </a:r>
            <a:r>
              <a:rPr lang="en"/>
              <a:t>conditions</a:t>
            </a:r>
            <a:r>
              <a:rPr lang="en"/>
              <a:t>, which can be expected. So where clams increased often corresponded to  decrease in largemouth bass and egeria. But the increases and decreases that we are talking about are usually within 1 to 2 difference from the </a:t>
            </a:r>
            <a:r>
              <a:rPr lang="en"/>
              <a:t>baseline</a:t>
            </a:r>
            <a:r>
              <a:rPr lang="en"/>
              <a:t>. So very slight.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h4edec2100839ef0b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h4edec2100839ef0b_0_1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We will start with proportions. Generally with these plots the blue, green, and orange species will increase in rank with increases in suitability from baseline, and the yellow, red, and pink will increase in rank from the baseline if they decrease in suitability. This is proportion of suitable points for 2019 only.  2019 was  a wet year, where we wouldn’t expect a ton of variation.. Each increase or decrease in a step corresponds to a 1% change. We don’t see a ton of variation. Each increase in the ranking here represents a 1% increase in suitable points. So pretty clustered around the baseline during a wet year, with small increases for our species that require small amounts of salt or colder conditions.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But this gives an overall assessment of performance, but we wanted to gauge of temporal element for how long certain points are suitable for certain species.</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h4edec2100839ef0b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h4edec2100839ef0b_0_2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Here is the suitabilities for 2020, so dry year, for calling on reserves. Eco machine, and ngw we see proportion of </a:t>
            </a:r>
            <a:r>
              <a:rPr lang="en"/>
              <a:t>suitable</a:t>
            </a:r>
            <a:r>
              <a:rPr lang="en"/>
              <a:t> points decreasing for largemouth bass and egeria and increasing for overbite clam. Every other species is </a:t>
            </a:r>
            <a:r>
              <a:rPr lang="en"/>
              <a:t>clustered</a:t>
            </a:r>
            <a:r>
              <a:rPr lang="en"/>
              <a:t> around the baseline conditions. This makes sense to me because largemouth bass and egeria are highly salinity senstitive, their upper thresholds are 4 and and 5 </a:t>
            </a:r>
            <a:r>
              <a:rPr lang="en"/>
              <a:t>respectively</a:t>
            </a:r>
            <a:r>
              <a:rPr lang="en"/>
              <a:t>, so drier conditions can be expected to create less favorable conditions. Overbite clam juveniles though have a lower threshold of 5, so it makes sene that those are mirrored here.</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4edec2100839ef0b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h4edec2100839ef0b_0_2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our average streak of consecutive days we see more variation. Each increase or decrease only corresponds to a 1 day change in average streak lengths. Each additional day for any smelt, salmon, or striped bass increases by 1 from the baseline, and any additional day for our less desirable species - egeria, overbite clam, and largemouth bass corresponds to a lower number. Here you can see that in eco machine and new green watershed the streak lengths for bass and egeria decrease a bit. We see increases in streak lengths for juvenile chinook increase by 6 days in calling on reserves, which typically had cooler water temperatures, and increase for adult longfin. Calling on reserves also saw an increase in largemouth bass, and egeria streak lengths, and a decrease for juvenile striped bass. Again, calling on reserves is the odd-scenario out in terms of deviations from the baseline. So more deviation in streaks that overall proportions. So all it takes is one “unsuitable” day to break a streak and move these values around. This is more a metric of stability in water chemistry across the points.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h4edec2100839ef0b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h4edec2100839ef0b_0_4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2020, a dry year, we saw decreased streak lengths for largemouth bass and egeria under the restoration scenarios, and decreased streak lengths for chinook, juvenile striped bass, largemouth bass and overbite clams in calling on reserves. We saw increases in suitability for adult longfin, adult striped, and egeria. Bolster and fortify again has small </a:t>
            </a:r>
            <a:r>
              <a:rPr lang="en"/>
              <a:t>deviations</a:t>
            </a:r>
            <a:r>
              <a:rPr lang="en"/>
              <a:t> but it nearly </a:t>
            </a:r>
            <a:r>
              <a:rPr lang="en"/>
              <a:t>identical</a:t>
            </a:r>
            <a:r>
              <a:rPr lang="en"/>
              <a:t> to the baseline.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h4edec2100839ef0b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h4edec2100839ef0b_0_4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salinity, here are the raw data per scenario from that february to june period., here i just isolated san pablo bay on the left and suisun bay on the right. The scenarios are at the bottom here and the scale is 0 to 30 psu. We typically saw higher salinities in 2019 and 2020 in calling on reserves, with the red boxes, as compared to the other scenarios. Otherwise we saw dramatic annual differences but no major scenario differences. So this is one of the reasons we think calling on reserves showed more </a:t>
            </a:r>
            <a:r>
              <a:rPr lang="en"/>
              <a:t>variation.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h4edec2100839ef0b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h4edec2100839ef0b_0_4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Temperature is much tighter than salinity across scenarios. Really the only somewhat </a:t>
            </a:r>
            <a:r>
              <a:rPr lang="en"/>
              <a:t>noticeable</a:t>
            </a:r>
            <a:r>
              <a:rPr lang="en"/>
              <a:t> difference we see between scenarios is calling on reserves in san </a:t>
            </a:r>
            <a:r>
              <a:rPr lang="en"/>
              <a:t>pablo</a:t>
            </a:r>
            <a:r>
              <a:rPr lang="en"/>
              <a:t> bay has a lower median in 2020 than in other scenarios. Otherwise interannual variations change the medians across years but not tremendously. So we see slight </a:t>
            </a:r>
            <a:r>
              <a:rPr lang="en"/>
              <a:t>differences in temperature dependent species in some areas but nothing dramatic.</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4edec2100839ef0b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h4edec2100839ef0b_0_3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our landscape metric we took a pretty simple approach - NWG has approximately 80,000 new wetland acres. Eco Machine has about 53,000 newly accessible acres. For this metric we wanted to just compare the newly accessible aquatic acres for species to use at habitat. We anchored the baseline at 0, like for the other scenario rankings, which is anchored at 0 additional accessible wetland acres under the scenarios. New Green watershed is anchored at 5 with 80,000. So for each 16,000 acre increase it moves up a ranking. We rounded to the nearest whole number here, but the rankings increase with 16,000 acre increments.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h4edec2100839ef0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h4edec2100839ef0b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 for our last metric we will talk about today we are going to discuss food webs and how we </a:t>
            </a:r>
            <a:r>
              <a:rPr lang="en"/>
              <a:t>calculated</a:t>
            </a:r>
            <a:r>
              <a:rPr lang="en"/>
              <a:t> proxies for food web contributions. We only evaluated eco-machine and the three new green watershed landscape change scenarios for this one </a:t>
            </a:r>
            <a:r>
              <a:rPr lang="en"/>
              <a:t>because</a:t>
            </a:r>
            <a:r>
              <a:rPr lang="en"/>
              <a:t> we are only interested in the scenarios with </a:t>
            </a:r>
            <a:r>
              <a:rPr lang="en"/>
              <a:t>significant</a:t>
            </a:r>
            <a:r>
              <a:rPr lang="en"/>
              <a:t> land conversions. To remind everyone, we have a new green watershed scenario with 100% restoration, 50% restoration, and 25% restoration. We created an equation and </a:t>
            </a:r>
            <a:r>
              <a:rPr lang="en"/>
              <a:t>assigned</a:t>
            </a:r>
            <a:r>
              <a:rPr lang="en"/>
              <a:t> relative contributions to the food web per landscape type. We have wet soil ag at a 0.1, so greater contributions than zero but generally minimal food web contributions that are </a:t>
            </a:r>
            <a:r>
              <a:rPr lang="en"/>
              <a:t>constrained</a:t>
            </a:r>
            <a:r>
              <a:rPr lang="en"/>
              <a:t> in time, 0.2 for managed wetlands. This was was a little tricky because managed wetlands can provide pulses in food web activity during specific periods of time but it is highly variable on management, draining schedules, and what kind of managed wetland it is, but the literature indicates that they are about twice as productive for food webs as wet soil ag. </a:t>
            </a:r>
            <a:r>
              <a:rPr lang="en"/>
              <a:t>Finally</a:t>
            </a:r>
            <a:r>
              <a:rPr lang="en"/>
              <a:t> we assigned a 0.4 to tidal wetlands because even though food is not produced at very high rates, it is not temporally or management constrained and is </a:t>
            </a:r>
            <a:r>
              <a:rPr lang="en"/>
              <a:t>available</a:t>
            </a:r>
            <a:r>
              <a:rPr lang="en"/>
              <a:t> at all times of the year. So we estimated this to be twice the landscape value of managed systems. We then plugged these into a total additional acreage equation (we subtracted the pre-existing acreages of each, and that value was our food web proxy.</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h4edec2100839ef0b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h4edec2100839ef0b_0_3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And here are the results using our proxy equation. Eco-machine, which has no additional landscape change apart from strategic restorations for salinity management ranked one above the baseline. The 100% restoration scenarios was anchored at 5 here, and the 25% and 50% restoration scenarios both ranked at 4’s. To calculate these we anchored 5 at the </a:t>
            </a:r>
            <a:r>
              <a:rPr lang="en"/>
              <a:t>maximum value of the proxy, and then divided that value by 5, with each number corresponding to an increment in our proxy value. What you can take away here is that restoration is good, but you can achieve a high ranking for this system using managed systems and wet soil agriculture as well for pelagic food web contributions.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That is all I have for now, we are working to tie up these results in a conceptual framework for our final workshop and report to help distill to stakeholders how landscape level changes might impact the ecology of bay delta. Thank you.</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fb98e282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3fb98e2824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fb98e2824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3fb98e28245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b98e2824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g3fb98e28245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5d8b6b6f19e4f369_1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h5d8b6b6f19e4f369_12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h5d8b6b6f19e4f369_1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h5d8b6b6f19e4f369_12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fbb7f03e8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g3fbb7f03e80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fbb7f03e8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g3fbb7f03e80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h5d8b6b6f19e4f369_12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h5d8b6b6f19e4f369_12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5200"/>
              <a:buFont typeface="Arial"/>
              <a:buNone/>
            </a:pPr>
            <a:r>
              <a:rPr i="1" lang="en" sz="1200">
                <a:solidFill>
                  <a:schemeClr val="dk1"/>
                </a:solidFill>
                <a:latin typeface="Proxima Nova"/>
                <a:ea typeface="Proxima Nova"/>
                <a:cs typeface="Proxima Nova"/>
                <a:sym typeface="Proxima Nova"/>
              </a:rPr>
              <a:t>we documented all concerns, but couldn’t address or measure all of them Or ones that are covered under other criteria (like rec). </a:t>
            </a:r>
            <a:endParaRPr i="1" sz="1200">
              <a:solidFill>
                <a:schemeClr val="dk1"/>
              </a:solidFill>
              <a:latin typeface="Proxima Nova"/>
              <a:ea typeface="Proxima Nova"/>
              <a:cs typeface="Proxima Nova"/>
              <a:sym typeface="Proxima Nova"/>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fbb7f03e8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g3fbb7f03e80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fb98e28245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g3fb98e28245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h23d37e2ebf09fbdd_4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h23d37e2ebf09fbdd_4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h23d37e2ebf09fbdd_4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h23d37e2ebf09fbdd_4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We molded this for an extremely dry period, both drought years, 2021 particularly dry, looked at this under a time of stress</a:t>
            </a:r>
            <a:endParaRPr/>
          </a:p>
          <a:p>
            <a:pPr indent="0" lvl="0" marL="0" rtl="0" algn="l">
              <a:lnSpc>
                <a:spcPct val="115000"/>
              </a:lnSpc>
              <a:spcBef>
                <a:spcPts val="0"/>
              </a:spcBef>
              <a:spcAft>
                <a:spcPts val="0"/>
              </a:spcAft>
              <a:buSzPts val="1100"/>
              <a:buNone/>
            </a:pPr>
            <a:r>
              <a:rPr lang="en"/>
              <a:t>You are seeing the average for the full time period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This first</a:t>
            </a:r>
            <a:endParaRPr/>
          </a:p>
          <a:p>
            <a:pPr indent="0" lvl="0" marL="0" rtl="0" algn="l">
              <a:lnSpc>
                <a:spcPct val="100000"/>
              </a:lnSpc>
              <a:spcBef>
                <a:spcPts val="0"/>
              </a:spcBef>
              <a:spcAft>
                <a:spcPts val="0"/>
              </a:spcAft>
              <a:buSzPts val="1100"/>
              <a:buNone/>
            </a:pPr>
            <a:r>
              <a:rPr lang="en"/>
              <a:t>Then divided 2020 vs 2021 (both dry, 2021 drier)</a:t>
            </a:r>
            <a:endParaRPr/>
          </a:p>
          <a:p>
            <a:pPr indent="0" lvl="0" marL="0" rtl="0" algn="l">
              <a:lnSpc>
                <a:spcPct val="100000"/>
              </a:lnSpc>
              <a:spcBef>
                <a:spcPts val="0"/>
              </a:spcBef>
              <a:spcAft>
                <a:spcPts val="0"/>
              </a:spcAft>
              <a:buSzPts val="1100"/>
              <a:buNone/>
            </a:pPr>
            <a:r>
              <a:rPr lang="en"/>
              <a:t>Then aggregate the two years for the dry season, two years for the wet season (slide 15/16)</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For slide 16 - take wet/dry out of the x axis, instead make subheadings (text box) wet (left) dry (right)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This overall slide is the main focus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Reorder for historic baseline first, then 30% outflow increase, then 10% decrease</a:t>
            </a:r>
            <a:endParaRPr/>
          </a:p>
          <a:p>
            <a:pPr indent="0" lvl="0" marL="0" rtl="0" algn="l">
              <a:lnSpc>
                <a:spcPct val="100000"/>
              </a:lnSpc>
              <a:spcBef>
                <a:spcPts val="0"/>
              </a:spcBef>
              <a:spcAft>
                <a:spcPts val="0"/>
              </a:spcAft>
              <a:buSzPts val="1100"/>
              <a:buNone/>
            </a:pPr>
            <a:r>
              <a:rPr lang="en"/>
              <a:t>Make x axis titles larger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Decrease space headers are taking up</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Increase outflows → significant change in WQ</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Don't need to show seasonality</a:t>
            </a:r>
            <a:endParaRPr/>
          </a:p>
          <a:p>
            <a:pPr indent="0" lvl="0" marL="0" rtl="0" algn="l">
              <a:lnSpc>
                <a:spcPct val="100000"/>
              </a:lnSpc>
              <a:spcBef>
                <a:spcPts val="0"/>
              </a:spcBef>
              <a:spcAft>
                <a:spcPts val="0"/>
              </a:spcAft>
              <a:buSzPts val="1100"/>
              <a:buNone/>
            </a:pPr>
            <a:r>
              <a:rPr lang="en"/>
              <a:t>Show vs years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Look into where exceedances are happening geographically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MOVE HISTORIC BASELINE LEFT, OUTFLOW DECREASE RIGHT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h23d37e2ebf09fbdd_4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h23d37e2ebf09fbdd_4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Proxima Nova"/>
                <a:ea typeface="Proxima Nova"/>
                <a:cs typeface="Proxima Nova"/>
                <a:sym typeface="Proxima Nova"/>
              </a:rPr>
              <a:t>Takeaways - increased flows through the Delta makes a big difference</a:t>
            </a:r>
            <a:endParaRPr sz="1200">
              <a:solidFill>
                <a:schemeClr val="dk1"/>
              </a:solidFill>
              <a:latin typeface="Proxima Nova"/>
              <a:ea typeface="Proxima Nova"/>
              <a:cs typeface="Proxima Nova"/>
              <a:sym typeface="Proxima Nova"/>
            </a:endParaRPr>
          </a:p>
          <a:p>
            <a:pPr indent="0" lvl="0" marL="0" rtl="0" algn="l">
              <a:spcBef>
                <a:spcPts val="800"/>
              </a:spcBef>
              <a:spcAft>
                <a:spcPts val="0"/>
              </a:spcAft>
              <a:buClr>
                <a:schemeClr val="dk1"/>
              </a:buClr>
              <a:buSzPts val="1100"/>
              <a:buFont typeface="Arial"/>
              <a:buNone/>
            </a:pPr>
            <a:r>
              <a:rPr lang="en" sz="1200">
                <a:solidFill>
                  <a:schemeClr val="dk1"/>
                </a:solidFill>
                <a:latin typeface="Proxima Nova"/>
                <a:ea typeface="Proxima Nova"/>
                <a:cs typeface="Proxima Nova"/>
                <a:sym typeface="Proxima Nova"/>
              </a:rPr>
              <a:t>Results achieved only by reducing exports (reducing upstream diversions or combination might have different results and fresher south Delta</a:t>
            </a:r>
            <a:endParaRPr sz="1200">
              <a:solidFill>
                <a:schemeClr val="dk1"/>
              </a:solidFill>
              <a:latin typeface="Proxima Nova"/>
              <a:ea typeface="Proxima Nova"/>
              <a:cs typeface="Proxima Nova"/>
              <a:sym typeface="Proxima Nova"/>
            </a:endParaRPr>
          </a:p>
          <a:p>
            <a:pPr indent="0" lvl="0" marL="0" rtl="0" algn="l">
              <a:spcBef>
                <a:spcPts val="800"/>
              </a:spcBef>
              <a:spcAft>
                <a:spcPts val="0"/>
              </a:spcAft>
              <a:buClr>
                <a:schemeClr val="dk1"/>
              </a:buClr>
              <a:buSzPts val="1100"/>
              <a:buFont typeface="Arial"/>
              <a:buNone/>
            </a:pPr>
            <a:r>
              <a:t/>
            </a:r>
            <a:endParaRPr sz="1200">
              <a:solidFill>
                <a:schemeClr val="dk1"/>
              </a:solidFill>
              <a:latin typeface="Proxima Nova"/>
              <a:ea typeface="Proxima Nova"/>
              <a:cs typeface="Proxima Nova"/>
              <a:sym typeface="Proxima Nova"/>
            </a:endParaRPr>
          </a:p>
          <a:p>
            <a:pPr indent="0" lvl="0" marL="0" rtl="0" algn="l">
              <a:spcBef>
                <a:spcPts val="800"/>
              </a:spcBef>
              <a:spcAft>
                <a:spcPts val="0"/>
              </a:spcAft>
              <a:buClr>
                <a:schemeClr val="dk1"/>
              </a:buClr>
              <a:buSzPts val="1100"/>
              <a:buFont typeface="Arial"/>
              <a:buNone/>
            </a:pPr>
            <a:r>
              <a:rPr lang="en" sz="1200">
                <a:solidFill>
                  <a:schemeClr val="dk1"/>
                </a:solidFill>
                <a:latin typeface="Proxima Nova"/>
                <a:ea typeface="Proxima Nova"/>
                <a:cs typeface="Proxima Nova"/>
                <a:sym typeface="Proxima Nova"/>
              </a:rPr>
              <a:t>First - whole one (slide 13)</a:t>
            </a:r>
            <a:endParaRPr sz="1200">
              <a:solidFill>
                <a:schemeClr val="dk1"/>
              </a:solidFill>
              <a:latin typeface="Proxima Nova"/>
              <a:ea typeface="Proxima Nova"/>
              <a:cs typeface="Proxima Nova"/>
              <a:sym typeface="Proxima Nova"/>
            </a:endParaRPr>
          </a:p>
          <a:p>
            <a:pPr indent="0" lvl="0" marL="0" rtl="0" algn="l">
              <a:spcBef>
                <a:spcPts val="800"/>
              </a:spcBef>
              <a:spcAft>
                <a:spcPts val="0"/>
              </a:spcAft>
              <a:buClr>
                <a:schemeClr val="dk1"/>
              </a:buClr>
              <a:buSzPts val="1100"/>
              <a:buFont typeface="Arial"/>
              <a:buNone/>
            </a:pPr>
            <a:r>
              <a:rPr lang="en" sz="1200">
                <a:solidFill>
                  <a:schemeClr val="dk1"/>
                </a:solidFill>
                <a:latin typeface="Proxima Nova"/>
                <a:ea typeface="Proxima Nova"/>
                <a:cs typeface="Proxima Nova"/>
                <a:sym typeface="Proxima Nova"/>
              </a:rPr>
              <a:t>Then, Wet or dry year</a:t>
            </a:r>
            <a:endParaRPr sz="1200">
              <a:solidFill>
                <a:schemeClr val="dk1"/>
              </a:solidFill>
              <a:latin typeface="Proxima Nova"/>
              <a:ea typeface="Proxima Nova"/>
              <a:cs typeface="Proxima Nova"/>
              <a:sym typeface="Proxima Nova"/>
            </a:endParaRPr>
          </a:p>
          <a:p>
            <a:pPr indent="0" lvl="0" marL="0" rtl="0" algn="l">
              <a:spcBef>
                <a:spcPts val="800"/>
              </a:spcBef>
              <a:spcAft>
                <a:spcPts val="0"/>
              </a:spcAft>
              <a:buClr>
                <a:schemeClr val="dk1"/>
              </a:buClr>
              <a:buSzPts val="1100"/>
              <a:buFont typeface="Arial"/>
              <a:buNone/>
            </a:pPr>
            <a:r>
              <a:rPr lang="en" sz="1200">
                <a:solidFill>
                  <a:schemeClr val="dk1"/>
                </a:solidFill>
                <a:latin typeface="Proxima Nova"/>
                <a:ea typeface="Proxima Nova"/>
                <a:cs typeface="Proxima Nova"/>
                <a:sym typeface="Proxima Nova"/>
              </a:rPr>
              <a:t>Say 2020 and 2021, both dry</a:t>
            </a:r>
            <a:endParaRPr sz="1200">
              <a:solidFill>
                <a:schemeClr val="dk1"/>
              </a:solidFill>
              <a:latin typeface="Proxima Nova"/>
              <a:ea typeface="Proxima Nova"/>
              <a:cs typeface="Proxima Nova"/>
              <a:sym typeface="Proxima Nova"/>
            </a:endParaRPr>
          </a:p>
          <a:p>
            <a:pPr indent="0" lvl="0" marL="0" rtl="0" algn="l">
              <a:spcBef>
                <a:spcPts val="800"/>
              </a:spcBef>
              <a:spcAft>
                <a:spcPts val="0"/>
              </a:spcAft>
              <a:buClr>
                <a:schemeClr val="dk1"/>
              </a:buClr>
              <a:buSzPts val="1100"/>
              <a:buFont typeface="Arial"/>
              <a:buNone/>
            </a:pPr>
            <a:r>
              <a:rPr lang="en" sz="1200">
                <a:solidFill>
                  <a:schemeClr val="dk1"/>
                </a:solidFill>
                <a:latin typeface="Proxima Nova"/>
                <a:ea typeface="Proxima Nova"/>
                <a:cs typeface="Proxima Nova"/>
                <a:sym typeface="Proxima Nova"/>
              </a:rPr>
              <a:t>2020 vs 2021 instead of wet / dry</a:t>
            </a:r>
            <a:endParaRPr sz="1200">
              <a:solidFill>
                <a:schemeClr val="dk1"/>
              </a:solidFill>
              <a:latin typeface="Proxima Nova"/>
              <a:ea typeface="Proxima Nova"/>
              <a:cs typeface="Proxima Nova"/>
              <a:sym typeface="Proxima Nova"/>
            </a:endParaRPr>
          </a:p>
          <a:p>
            <a:pPr indent="0" lvl="0" marL="0" rtl="0" algn="l">
              <a:spcBef>
                <a:spcPts val="800"/>
              </a:spcBef>
              <a:spcAft>
                <a:spcPts val="0"/>
              </a:spcAft>
              <a:buClr>
                <a:schemeClr val="dk1"/>
              </a:buClr>
              <a:buSzPts val="1100"/>
              <a:buFont typeface="Arial"/>
              <a:buNone/>
            </a:pPr>
            <a:r>
              <a:t/>
            </a:r>
            <a:endParaRPr sz="1200">
              <a:solidFill>
                <a:schemeClr val="dk1"/>
              </a:solidFill>
              <a:latin typeface="Proxima Nova"/>
              <a:ea typeface="Proxima Nova"/>
              <a:cs typeface="Proxima Nova"/>
              <a:sym typeface="Proxima Nova"/>
            </a:endParaRPr>
          </a:p>
          <a:p>
            <a:pPr indent="0" lvl="0" marL="0" rtl="0" algn="l">
              <a:spcBef>
                <a:spcPts val="800"/>
              </a:spcBef>
              <a:spcAft>
                <a:spcPts val="800"/>
              </a:spcAft>
              <a:buClr>
                <a:schemeClr val="dk1"/>
              </a:buClr>
              <a:buSzPts val="1100"/>
              <a:buFont typeface="Arial"/>
              <a:buNone/>
            </a:pPr>
            <a:r>
              <a:rPr lang="en" sz="1200">
                <a:solidFill>
                  <a:schemeClr val="dk1"/>
                </a:solidFill>
                <a:latin typeface="Proxima Nova"/>
                <a:ea typeface="Proxima Nova"/>
                <a:cs typeface="Proxima Nova"/>
                <a:sym typeface="Proxima Nova"/>
              </a:rPr>
              <a:t>ADD BELOW - LEVEL OF VULNERABILITY - X AXIS LABEL</a:t>
            </a:r>
            <a:endParaRPr sz="1200">
              <a:solidFill>
                <a:schemeClr val="dk1"/>
              </a:solidFill>
              <a:latin typeface="Proxima Nova"/>
              <a:ea typeface="Proxima Nova"/>
              <a:cs typeface="Proxima Nova"/>
              <a:sym typeface="Proxima Nova"/>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h23d37e2ebf09fbdd_4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h23d37e2ebf09fbdd_4_2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h8e1211ece230e92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h8e1211ece230e92_1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fbb7f03e8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g3fbb7f03e80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h8e1211ece230e92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h8e1211ece230e92_1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Heat maps of base show where the water age is already above 14 days, and where it may be below. All </a:t>
            </a:r>
            <a:r>
              <a:rPr lang="en"/>
              <a:t>assessments</a:t>
            </a:r>
            <a:r>
              <a:rPr lang="en"/>
              <a:t> are made as comparative change from baseline.</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h5d8b6b6f19e4f369_12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h5d8b6b6f19e4f369_12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h5d8b6b6f19e4f369_12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9" name="Google Shape;419;h5d8b6b6f19e4f369_12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h5d8b6b6f19e4f369_12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5" name="Google Shape;425;h5d8b6b6f19e4f369_12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h5d8b6b6f19e4f369_12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h5d8b6b6f19e4f369_12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h5d8b6b6f19e4f36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8" name="Google Shape;438;h5d8b6b6f19e4f369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h23d37e2ebf09fbdd_4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 name="Google Shape;444;h23d37e2ebf09fbdd_4_3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h8e1211ece230e92_1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5" name="Google Shape;465;h8e1211ece230e92_1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h5d8b6b6f19e4f369_12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0" name="Google Shape;470;h5d8b6b6f19e4f369_12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h5d8b6b6f19e4f369_12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7" name="Google Shape;477;h5d8b6b6f19e4f369_12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fb98e2824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4" name="Google Shape;484;g3fb98e28245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 don't have an Indigenous person talking about this -- not here today but are very present in our project. What we have has been assembled by extensive feedback</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h23d37e2ebf09fbdd_4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0" name="Google Shape;490;h23d37e2ebf09fbdd_4_3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h5d8b6b6f19e4f369_12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5" name="Google Shape;495;h5d8b6b6f19e4f369_12_1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fbb7f03e8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2" name="Google Shape;502;g3fbb7f03e80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EJ Tribal paper from Delta Stewardship Council - Tribes think of Delta boundary as an artificial construct, the whole watershed and its larger connection is of great importance. Don't have a subregional watershed; this map is showing what has been articulated as the historical Tribal territories -- multiple Tribes -- legal delta in there for reference, but not approached like this by tribal communities. Tribes relocated so no longer live in what is considered the legal delta.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h5d8b6b6f19e4f369_12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9" name="Google Shape;509;h5d8b6b6f19e4f369_12_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h8e1211ece230e92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6" name="Google Shape;526;h8e1211ece230e92_1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40a10acc964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3" name="Google Shape;533;g40a10acc964_5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Proxima Nova"/>
                <a:ea typeface="Proxima Nova"/>
                <a:cs typeface="Proxima Nova"/>
                <a:sym typeface="Proxima Nova"/>
              </a:rPr>
              <a:t>Many of the metrics cannot be directly measured in the scenarios and are approached as recommendations for how they could potentially be implemented.</a:t>
            </a:r>
            <a:endParaRPr sz="1200">
              <a:solidFill>
                <a:schemeClr val="dk1"/>
              </a:solidFill>
            </a:endParaRPr>
          </a:p>
          <a:p>
            <a:pPr indent="0" lvl="0" marL="0" rtl="0" algn="l">
              <a:lnSpc>
                <a:spcPct val="100000"/>
              </a:lnSpc>
              <a:spcBef>
                <a:spcPts val="80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fb98e28245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9" name="Google Shape;539;g3fb98e28245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h5d8b6b6f19e4f369_12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5" name="Google Shape;545;h5d8b6b6f19e4f369_12_1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h5d8b6b6f19e4f369_12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1" name="Google Shape;551;h5d8b6b6f19e4f369_12_1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h5d8b6b6f19e4f369_12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0" name="Google Shape;560;h5d8b6b6f19e4f369_12_1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h5d8b6b6f19e4f369_12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3" name="Google Shape;573;h5d8b6b6f19e4f369_12_2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h23d37e2ebf09fbdd_4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h23d37e2ebf09fbdd_4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h3a048fc4063a24c8_1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2" name="Google Shape;592;h3a048fc4063a24c8_13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h5d8b6b6f19e4f369_12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0" name="Google Shape;600;h5d8b6b6f19e4f369_12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10% decrease -- </a:t>
            </a:r>
            <a:r>
              <a:rPr lang="en">
                <a:solidFill>
                  <a:schemeClr val="dk1"/>
                </a:solidFill>
              </a:rPr>
              <a:t>You're allowing for more pumping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Already critical so double magnitude</a:t>
            </a:r>
            <a:endParaRPr>
              <a:solidFill>
                <a:schemeClr val="dk1"/>
              </a:solidFill>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h71c3defaea6bc65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7" name="Google Shape;607;h71c3defaea6bc659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COR OVERALL HAS THE POTENTIAL TO CREATE MORE FLOWS FOR FISH - WHEN WATER IS RELEASED TO BENEFIT AQUATIC ECOSYSTEMS - CHANGING OPERATION OF EXISTING INFRASTRUCTURE - WE HAVEN'T BEEN ABLE TO EXPLORE THAT IN OUR MODELING, BUT THIS IS SUPPOSED TO BE ABOUT CHANGE IN OPERATION, GIVEN THAT THEY'RE ALREADY THERE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HIGHLIGHT NGW IS 4 BECAUSE IT'S NOT COMBINED WITH ADDITIONAL FLOW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Think through how to talk about these and give rationale - ask how people would rank it themselves, open conversation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fb98e28245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3" name="Google Shape;613;g3fb98e28245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fb98e28245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9" name="Google Shape;619;g3fb98e28245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fb98e28245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4" name="Google Shape;624;g3fb98e28245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fb98e28245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9" name="Google Shape;629;g3fb98e28245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fb98e28245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6" name="Google Shape;636;g3fb98e28245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fb98e28245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2" name="Google Shape;642;g3fb98e28245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fb98e28245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9" name="Google Shape;649;g3fb98e28245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h3d6b6c381456421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7" name="Google Shape;657;h3d6b6c381456421f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40a0caaff1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1" name="Google Shape;671;g40a0caaff17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With 50% being midpoint, this scenario really REALLY shines but it really is because adults tolerate salinity rather well</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h3d6b6c381456421f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5" name="Google Shape;685;h3d6b6c381456421f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h3d6b6c381456421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8" name="Google Shape;698;h3d6b6c381456421f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h3d6b6c381456421f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3" name="Google Shape;713;h3d6b6c381456421f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40a0caaff1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7" name="Google Shape;727;g40a0caaff17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h3d6b6c381456421f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5" name="Google Shape;735;h3d6b6c381456421f_0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h3a048fc4063a24c8_13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8" name="Google Shape;748;h3a048fc4063a24c8_13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h7a05f3d5ced818d0_5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4" name="Google Shape;754;h7a05f3d5ced818d0_5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About 15 minutes. Economy criterion: what salinity management and land conversion do to Delta farm revenue, jobs and value added. A Tunnel results are pending and are not shown.</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h7a05f3d5ced818d0_5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0" name="Google Shape;760;h7a05f3d5ced818d0_5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Three measures, all annual changes relative to Business As Usual. Direct effects are on-farm; total effects add IMPLAN's regional multiplier (indirect and induced).</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h7a05f3d5ced818d0_5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2" name="Google Shape;772;h7a05f3d5ced818d0_5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Baseline figures from the DAP basecase and Yu Cai's IMPLAN run: $1,107M direct gross revenue, 7,650 direct jobs (11,814 total), $671M direct value added ($999M total).</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h7a05f3d5ced818d0_5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4" name="Google Shape;784;h7a05f3d5ced818d0_5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Two modeling chains. The salinity chain runs every scenario through RMA salinity, crop yield loss, OpenAg and IMPLAN. The land-use chain removes converted farmland from the economic baseline: for New Green Watershed with the DAP model and IMPLAN; for Eco Machine with a spreadsheet calculator using the same IMPLAN ratios, because very little of its land is farmed.</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h7a05f3d5ced818d0_5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1" name="Google Shape;791;h7a05f3d5ced818d0_5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Measured in annual dollars and jobs. Carbon and construction figures from Deverel et al. are in 2022 dollars; the difference from 2024 dollars is small next to the uncertainty.</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h7a05f3d5ced818d0_5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7" name="Google Shape;797;h7a05f3d5ced818d0_5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Example of the zone results: dry-year change in value added, salinity pathway only. Changes are a few thousand dollars per zone.</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h7a05f3d5ced818d0_5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5" name="Google Shape;805;h7a05f3d5ced818d0_5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Four messages. Salinity effects are tiny. New Green Watershed is a large, real tradeoff. Eco Machine is a construction question, not a farm question. Carbon is a partial, uncertain offset.</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h7a05f3d5ced818d0_5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1" name="Google Shape;811;h7a05f3d5ced818d0_5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OpenAg gross revenue by scenario. Bars on the left use a truncated axis; the changes on the right are in thousands of dollars on a base of $1.1 billion. A Tunnel results are pending.</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h7a05f3d5ced818d0_5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8" name="Google Shape;818;h7a05f3d5ced818d0_5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IMPLAN totals from the salinity pathway. These effects are negligible in absolute terms; the pattern matches gross revenue.</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h7a05f3d5ced818d0_5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5" name="Google Shape;825;h7a05f3d5ced818d0_5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DAP basecase and Yu Cai's IMPLAN run. Direct baseline $1,107M; total baseline $1,632M; total jobs baseline 11,814. Percentages are relative to those baselines. Regional shares are Full MW total revenue.</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h7a05f3d5ced818d0_5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2" name="Google Shape;832;h7a05f3d5ced818d0_5_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Carbon at the Deverel et al. conservative price of $15/tCO2e with a 14% risk deduction: $165 per acre of wetland, $86 per acre of rice. The amber bars count credits only on moderately and severely subsided islands, since converting corn on mineral soil raises emissions (Deverel et al. Table A2). Treat carbon as an upper-end possibility.</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h7a05f3d5ced818d0_5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9" name="Google Shape;839;h7a05f3d5ced818d0_5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Eco Machine's farm effect is very small, so its score is 0. Its economic questions are construction cost and, in Suisun, the duck-club economy, which this criterion does not measure. Franks Tract's benefits come from the Franks Tract Futures 2020 report and belong mainly to the water supply, water quality and recreation criteria.</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h7a05f3d5ced818d0_5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8" name="Google Shape;848;h7a05f3d5ced818d0_5_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Salinity-only scenarios score near zero; Bolster and Fortify is slightly negative in the dry year; Calling on Reserves is 0 in the dry year and +1 in the wet year. Eco Machine scores 0 because its farm losses are at most about 0.1% of the baseline. New Green Watershed scores -3 to -5 depending on restoration level.</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h7a05f3d5ced818d0_5_1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5" name="Google Shape;855;h7a05f3d5ced818d0_5_1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Close with the tradeoff: restoration benefits (habitat, carbon, flood protection, water quality) are assessed in other criteria; this criterion shows the farm-economy cost those benefits must be weighed against.</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h6ed354275956c026_9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4" name="Google Shape;864;h6ed354275956c026_9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Close with the tradeoff: restoration benefits (habitat, carbon, flood protection, water quality) are assessed in other criteria; this criterion shows the farm-economy cost those benefits must be weighed against.</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h6ed354275956c026_9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0" name="Google Shape;870;h6ed354275956c026_9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Close with the tradeoff: restoration benefits (habitat, carbon, flood protection, water quality) are assessed in other criteria; this criterion shows the farm-economy cost those benefits must be weighed against.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0" name="Google Shape;60;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1" name="Google Shape;6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 name="Shape 62"/>
        <p:cNvGrpSpPr/>
        <p:nvPr/>
      </p:nvGrpSpPr>
      <p:grpSpPr>
        <a:xfrm>
          <a:off x="0" y="0"/>
          <a:ext cx="0" cy="0"/>
          <a:chOff x="0" y="0"/>
          <a:chExt cx="0" cy="0"/>
        </a:xfrm>
      </p:grpSpPr>
      <p:sp>
        <p:nvSpPr>
          <p:cNvPr id="63" name="Google Shape;63;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4" name="Google Shape;6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deltacouncil.ca.gov/environmental-justice" TargetMode="External"/><Relationship Id="rId4" Type="http://schemas.openxmlformats.org/officeDocument/2006/relationships/hyperlink" Target="https://deltacouncil.ca.gov/pdf/delta-plan/2021-06-25-delta-adapts-vulnerability-assessment.pdf" TargetMode="External"/><Relationship Id="rId5" Type="http://schemas.openxmlformats.org/officeDocument/2006/relationships/hyperlink" Target="https://deltacouncil.ca.gov/pdf/delta-plan/2021-06-25-delta-adapts-vulnerability-assessment.pdf"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7.jpg"/><Relationship Id="rId4" Type="http://schemas.openxmlformats.org/officeDocument/2006/relationships/image" Target="../media/image49.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3.jpg"/><Relationship Id="rId4" Type="http://schemas.openxmlformats.org/officeDocument/2006/relationships/image" Target="../media/image2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3.png"/><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4.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hyperlink" Target="https://research.fs.usda.gov/download/treesearch/67756.pdf" TargetMode="External"/><Relationship Id="rId4" Type="http://schemas.openxmlformats.org/officeDocument/2006/relationships/hyperlink" Target="https://camodelcurricula.ucdavis.edu/sites/g/files/dgvnsk13911/files/2025-07/Tribal%20Governments_%20Sovereignty%2C%20Treaties%20and%20Constitutions%20%282%29.pdf"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8.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4.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6.gif"/><Relationship Id="rId4" Type="http://schemas.openxmlformats.org/officeDocument/2006/relationships/image" Target="../media/image1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comments" Target="../comments/commen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27.png"/><Relationship Id="rId4" Type="http://schemas.openxmlformats.org/officeDocument/2006/relationships/image" Target="../media/image1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21.png"/><Relationship Id="rId6" Type="http://schemas.openxmlformats.org/officeDocument/2006/relationships/image" Target="../media/image42.png"/><Relationship Id="rId7" Type="http://schemas.openxmlformats.org/officeDocument/2006/relationships/image" Target="../media/image2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comments" Target="../comments/comment2.xml"/><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8.png"/><Relationship Id="rId7" Type="http://schemas.openxmlformats.org/officeDocument/2006/relationships/image" Target="../media/image17.png"/><Relationship Id="rId8" Type="http://schemas.openxmlformats.org/officeDocument/2006/relationships/image" Target="../media/image2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22.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23.png"/><Relationship Id="rId7" Type="http://schemas.openxmlformats.org/officeDocument/2006/relationships/image" Target="../media/image5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comments" Target="../comments/comment3.xml"/><Relationship Id="rId4" Type="http://schemas.openxmlformats.org/officeDocument/2006/relationships/image" Target="../media/image34.png"/><Relationship Id="rId10" Type="http://schemas.openxmlformats.org/officeDocument/2006/relationships/image" Target="../media/image46.png"/><Relationship Id="rId9" Type="http://schemas.openxmlformats.org/officeDocument/2006/relationships/image" Target="../media/image31.png"/><Relationship Id="rId5" Type="http://schemas.openxmlformats.org/officeDocument/2006/relationships/image" Target="../media/image41.png"/><Relationship Id="rId6" Type="http://schemas.openxmlformats.org/officeDocument/2006/relationships/image" Target="../media/image40.png"/><Relationship Id="rId7" Type="http://schemas.openxmlformats.org/officeDocument/2006/relationships/image" Target="../media/image36.png"/><Relationship Id="rId8" Type="http://schemas.openxmlformats.org/officeDocument/2006/relationships/image" Target="../media/image6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47.png"/><Relationship Id="rId4" Type="http://schemas.openxmlformats.org/officeDocument/2006/relationships/image" Target="../media/image52.png"/><Relationship Id="rId5" Type="http://schemas.openxmlformats.org/officeDocument/2006/relationships/image" Target="../media/image51.png"/><Relationship Id="rId6" Type="http://schemas.openxmlformats.org/officeDocument/2006/relationships/image" Target="../media/image56.png"/><Relationship Id="rId7" Type="http://schemas.openxmlformats.org/officeDocument/2006/relationships/image" Target="../media/image55.png"/><Relationship Id="rId8" Type="http://schemas.openxmlformats.org/officeDocument/2006/relationships/image" Target="../media/image3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57.png"/><Relationship Id="rId4" Type="http://schemas.openxmlformats.org/officeDocument/2006/relationships/image" Target="../media/image5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1.xml"/><Relationship Id="rId3" Type="http://schemas.openxmlformats.org/officeDocument/2006/relationships/image" Target="../media/image5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3.xml"/><Relationship Id="rId3" Type="http://schemas.openxmlformats.org/officeDocument/2006/relationships/image" Target="../media/image4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5.xml"/><Relationship Id="rId3" Type="http://schemas.openxmlformats.org/officeDocument/2006/relationships/image" Target="../media/image5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6.xml"/><Relationship Id="rId3" Type="http://schemas.openxmlformats.org/officeDocument/2006/relationships/image" Target="../media/image4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8.xml"/><Relationship Id="rId3" Type="http://schemas.openxmlformats.org/officeDocument/2006/relationships/image" Target="../media/image4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2.xml"/><Relationship Id="rId3" Type="http://schemas.openxmlformats.org/officeDocument/2006/relationships/image" Target="../media/image59.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3.xml"/><Relationship Id="rId3"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98" name="Shape 98"/>
        <p:cNvGrpSpPr/>
        <p:nvPr/>
      </p:nvGrpSpPr>
      <p:grpSpPr>
        <a:xfrm>
          <a:off x="0" y="0"/>
          <a:ext cx="0" cy="0"/>
          <a:chOff x="0" y="0"/>
          <a:chExt cx="0" cy="0"/>
        </a:xfrm>
      </p:grpSpPr>
      <p:sp>
        <p:nvSpPr>
          <p:cNvPr id="99" name="Google Shape;99;p25"/>
          <p:cNvSpPr txBox="1"/>
          <p:nvPr>
            <p:ph type="ctrTitle"/>
          </p:nvPr>
        </p:nvSpPr>
        <p:spPr>
          <a:xfrm>
            <a:off x="274320" y="101494"/>
            <a:ext cx="8520600" cy="205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5200"/>
              <a:buNone/>
            </a:pPr>
            <a:r>
              <a:rPr lang="en">
                <a:solidFill>
                  <a:srgbClr val="7ED957"/>
                </a:solidFill>
                <a:latin typeface="Hammersmith One"/>
                <a:ea typeface="Hammersmith One"/>
                <a:cs typeface="Hammersmith One"/>
                <a:sym typeface="Hammersmith One"/>
              </a:rPr>
              <a:t>COMPARATIVE SCENARIO EVALUATION </a:t>
            </a:r>
            <a:endParaRPr>
              <a:solidFill>
                <a:srgbClr val="7ED957"/>
              </a:solidFill>
              <a:latin typeface="Hammersmith One"/>
              <a:ea typeface="Hammersmith One"/>
              <a:cs typeface="Hammersmith One"/>
              <a:sym typeface="Hammersmith One"/>
            </a:endParaRPr>
          </a:p>
        </p:txBody>
      </p:sp>
      <p:sp>
        <p:nvSpPr>
          <p:cNvPr id="100" name="Google Shape;100;p25"/>
          <p:cNvSpPr txBox="1"/>
          <p:nvPr>
            <p:ph idx="1" type="subTitle"/>
          </p:nvPr>
        </p:nvSpPr>
        <p:spPr>
          <a:xfrm>
            <a:off x="311700" y="1949758"/>
            <a:ext cx="8520600" cy="31665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ctr">
              <a:lnSpc>
                <a:spcPct val="150000"/>
              </a:lnSpc>
              <a:spcBef>
                <a:spcPts val="0"/>
              </a:spcBef>
              <a:spcAft>
                <a:spcPts val="0"/>
              </a:spcAft>
              <a:buSzPct val="100000"/>
              <a:buNone/>
            </a:pPr>
            <a:r>
              <a:rPr lang="en">
                <a:solidFill>
                  <a:schemeClr val="lt1"/>
                </a:solidFill>
                <a:latin typeface="Proxima Nova"/>
                <a:ea typeface="Proxima Nova"/>
                <a:cs typeface="Proxima Nova"/>
                <a:sym typeface="Proxima Nova"/>
              </a:rPr>
              <a:t>Ecology</a:t>
            </a:r>
            <a:endParaRPr>
              <a:solidFill>
                <a:schemeClr val="lt1"/>
              </a:solidFill>
              <a:latin typeface="Proxima Nova"/>
              <a:ea typeface="Proxima Nova"/>
              <a:cs typeface="Proxima Nova"/>
              <a:sym typeface="Proxima Nova"/>
            </a:endParaRPr>
          </a:p>
          <a:p>
            <a:pPr indent="0" lvl="0" marL="0" rtl="0" algn="ctr">
              <a:lnSpc>
                <a:spcPct val="150000"/>
              </a:lnSpc>
              <a:spcBef>
                <a:spcPts val="0"/>
              </a:spcBef>
              <a:spcAft>
                <a:spcPts val="0"/>
              </a:spcAft>
              <a:buSzPct val="100000"/>
              <a:buNone/>
            </a:pPr>
            <a:r>
              <a:rPr lang="en">
                <a:solidFill>
                  <a:schemeClr val="lt1"/>
                </a:solidFill>
                <a:latin typeface="Proxima Nova"/>
                <a:ea typeface="Proxima Nova"/>
                <a:cs typeface="Proxima Nova"/>
                <a:sym typeface="Proxima Nova"/>
              </a:rPr>
              <a:t>Environmental Justice &amp; Vulnerable Communities</a:t>
            </a:r>
            <a:endParaRPr>
              <a:solidFill>
                <a:schemeClr val="lt1"/>
              </a:solidFill>
              <a:latin typeface="Proxima Nova"/>
              <a:ea typeface="Proxima Nova"/>
              <a:cs typeface="Proxima Nova"/>
              <a:sym typeface="Proxima Nova"/>
            </a:endParaRPr>
          </a:p>
          <a:p>
            <a:pPr indent="0" lvl="0" marL="0" rtl="0" algn="ctr">
              <a:lnSpc>
                <a:spcPct val="150000"/>
              </a:lnSpc>
              <a:spcBef>
                <a:spcPts val="0"/>
              </a:spcBef>
              <a:spcAft>
                <a:spcPts val="0"/>
              </a:spcAft>
              <a:buSzPct val="100000"/>
              <a:buNone/>
            </a:pPr>
            <a:r>
              <a:rPr lang="en">
                <a:solidFill>
                  <a:schemeClr val="lt1"/>
                </a:solidFill>
                <a:latin typeface="Proxima Nova"/>
                <a:ea typeface="Proxima Nova"/>
                <a:cs typeface="Proxima Nova"/>
                <a:sym typeface="Proxima Nova"/>
              </a:rPr>
              <a:t>Ecocultural Restoration &amp; Indigenous </a:t>
            </a:r>
            <a:r>
              <a:rPr lang="en">
                <a:solidFill>
                  <a:schemeClr val="lt1"/>
                </a:solidFill>
                <a:latin typeface="Proxima Nova"/>
                <a:ea typeface="Proxima Nova"/>
                <a:cs typeface="Proxima Nova"/>
                <a:sym typeface="Proxima Nova"/>
              </a:rPr>
              <a:t>Sovereignty</a:t>
            </a:r>
            <a:endParaRPr>
              <a:solidFill>
                <a:schemeClr val="lt1"/>
              </a:solidFill>
              <a:latin typeface="Proxima Nova"/>
              <a:ea typeface="Proxima Nova"/>
              <a:cs typeface="Proxima Nova"/>
              <a:sym typeface="Proxima Nova"/>
            </a:endParaRPr>
          </a:p>
          <a:p>
            <a:pPr indent="0" lvl="0" marL="0" rtl="0" algn="ctr">
              <a:lnSpc>
                <a:spcPct val="150000"/>
              </a:lnSpc>
              <a:spcBef>
                <a:spcPts val="0"/>
              </a:spcBef>
              <a:spcAft>
                <a:spcPts val="0"/>
              </a:spcAft>
              <a:buSzPct val="100000"/>
              <a:buNone/>
            </a:pPr>
            <a:r>
              <a:rPr lang="en">
                <a:solidFill>
                  <a:schemeClr val="lt1"/>
                </a:solidFill>
                <a:latin typeface="Proxima Nova"/>
                <a:ea typeface="Proxima Nova"/>
                <a:cs typeface="Proxima Nova"/>
                <a:sym typeface="Proxima Nova"/>
              </a:rPr>
              <a:t>Recreation</a:t>
            </a:r>
            <a:endParaRPr>
              <a:solidFill>
                <a:schemeClr val="lt1"/>
              </a:solidFill>
              <a:latin typeface="Proxima Nova"/>
              <a:ea typeface="Proxima Nova"/>
              <a:cs typeface="Proxima Nova"/>
              <a:sym typeface="Proxima Nova"/>
            </a:endParaRPr>
          </a:p>
          <a:p>
            <a:pPr indent="0" lvl="0" marL="0" rtl="0" algn="ctr">
              <a:lnSpc>
                <a:spcPct val="150000"/>
              </a:lnSpc>
              <a:spcBef>
                <a:spcPts val="0"/>
              </a:spcBef>
              <a:spcAft>
                <a:spcPts val="0"/>
              </a:spcAft>
              <a:buSzPct val="100000"/>
              <a:buNone/>
            </a:pPr>
            <a:r>
              <a:rPr lang="en">
                <a:solidFill>
                  <a:schemeClr val="lt1"/>
                </a:solidFill>
                <a:latin typeface="Proxima Nova"/>
                <a:ea typeface="Proxima Nova"/>
                <a:cs typeface="Proxima Nova"/>
                <a:sym typeface="Proxima Nova"/>
              </a:rPr>
              <a:t>Economy  </a:t>
            </a:r>
            <a:endParaRPr>
              <a:solidFill>
                <a:schemeClr val="lt1"/>
              </a:solidFill>
              <a:latin typeface="Proxima Nova"/>
              <a:ea typeface="Proxima Nova"/>
              <a:cs typeface="Proxima Nova"/>
              <a:sym typeface="Proxima Nova"/>
            </a:endParaRPr>
          </a:p>
          <a:p>
            <a:pPr indent="0" lvl="0" marL="0" rtl="0" algn="ctr">
              <a:lnSpc>
                <a:spcPct val="100000"/>
              </a:lnSpc>
              <a:spcBef>
                <a:spcPts val="0"/>
              </a:spcBef>
              <a:spcAft>
                <a:spcPts val="0"/>
              </a:spcAft>
              <a:buSzPct val="100000"/>
              <a:buNone/>
            </a:pPr>
            <a:r>
              <a:t/>
            </a:r>
            <a:endParaRPr>
              <a:solidFill>
                <a:schemeClr val="lt1"/>
              </a:solidFill>
              <a:latin typeface="Proxima Nova"/>
              <a:ea typeface="Proxima Nova"/>
              <a:cs typeface="Proxima Nova"/>
              <a:sym typeface="Proxima Nova"/>
            </a:endParaRPr>
          </a:p>
        </p:txBody>
      </p:sp>
      <p:sp>
        <p:nvSpPr>
          <p:cNvPr id="101" name="Google Shape;101;p25"/>
          <p:cNvSpPr txBox="1"/>
          <p:nvPr/>
        </p:nvSpPr>
        <p:spPr>
          <a:xfrm>
            <a:off x="394365" y="4572000"/>
            <a:ext cx="4114800" cy="45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lang="en" sz="1300">
                <a:solidFill>
                  <a:srgbClr val="51A2BD"/>
                </a:solidFill>
                <a:latin typeface="Proxima Nova"/>
                <a:ea typeface="Proxima Nova"/>
                <a:cs typeface="Proxima Nova"/>
                <a:sym typeface="Proxima Nova"/>
              </a:rPr>
              <a:t>2026 </a:t>
            </a:r>
            <a:r>
              <a:rPr lang="en" sz="1300">
                <a:solidFill>
                  <a:srgbClr val="51A2BD"/>
                </a:solidFill>
                <a:latin typeface="Proxima Nova"/>
                <a:ea typeface="Proxima Nova"/>
                <a:cs typeface="Proxima Nova"/>
                <a:sym typeface="Proxima Nova"/>
              </a:rPr>
              <a:t>Bay Delta Science Conference</a:t>
            </a:r>
            <a:r>
              <a:rPr b="0" i="0" lang="en" sz="1300" u="none" cap="none" strike="noStrike">
                <a:solidFill>
                  <a:srgbClr val="51A2BD"/>
                </a:solidFill>
                <a:latin typeface="Proxima Nova"/>
                <a:ea typeface="Proxima Nova"/>
                <a:cs typeface="Proxima Nova"/>
                <a:sym typeface="Proxima Nova"/>
              </a:rPr>
              <a:t> </a:t>
            </a:r>
            <a:endParaRPr b="0" i="0" sz="1300" u="none" cap="none" strike="noStrike">
              <a:solidFill>
                <a:srgbClr val="51A2BD"/>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105" name="Shape 105"/>
        <p:cNvGrpSpPr/>
        <p:nvPr/>
      </p:nvGrpSpPr>
      <p:grpSpPr>
        <a:xfrm>
          <a:off x="0" y="0"/>
          <a:ext cx="0" cy="0"/>
          <a:chOff x="0" y="0"/>
          <a:chExt cx="0" cy="0"/>
        </a:xfrm>
      </p:grpSpPr>
      <p:sp>
        <p:nvSpPr>
          <p:cNvPr id="106" name="Google Shape;106;p26"/>
          <p:cNvSpPr txBox="1"/>
          <p:nvPr>
            <p:ph type="ctrTitle"/>
          </p:nvPr>
        </p:nvSpPr>
        <p:spPr>
          <a:xfrm>
            <a:off x="274325" y="366242"/>
            <a:ext cx="8520600" cy="34146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ts val="990"/>
              <a:buNone/>
            </a:pPr>
            <a:r>
              <a:rPr b="1" lang="en" sz="4533">
                <a:solidFill>
                  <a:srgbClr val="7ED957"/>
                </a:solidFill>
                <a:latin typeface="Proxima Nova"/>
                <a:ea typeface="Proxima Nova"/>
                <a:cs typeface="Proxima Nova"/>
                <a:sym typeface="Proxima Nova"/>
              </a:rPr>
              <a:t>ECOLOGY</a:t>
            </a:r>
            <a:endParaRPr b="1" sz="4533">
              <a:solidFill>
                <a:srgbClr val="7ED957"/>
              </a:solidFill>
              <a:latin typeface="Proxima Nova"/>
              <a:ea typeface="Proxima Nova"/>
              <a:cs typeface="Proxima Nova"/>
              <a:sym typeface="Proxima Nova"/>
            </a:endParaRPr>
          </a:p>
          <a:p>
            <a:pPr indent="0" lvl="0" marL="0" rtl="0" algn="l">
              <a:spcBef>
                <a:spcPts val="800"/>
              </a:spcBef>
              <a:spcAft>
                <a:spcPts val="0"/>
              </a:spcAft>
              <a:buClr>
                <a:schemeClr val="dk1"/>
              </a:buClr>
              <a:buSzPct val="36940"/>
              <a:buFont typeface="Arial"/>
              <a:buNone/>
            </a:pPr>
            <a:r>
              <a:rPr i="1" lang="en" sz="2978">
                <a:solidFill>
                  <a:srgbClr val="7ED957"/>
                </a:solidFill>
                <a:latin typeface="Proxima Nova"/>
                <a:ea typeface="Proxima Nova"/>
                <a:cs typeface="Proxima Nova"/>
                <a:sym typeface="Proxima Nova"/>
              </a:rPr>
              <a:t>Using Scenario Planning and Hydrodynamic Modeling to Inform Suitability Models for Stakeholder-Selected Species of Interest in the Sacramento-San Joaquin Delta</a:t>
            </a:r>
            <a:endParaRPr i="1" sz="2978">
              <a:solidFill>
                <a:srgbClr val="7ED957"/>
              </a:solidFill>
              <a:latin typeface="Proxima Nova"/>
              <a:ea typeface="Proxima Nova"/>
              <a:cs typeface="Proxima Nova"/>
              <a:sym typeface="Proxima Nova"/>
            </a:endParaRPr>
          </a:p>
          <a:p>
            <a:pPr indent="0" lvl="0" marL="0" rtl="0" algn="ctr">
              <a:lnSpc>
                <a:spcPct val="100000"/>
              </a:lnSpc>
              <a:spcBef>
                <a:spcPts val="800"/>
              </a:spcBef>
              <a:spcAft>
                <a:spcPts val="0"/>
              </a:spcAft>
              <a:buClr>
                <a:srgbClr val="000000"/>
              </a:buClr>
              <a:buSzPct val="100000"/>
              <a:buFont typeface="Arial"/>
              <a:buNone/>
            </a:pPr>
            <a:r>
              <a:t/>
            </a:r>
            <a:endParaRPr>
              <a:solidFill>
                <a:srgbClr val="7ED957"/>
              </a:solidFill>
              <a:latin typeface="Hammersmith One"/>
              <a:ea typeface="Hammersmith One"/>
              <a:cs typeface="Hammersmith One"/>
              <a:sym typeface="Hammersmith One"/>
            </a:endParaRPr>
          </a:p>
        </p:txBody>
      </p:sp>
      <p:sp>
        <p:nvSpPr>
          <p:cNvPr id="107" name="Google Shape;107;p26"/>
          <p:cNvSpPr txBox="1"/>
          <p:nvPr/>
        </p:nvSpPr>
        <p:spPr>
          <a:xfrm>
            <a:off x="600850" y="3162650"/>
            <a:ext cx="66048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lang="en" sz="2500">
                <a:solidFill>
                  <a:srgbClr val="51A2BD"/>
                </a:solidFill>
                <a:latin typeface="Proxima Nova"/>
                <a:ea typeface="Proxima Nova"/>
                <a:cs typeface="Proxima Nova"/>
                <a:sym typeface="Proxima Nova"/>
              </a:rPr>
              <a:t>Lynette Williams, Elsie Platzer, &amp; John Durand</a:t>
            </a:r>
            <a:endParaRPr b="0" i="0" sz="2500" u="none" cap="none" strike="noStrike">
              <a:solidFill>
                <a:srgbClr val="51A2BD"/>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111" name="Shape 111"/>
        <p:cNvGrpSpPr/>
        <p:nvPr/>
      </p:nvGrpSpPr>
      <p:grpSpPr>
        <a:xfrm>
          <a:off x="0" y="0"/>
          <a:ext cx="0" cy="0"/>
          <a:chOff x="0" y="0"/>
          <a:chExt cx="0" cy="0"/>
        </a:xfrm>
      </p:grpSpPr>
      <p:sp>
        <p:nvSpPr>
          <p:cNvPr id="112" name="Google Shape;112;p27"/>
          <p:cNvSpPr txBox="1"/>
          <p:nvPr>
            <p:ph type="ctrTitle"/>
          </p:nvPr>
        </p:nvSpPr>
        <p:spPr>
          <a:xfrm>
            <a:off x="274325" y="366242"/>
            <a:ext cx="8520600" cy="34146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27123"/>
              <a:buNone/>
            </a:pPr>
            <a:r>
              <a:rPr b="1" lang="en" sz="4056">
                <a:solidFill>
                  <a:srgbClr val="7ED957"/>
                </a:solidFill>
                <a:latin typeface="Proxima Nova"/>
                <a:ea typeface="Proxima Nova"/>
                <a:cs typeface="Proxima Nova"/>
                <a:sym typeface="Proxima Nova"/>
              </a:rPr>
              <a:t>Criterion Definition</a:t>
            </a:r>
            <a:endParaRPr b="1" sz="4056">
              <a:solidFill>
                <a:srgbClr val="7ED957"/>
              </a:solidFill>
              <a:latin typeface="Proxima Nova"/>
              <a:ea typeface="Proxima Nova"/>
              <a:cs typeface="Proxima Nova"/>
              <a:sym typeface="Proxima Nova"/>
            </a:endParaRPr>
          </a:p>
          <a:p>
            <a:pPr indent="-398780" lvl="0" marL="457200" rtl="0" algn="l">
              <a:spcBef>
                <a:spcPts val="800"/>
              </a:spcBef>
              <a:spcAft>
                <a:spcPts val="0"/>
              </a:spcAft>
              <a:buClr>
                <a:schemeClr val="lt1"/>
              </a:buClr>
              <a:buSzPct val="100000"/>
              <a:buFont typeface="Proxima Nova"/>
              <a:buChar char="●"/>
            </a:pPr>
            <a:r>
              <a:rPr lang="en" sz="2978">
                <a:solidFill>
                  <a:schemeClr val="lt1"/>
                </a:solidFill>
                <a:latin typeface="Proxima Nova"/>
                <a:ea typeface="Proxima Nova"/>
                <a:cs typeface="Proxima Nova"/>
                <a:sym typeface="Proxima Nova"/>
              </a:rPr>
              <a:t>No perfect definition of “ecosystem health”</a:t>
            </a:r>
            <a:endParaRPr sz="2978">
              <a:solidFill>
                <a:schemeClr val="lt1"/>
              </a:solidFill>
              <a:latin typeface="Proxima Nova"/>
              <a:ea typeface="Proxima Nova"/>
              <a:cs typeface="Proxima Nova"/>
              <a:sym typeface="Proxima Nova"/>
            </a:endParaRPr>
          </a:p>
          <a:p>
            <a:pPr indent="-398780" lvl="0" marL="457200" rtl="0" algn="l">
              <a:spcBef>
                <a:spcPts val="0"/>
              </a:spcBef>
              <a:spcAft>
                <a:spcPts val="0"/>
              </a:spcAft>
              <a:buClr>
                <a:schemeClr val="lt1"/>
              </a:buClr>
              <a:buSzPct val="100000"/>
              <a:buFont typeface="Proxima Nova"/>
              <a:buChar char="●"/>
            </a:pPr>
            <a:r>
              <a:rPr lang="en" sz="2978">
                <a:solidFill>
                  <a:schemeClr val="lt1"/>
                </a:solidFill>
                <a:latin typeface="Proxima Nova"/>
                <a:ea typeface="Proxima Nova"/>
                <a:cs typeface="Proxima Nova"/>
                <a:sym typeface="Proxima Nova"/>
              </a:rPr>
              <a:t>Just Transitions refers to “ensuring no one is left behind or bushed behind in the transitions to low-carbon and </a:t>
            </a:r>
            <a:r>
              <a:rPr lang="en" sz="2978">
                <a:solidFill>
                  <a:schemeClr val="lt1"/>
                </a:solidFill>
                <a:latin typeface="Proxima Nova"/>
                <a:ea typeface="Proxima Nova"/>
                <a:cs typeface="Proxima Nova"/>
                <a:sym typeface="Proxima Nova"/>
              </a:rPr>
              <a:t>environmentally</a:t>
            </a:r>
            <a:r>
              <a:rPr lang="en" sz="2978">
                <a:solidFill>
                  <a:schemeClr val="lt1"/>
                </a:solidFill>
                <a:latin typeface="Proxima Nova"/>
                <a:ea typeface="Proxima Nova"/>
                <a:cs typeface="Proxima Nova"/>
                <a:sym typeface="Proxima Nova"/>
              </a:rPr>
              <a:t> sustainable economies and societies” - what about ecology?</a:t>
            </a:r>
            <a:endParaRPr sz="2978">
              <a:solidFill>
                <a:schemeClr val="lt1"/>
              </a:solidFill>
              <a:latin typeface="Proxima Nova"/>
              <a:ea typeface="Proxima Nova"/>
              <a:cs typeface="Proxima Nova"/>
              <a:sym typeface="Proxima Nova"/>
            </a:endParaRPr>
          </a:p>
          <a:p>
            <a:pPr indent="-398780" lvl="0" marL="457200" rtl="0" algn="l">
              <a:spcBef>
                <a:spcPts val="0"/>
              </a:spcBef>
              <a:spcAft>
                <a:spcPts val="0"/>
              </a:spcAft>
              <a:buClr>
                <a:schemeClr val="lt1"/>
              </a:buClr>
              <a:buSzPct val="100000"/>
              <a:buFont typeface="Proxima Nova"/>
              <a:buChar char="●"/>
            </a:pPr>
            <a:r>
              <a:rPr lang="en" sz="2978">
                <a:solidFill>
                  <a:schemeClr val="lt1"/>
                </a:solidFill>
                <a:latin typeface="Proxima Nova"/>
                <a:ea typeface="Proxima Nova"/>
                <a:cs typeface="Proxima Nova"/>
                <a:sym typeface="Proxima Nova"/>
              </a:rPr>
              <a:t>Delta as a novel ecosystem</a:t>
            </a:r>
            <a:endParaRPr sz="2978">
              <a:solidFill>
                <a:schemeClr val="lt1"/>
              </a:solidFill>
              <a:latin typeface="Proxima Nova"/>
              <a:ea typeface="Proxima Nova"/>
              <a:cs typeface="Proxima Nova"/>
              <a:sym typeface="Proxima Nova"/>
            </a:endParaRPr>
          </a:p>
          <a:p>
            <a:pPr indent="-398780" lvl="0" marL="457200" rtl="0" algn="l">
              <a:spcBef>
                <a:spcPts val="0"/>
              </a:spcBef>
              <a:spcAft>
                <a:spcPts val="0"/>
              </a:spcAft>
              <a:buClr>
                <a:schemeClr val="lt1"/>
              </a:buClr>
              <a:buSzPct val="100000"/>
              <a:buFont typeface="Proxima Nova"/>
              <a:buChar char="●"/>
            </a:pPr>
            <a:r>
              <a:rPr lang="en" sz="2978">
                <a:solidFill>
                  <a:schemeClr val="lt1"/>
                </a:solidFill>
                <a:latin typeface="Proxima Nova"/>
                <a:ea typeface="Proxima Nova"/>
                <a:cs typeface="Proxima Nova"/>
                <a:sym typeface="Proxima Nova"/>
              </a:rPr>
              <a:t>Approached ecosystem </a:t>
            </a:r>
            <a:r>
              <a:rPr lang="en" sz="2978">
                <a:solidFill>
                  <a:schemeClr val="lt1"/>
                </a:solidFill>
                <a:latin typeface="Proxima Nova"/>
                <a:ea typeface="Proxima Nova"/>
                <a:cs typeface="Proxima Nova"/>
                <a:sym typeface="Proxima Nova"/>
              </a:rPr>
              <a:t>function</a:t>
            </a:r>
            <a:r>
              <a:rPr lang="en" sz="2978">
                <a:solidFill>
                  <a:schemeClr val="lt1"/>
                </a:solidFill>
                <a:latin typeface="Proxima Nova"/>
                <a:ea typeface="Proxima Nova"/>
                <a:cs typeface="Proxima Nova"/>
                <a:sym typeface="Proxima Nova"/>
              </a:rPr>
              <a:t> as species fundamental niches, pelagic food web production, and newly available aquatic habitat</a:t>
            </a:r>
            <a:endParaRPr sz="2978">
              <a:solidFill>
                <a:schemeClr val="lt1"/>
              </a:solidFill>
              <a:latin typeface="Proxima Nova"/>
              <a:ea typeface="Proxima Nova"/>
              <a:cs typeface="Proxima Nova"/>
              <a:sym typeface="Proxima Nova"/>
            </a:endParaRPr>
          </a:p>
          <a:p>
            <a:pPr indent="0" lvl="0" marL="0" rtl="0" algn="l">
              <a:spcBef>
                <a:spcPts val="800"/>
              </a:spcBef>
              <a:spcAft>
                <a:spcPts val="0"/>
              </a:spcAft>
              <a:buSzPct val="36940"/>
              <a:buNone/>
            </a:pPr>
            <a:r>
              <a:t/>
            </a:r>
            <a:endParaRPr sz="2978">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ct val="100000"/>
              <a:buNone/>
            </a:pPr>
            <a:r>
              <a:t/>
            </a:r>
            <a:endParaRPr>
              <a:solidFill>
                <a:srgbClr val="7ED957"/>
              </a:solidFill>
              <a:latin typeface="Hammersmith One"/>
              <a:ea typeface="Hammersmith One"/>
              <a:cs typeface="Hammersmith One"/>
              <a:sym typeface="Hammersmith On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116" name="Shape 116"/>
        <p:cNvGrpSpPr/>
        <p:nvPr/>
      </p:nvGrpSpPr>
      <p:grpSpPr>
        <a:xfrm>
          <a:off x="0" y="0"/>
          <a:ext cx="0" cy="0"/>
          <a:chOff x="0" y="0"/>
          <a:chExt cx="0" cy="0"/>
        </a:xfrm>
      </p:grpSpPr>
      <p:sp>
        <p:nvSpPr>
          <p:cNvPr id="117" name="Google Shape;117;p28"/>
          <p:cNvSpPr txBox="1"/>
          <p:nvPr>
            <p:ph type="ctrTitle"/>
          </p:nvPr>
        </p:nvSpPr>
        <p:spPr>
          <a:xfrm>
            <a:off x="274325" y="366242"/>
            <a:ext cx="8520600" cy="34146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27123"/>
              <a:buNone/>
            </a:pPr>
            <a:r>
              <a:rPr b="1" lang="en" sz="4056">
                <a:solidFill>
                  <a:srgbClr val="7ED957"/>
                </a:solidFill>
                <a:latin typeface="Proxima Nova"/>
                <a:ea typeface="Proxima Nova"/>
                <a:cs typeface="Proxima Nova"/>
                <a:sym typeface="Proxima Nova"/>
              </a:rPr>
              <a:t>Why this c</a:t>
            </a:r>
            <a:r>
              <a:rPr b="1" lang="en" sz="4056">
                <a:solidFill>
                  <a:srgbClr val="7ED957"/>
                </a:solidFill>
                <a:latin typeface="Proxima Nova"/>
                <a:ea typeface="Proxima Nova"/>
                <a:cs typeface="Proxima Nova"/>
                <a:sym typeface="Proxima Nova"/>
              </a:rPr>
              <a:t>riterion matters</a:t>
            </a:r>
            <a:endParaRPr b="1" sz="4056">
              <a:solidFill>
                <a:srgbClr val="7ED957"/>
              </a:solidFill>
              <a:latin typeface="Proxima Nova"/>
              <a:ea typeface="Proxima Nova"/>
              <a:cs typeface="Proxima Nova"/>
              <a:sym typeface="Proxima Nova"/>
            </a:endParaRPr>
          </a:p>
          <a:p>
            <a:pPr indent="-398780" lvl="0" marL="457200" rtl="0" algn="l">
              <a:spcBef>
                <a:spcPts val="800"/>
              </a:spcBef>
              <a:spcAft>
                <a:spcPts val="0"/>
              </a:spcAft>
              <a:buClr>
                <a:schemeClr val="lt1"/>
              </a:buClr>
              <a:buSzPct val="100000"/>
              <a:buFont typeface="Proxima Nova"/>
              <a:buChar char="●"/>
            </a:pPr>
            <a:r>
              <a:rPr lang="en" sz="2978">
                <a:solidFill>
                  <a:schemeClr val="lt1"/>
                </a:solidFill>
                <a:latin typeface="Proxima Nova"/>
                <a:ea typeface="Proxima Nova"/>
                <a:cs typeface="Proxima Nova"/>
                <a:sym typeface="Proxima Nova"/>
              </a:rPr>
              <a:t>The Delta has lost over 90% of its historic wetlands (Whipple et al. 2014). </a:t>
            </a:r>
            <a:endParaRPr sz="2978">
              <a:solidFill>
                <a:schemeClr val="lt1"/>
              </a:solidFill>
              <a:latin typeface="Proxima Nova"/>
              <a:ea typeface="Proxima Nova"/>
              <a:cs typeface="Proxima Nova"/>
              <a:sym typeface="Proxima Nova"/>
            </a:endParaRPr>
          </a:p>
          <a:p>
            <a:pPr indent="-398780" lvl="0" marL="457200" rtl="0" algn="l">
              <a:spcBef>
                <a:spcPts val="0"/>
              </a:spcBef>
              <a:spcAft>
                <a:spcPts val="0"/>
              </a:spcAft>
              <a:buClr>
                <a:schemeClr val="lt1"/>
              </a:buClr>
              <a:buSzPct val="100000"/>
              <a:buFont typeface="Proxima Nova"/>
              <a:buChar char="●"/>
            </a:pPr>
            <a:r>
              <a:rPr lang="en" sz="2978">
                <a:solidFill>
                  <a:schemeClr val="lt1"/>
                </a:solidFill>
                <a:latin typeface="Proxima Nova"/>
                <a:ea typeface="Proxima Nova"/>
                <a:cs typeface="Proxima Nova"/>
                <a:sym typeface="Proxima Nova"/>
              </a:rPr>
              <a:t>Many</a:t>
            </a:r>
            <a:r>
              <a:rPr lang="en" sz="2978">
                <a:solidFill>
                  <a:schemeClr val="lt1"/>
                </a:solidFill>
                <a:latin typeface="Proxima Nova"/>
                <a:ea typeface="Proxima Nova"/>
                <a:cs typeface="Proxima Nova"/>
                <a:sym typeface="Proxima Nova"/>
              </a:rPr>
              <a:t> species have </a:t>
            </a:r>
            <a:r>
              <a:rPr lang="en" sz="2978">
                <a:solidFill>
                  <a:schemeClr val="lt1"/>
                </a:solidFill>
                <a:latin typeface="Proxima Nova"/>
                <a:ea typeface="Proxima Nova"/>
                <a:cs typeface="Proxima Nova"/>
                <a:sym typeface="Proxima Nova"/>
              </a:rPr>
              <a:t>significant</a:t>
            </a:r>
            <a:r>
              <a:rPr lang="en" sz="2978">
                <a:solidFill>
                  <a:schemeClr val="lt1"/>
                </a:solidFill>
                <a:latin typeface="Proxima Nova"/>
                <a:ea typeface="Proxima Nova"/>
                <a:cs typeface="Proxima Nova"/>
                <a:sym typeface="Proxima Nova"/>
              </a:rPr>
              <a:t> cultural and ecological importance in the region, and many are facing delines</a:t>
            </a:r>
            <a:endParaRPr sz="2978">
              <a:solidFill>
                <a:schemeClr val="lt1"/>
              </a:solidFill>
              <a:latin typeface="Proxima Nova"/>
              <a:ea typeface="Proxima Nova"/>
              <a:cs typeface="Proxima Nova"/>
              <a:sym typeface="Proxima Nova"/>
            </a:endParaRPr>
          </a:p>
          <a:p>
            <a:pPr indent="-398780" lvl="0" marL="457200" rtl="0" algn="l">
              <a:spcBef>
                <a:spcPts val="0"/>
              </a:spcBef>
              <a:spcAft>
                <a:spcPts val="0"/>
              </a:spcAft>
              <a:buClr>
                <a:schemeClr val="lt1"/>
              </a:buClr>
              <a:buSzPct val="100000"/>
              <a:buFont typeface="Proxima Nova"/>
              <a:buChar char="●"/>
            </a:pPr>
            <a:r>
              <a:rPr lang="en" sz="2978">
                <a:solidFill>
                  <a:schemeClr val="lt1"/>
                </a:solidFill>
                <a:latin typeface="Proxima Nova"/>
                <a:ea typeface="Proxima Nova"/>
                <a:cs typeface="Proxima Nova"/>
                <a:sym typeface="Proxima Nova"/>
              </a:rPr>
              <a:t>When considering a “Just Transition” we should consider a </a:t>
            </a:r>
            <a:r>
              <a:rPr lang="en" sz="2978">
                <a:solidFill>
                  <a:schemeClr val="lt1"/>
                </a:solidFill>
                <a:latin typeface="Proxima Nova"/>
                <a:ea typeface="Proxima Nova"/>
                <a:cs typeface="Proxima Nova"/>
                <a:sym typeface="Proxima Nova"/>
              </a:rPr>
              <a:t>functional</a:t>
            </a:r>
            <a:r>
              <a:rPr lang="en" sz="2978">
                <a:solidFill>
                  <a:schemeClr val="lt1"/>
                </a:solidFill>
                <a:latin typeface="Proxima Nova"/>
                <a:ea typeface="Proxima Nova"/>
                <a:cs typeface="Proxima Nova"/>
                <a:sym typeface="Proxima Nova"/>
              </a:rPr>
              <a:t> ecosystem as part of that transition.</a:t>
            </a:r>
            <a:endParaRPr sz="2978">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ct val="100000"/>
              <a:buNone/>
            </a:pPr>
            <a:r>
              <a:t/>
            </a:r>
            <a:endParaRPr>
              <a:solidFill>
                <a:srgbClr val="7ED957"/>
              </a:solidFill>
              <a:latin typeface="Hammersmith One"/>
              <a:ea typeface="Hammersmith One"/>
              <a:cs typeface="Hammersmith One"/>
              <a:sym typeface="Hammersmith On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121" name="Shape 121"/>
        <p:cNvGrpSpPr/>
        <p:nvPr/>
      </p:nvGrpSpPr>
      <p:grpSpPr>
        <a:xfrm>
          <a:off x="0" y="0"/>
          <a:ext cx="0" cy="0"/>
          <a:chOff x="0" y="0"/>
          <a:chExt cx="0" cy="0"/>
        </a:xfrm>
      </p:grpSpPr>
      <p:sp>
        <p:nvSpPr>
          <p:cNvPr id="122" name="Google Shape;122;p29"/>
          <p:cNvSpPr txBox="1"/>
          <p:nvPr>
            <p:ph type="ctrTitle"/>
          </p:nvPr>
        </p:nvSpPr>
        <p:spPr>
          <a:xfrm>
            <a:off x="36600" y="278325"/>
            <a:ext cx="9070800" cy="31506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27123"/>
              <a:buNone/>
            </a:pPr>
            <a:r>
              <a:rPr b="1" lang="en" sz="4056">
                <a:solidFill>
                  <a:srgbClr val="7ED957"/>
                </a:solidFill>
                <a:latin typeface="Proxima Nova"/>
                <a:ea typeface="Proxima Nova"/>
                <a:cs typeface="Proxima Nova"/>
                <a:sym typeface="Proxima Nova"/>
              </a:rPr>
              <a:t>How it</a:t>
            </a:r>
            <a:r>
              <a:rPr b="1" lang="en" sz="4056">
                <a:solidFill>
                  <a:srgbClr val="7ED957"/>
                </a:solidFill>
                <a:latin typeface="Proxima Nova"/>
                <a:ea typeface="Proxima Nova"/>
                <a:cs typeface="Proxima Nova"/>
                <a:sym typeface="Proxima Nova"/>
              </a:rPr>
              <a:t> was developed</a:t>
            </a:r>
            <a:endParaRPr b="1" sz="4056">
              <a:solidFill>
                <a:srgbClr val="7ED957"/>
              </a:solidFill>
              <a:latin typeface="Proxima Nova"/>
              <a:ea typeface="Proxima Nova"/>
              <a:cs typeface="Proxima Nova"/>
              <a:sym typeface="Proxima Nova"/>
            </a:endParaRPr>
          </a:p>
          <a:p>
            <a:pPr indent="-398780" lvl="0" marL="457200" rtl="0" algn="l">
              <a:spcBef>
                <a:spcPts val="800"/>
              </a:spcBef>
              <a:spcAft>
                <a:spcPts val="0"/>
              </a:spcAft>
              <a:buClr>
                <a:schemeClr val="lt1"/>
              </a:buClr>
              <a:buSzPct val="100000"/>
              <a:buFont typeface="Proxima Nova"/>
              <a:buChar char="●"/>
            </a:pPr>
            <a:r>
              <a:rPr lang="en" sz="2978">
                <a:solidFill>
                  <a:schemeClr val="lt1"/>
                </a:solidFill>
                <a:latin typeface="Proxima Nova"/>
                <a:ea typeface="Proxima Nova"/>
                <a:cs typeface="Proxima Nova"/>
                <a:sym typeface="Proxima Nova"/>
              </a:rPr>
              <a:t>Species of Interest - survey of June 2025 workshop participants</a:t>
            </a:r>
            <a:endParaRPr sz="2978">
              <a:solidFill>
                <a:schemeClr val="lt1"/>
              </a:solidFill>
              <a:latin typeface="Proxima Nova"/>
              <a:ea typeface="Proxima Nova"/>
              <a:cs typeface="Proxima Nova"/>
              <a:sym typeface="Proxima Nova"/>
            </a:endParaRPr>
          </a:p>
          <a:p>
            <a:pPr indent="-398780" lvl="1" marL="914400" rtl="0" algn="l">
              <a:spcBef>
                <a:spcPts val="0"/>
              </a:spcBef>
              <a:spcAft>
                <a:spcPts val="0"/>
              </a:spcAft>
              <a:buClr>
                <a:schemeClr val="lt1"/>
              </a:buClr>
              <a:buSzPct val="100000"/>
              <a:buFont typeface="Proxima Nova"/>
              <a:buChar char="○"/>
            </a:pPr>
            <a:r>
              <a:rPr lang="en" sz="2978">
                <a:solidFill>
                  <a:schemeClr val="lt1"/>
                </a:solidFill>
                <a:latin typeface="Proxima Nova"/>
                <a:ea typeface="Proxima Nova"/>
                <a:cs typeface="Proxima Nova"/>
                <a:sym typeface="Proxima Nova"/>
              </a:rPr>
              <a:t>Paired with known salinity and temperature tolerances (are we actually able to model it?)</a:t>
            </a:r>
            <a:endParaRPr sz="2978">
              <a:solidFill>
                <a:schemeClr val="lt1"/>
              </a:solidFill>
              <a:latin typeface="Proxima Nova"/>
              <a:ea typeface="Proxima Nova"/>
              <a:cs typeface="Proxima Nova"/>
              <a:sym typeface="Proxima Nova"/>
            </a:endParaRPr>
          </a:p>
          <a:p>
            <a:pPr indent="-398780" lvl="1" marL="914400" rtl="0" algn="l">
              <a:spcBef>
                <a:spcPts val="0"/>
              </a:spcBef>
              <a:spcAft>
                <a:spcPts val="0"/>
              </a:spcAft>
              <a:buClr>
                <a:schemeClr val="lt1"/>
              </a:buClr>
              <a:buSzPct val="100000"/>
              <a:buFont typeface="Proxima Nova"/>
              <a:buChar char="○"/>
            </a:pPr>
            <a:r>
              <a:rPr lang="en" sz="2978">
                <a:solidFill>
                  <a:schemeClr val="lt1"/>
                </a:solidFill>
                <a:latin typeface="Proxima Nova"/>
                <a:ea typeface="Proxima Nova"/>
                <a:cs typeface="Proxima Nova"/>
                <a:sym typeface="Proxima Nova"/>
              </a:rPr>
              <a:t>Moyle 2002; Moyle and Cech 2001; etc.</a:t>
            </a:r>
            <a:endParaRPr sz="2978">
              <a:solidFill>
                <a:schemeClr val="lt1"/>
              </a:solidFill>
              <a:latin typeface="Proxima Nova"/>
              <a:ea typeface="Proxima Nova"/>
              <a:cs typeface="Proxima Nova"/>
              <a:sym typeface="Proxima Nova"/>
            </a:endParaRPr>
          </a:p>
          <a:p>
            <a:pPr indent="-398780" lvl="0" marL="457200" rtl="0" algn="l">
              <a:spcBef>
                <a:spcPts val="0"/>
              </a:spcBef>
              <a:spcAft>
                <a:spcPts val="0"/>
              </a:spcAft>
              <a:buClr>
                <a:schemeClr val="lt1"/>
              </a:buClr>
              <a:buSzPct val="100000"/>
              <a:buFont typeface="Proxima Nova"/>
              <a:buChar char="●"/>
            </a:pPr>
            <a:r>
              <a:rPr lang="en" sz="2978">
                <a:solidFill>
                  <a:schemeClr val="lt1"/>
                </a:solidFill>
                <a:latin typeface="Proxima Nova"/>
                <a:ea typeface="Proxima Nova"/>
                <a:cs typeface="Proxima Nova"/>
                <a:sym typeface="Proxima Nova"/>
              </a:rPr>
              <a:t>Landscape - using newly accessible acres</a:t>
            </a:r>
            <a:endParaRPr sz="2978">
              <a:solidFill>
                <a:schemeClr val="lt1"/>
              </a:solidFill>
              <a:latin typeface="Proxima Nova"/>
              <a:ea typeface="Proxima Nova"/>
              <a:cs typeface="Proxima Nova"/>
              <a:sym typeface="Proxima Nova"/>
            </a:endParaRPr>
          </a:p>
          <a:p>
            <a:pPr indent="-398780" lvl="0" marL="457200" rtl="0" algn="l">
              <a:spcBef>
                <a:spcPts val="0"/>
              </a:spcBef>
              <a:spcAft>
                <a:spcPts val="0"/>
              </a:spcAft>
              <a:buClr>
                <a:schemeClr val="lt1"/>
              </a:buClr>
              <a:buSzPct val="100000"/>
              <a:buFont typeface="Proxima Nova"/>
              <a:buChar char="●"/>
            </a:pPr>
            <a:r>
              <a:rPr lang="en" sz="2978">
                <a:solidFill>
                  <a:schemeClr val="lt1"/>
                </a:solidFill>
                <a:latin typeface="Proxima Nova"/>
                <a:ea typeface="Proxima Nova"/>
                <a:cs typeface="Proxima Nova"/>
                <a:sym typeface="Proxima Nova"/>
              </a:rPr>
              <a:t>Food webs - used constants for relative food web contributions multiplied times new acres</a:t>
            </a:r>
            <a:endParaRPr sz="2978">
              <a:solidFill>
                <a:schemeClr val="lt1"/>
              </a:solidFill>
              <a:latin typeface="Proxima Nova"/>
              <a:ea typeface="Proxima Nova"/>
              <a:cs typeface="Proxima Nova"/>
              <a:sym typeface="Proxima Nova"/>
            </a:endParaRPr>
          </a:p>
          <a:p>
            <a:pPr indent="-398780" lvl="0" marL="457200" rtl="0" algn="l">
              <a:spcBef>
                <a:spcPts val="0"/>
              </a:spcBef>
              <a:spcAft>
                <a:spcPts val="0"/>
              </a:spcAft>
              <a:buClr>
                <a:schemeClr val="lt1"/>
              </a:buClr>
              <a:buSzPct val="100000"/>
              <a:buFont typeface="Proxima Nova"/>
              <a:buChar char="●"/>
            </a:pPr>
            <a:r>
              <a:rPr lang="en" sz="2978">
                <a:solidFill>
                  <a:schemeClr val="lt1"/>
                </a:solidFill>
                <a:latin typeface="Proxima Nova"/>
                <a:ea typeface="Proxima Nova"/>
                <a:cs typeface="Proxima Nova"/>
                <a:sym typeface="Proxima Nova"/>
              </a:rPr>
              <a:t>Conceptual models - visuals to describe changes per scenarios</a:t>
            </a:r>
            <a:endParaRPr sz="2978">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ct val="100000"/>
              <a:buNone/>
            </a:pPr>
            <a:r>
              <a:t/>
            </a:r>
            <a:endParaRPr>
              <a:solidFill>
                <a:srgbClr val="7ED957"/>
              </a:solidFill>
              <a:latin typeface="Hammersmith One"/>
              <a:ea typeface="Hammersmith One"/>
              <a:cs typeface="Hammersmith One"/>
              <a:sym typeface="Hammersmith On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126" name="Shape 126"/>
        <p:cNvGrpSpPr/>
        <p:nvPr/>
      </p:nvGrpSpPr>
      <p:grpSpPr>
        <a:xfrm>
          <a:off x="0" y="0"/>
          <a:ext cx="0" cy="0"/>
          <a:chOff x="0" y="0"/>
          <a:chExt cx="0" cy="0"/>
        </a:xfrm>
      </p:grpSpPr>
      <p:sp>
        <p:nvSpPr>
          <p:cNvPr id="127" name="Google Shape;127;p30"/>
          <p:cNvSpPr txBox="1"/>
          <p:nvPr>
            <p:ph type="ctrTitle"/>
          </p:nvPr>
        </p:nvSpPr>
        <p:spPr>
          <a:xfrm>
            <a:off x="274325" y="366242"/>
            <a:ext cx="8520600" cy="3414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100"/>
              <a:buNone/>
            </a:pPr>
            <a:r>
              <a:rPr b="1" lang="en" sz="4056">
                <a:solidFill>
                  <a:srgbClr val="7ED957"/>
                </a:solidFill>
                <a:latin typeface="Proxima Nova"/>
                <a:ea typeface="Proxima Nova"/>
                <a:cs typeface="Proxima Nova"/>
                <a:sym typeface="Proxima Nova"/>
              </a:rPr>
              <a:t>How it was developed</a:t>
            </a:r>
            <a:endParaRPr b="1" sz="4056">
              <a:solidFill>
                <a:srgbClr val="7ED957"/>
              </a:solidFill>
              <a:latin typeface="Proxima Nova"/>
              <a:ea typeface="Proxima Nova"/>
              <a:cs typeface="Proxima Nova"/>
              <a:sym typeface="Proxima Nova"/>
            </a:endParaRPr>
          </a:p>
          <a:p>
            <a:pPr indent="0" lvl="0" marL="0" rtl="0" algn="l">
              <a:spcBef>
                <a:spcPts val="800"/>
              </a:spcBef>
              <a:spcAft>
                <a:spcPts val="0"/>
              </a:spcAft>
              <a:buSzPts val="1100"/>
              <a:buNone/>
            </a:pPr>
            <a:r>
              <a:rPr lang="en" sz="2978">
                <a:solidFill>
                  <a:schemeClr val="lt1"/>
                </a:solidFill>
                <a:latin typeface="Proxima Nova"/>
                <a:ea typeface="Proxima Nova"/>
                <a:cs typeface="Proxima Nova"/>
                <a:sym typeface="Proxima Nova"/>
              </a:rPr>
              <a:t>(the why here, based on public and expert input)</a:t>
            </a:r>
            <a:endParaRPr sz="2978">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ts val="5200"/>
              <a:buNone/>
            </a:pPr>
            <a:r>
              <a:t/>
            </a:r>
            <a:endParaRPr>
              <a:solidFill>
                <a:srgbClr val="7ED957"/>
              </a:solidFill>
              <a:latin typeface="Hammersmith One"/>
              <a:ea typeface="Hammersmith One"/>
              <a:cs typeface="Hammersmith One"/>
              <a:sym typeface="Hammersmith One"/>
            </a:endParaRPr>
          </a:p>
        </p:txBody>
      </p:sp>
      <p:pic>
        <p:nvPicPr>
          <p:cNvPr id="128" name="Google Shape;128;p30" title="chart (1).png"/>
          <p:cNvPicPr preferRelativeResize="0"/>
          <p:nvPr/>
        </p:nvPicPr>
        <p:blipFill>
          <a:blip r:embed="rId3">
            <a:alphaModFix/>
          </a:blip>
          <a:stretch>
            <a:fillRect/>
          </a:stretch>
        </p:blipFill>
        <p:spPr>
          <a:xfrm>
            <a:off x="328888" y="152400"/>
            <a:ext cx="8486230" cy="4991100"/>
          </a:xfrm>
          <a:prstGeom prst="rect">
            <a:avLst/>
          </a:prstGeom>
          <a:noFill/>
          <a:ln>
            <a:noFill/>
          </a:ln>
        </p:spPr>
      </p:pic>
      <p:sp>
        <p:nvSpPr>
          <p:cNvPr id="129" name="Google Shape;129;p30"/>
          <p:cNvSpPr/>
          <p:nvPr/>
        </p:nvSpPr>
        <p:spPr>
          <a:xfrm>
            <a:off x="4572000" y="366250"/>
            <a:ext cx="683100" cy="2508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30"/>
          <p:cNvSpPr/>
          <p:nvPr/>
        </p:nvSpPr>
        <p:spPr>
          <a:xfrm rot="1468035">
            <a:off x="3304544" y="650184"/>
            <a:ext cx="916284" cy="258983"/>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30"/>
          <p:cNvSpPr txBox="1"/>
          <p:nvPr/>
        </p:nvSpPr>
        <p:spPr>
          <a:xfrm>
            <a:off x="5255100" y="260800"/>
            <a:ext cx="1630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latin typeface="Proxima Nova"/>
                <a:ea typeface="Proxima Nova"/>
                <a:cs typeface="Proxima Nova"/>
                <a:sym typeface="Proxima Nova"/>
              </a:rPr>
              <a:t>Striped Bass</a:t>
            </a:r>
            <a:endParaRPr b="1" sz="1800">
              <a:solidFill>
                <a:schemeClr val="dk2"/>
              </a:solidFill>
              <a:latin typeface="Proxima Nova"/>
              <a:ea typeface="Proxima Nova"/>
              <a:cs typeface="Proxima Nova"/>
              <a:sym typeface="Proxima Nova"/>
            </a:endParaRPr>
          </a:p>
        </p:txBody>
      </p:sp>
      <p:sp>
        <p:nvSpPr>
          <p:cNvPr id="132" name="Google Shape;132;p30"/>
          <p:cNvSpPr txBox="1"/>
          <p:nvPr/>
        </p:nvSpPr>
        <p:spPr>
          <a:xfrm>
            <a:off x="4098150" y="825200"/>
            <a:ext cx="2076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latin typeface="Proxima Nova"/>
                <a:ea typeface="Proxima Nova"/>
                <a:cs typeface="Proxima Nova"/>
                <a:sym typeface="Proxima Nova"/>
              </a:rPr>
              <a:t>Largemouth</a:t>
            </a:r>
            <a:r>
              <a:rPr b="1" lang="en" sz="1800">
                <a:solidFill>
                  <a:schemeClr val="dk2"/>
                </a:solidFill>
                <a:latin typeface="Proxima Nova"/>
                <a:ea typeface="Proxima Nova"/>
                <a:cs typeface="Proxima Nova"/>
                <a:sym typeface="Proxima Nova"/>
              </a:rPr>
              <a:t> Bass</a:t>
            </a:r>
            <a:endParaRPr b="1" sz="1800">
              <a:solidFill>
                <a:schemeClr val="dk2"/>
              </a:solidFill>
              <a:latin typeface="Proxima Nova"/>
              <a:ea typeface="Proxima Nova"/>
              <a:cs typeface="Proxima Nova"/>
              <a:sym typeface="Proxima Nova"/>
            </a:endParaRPr>
          </a:p>
        </p:txBody>
      </p:sp>
      <p:sp>
        <p:nvSpPr>
          <p:cNvPr id="133" name="Google Shape;133;p30"/>
          <p:cNvSpPr/>
          <p:nvPr/>
        </p:nvSpPr>
        <p:spPr>
          <a:xfrm rot="1468035">
            <a:off x="6058419" y="1792259"/>
            <a:ext cx="916284" cy="258983"/>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30"/>
          <p:cNvSpPr txBox="1"/>
          <p:nvPr/>
        </p:nvSpPr>
        <p:spPr>
          <a:xfrm>
            <a:off x="6885900" y="1928850"/>
            <a:ext cx="1630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latin typeface="Proxima Nova"/>
                <a:ea typeface="Proxima Nova"/>
                <a:cs typeface="Proxima Nova"/>
                <a:sym typeface="Proxima Nova"/>
              </a:rPr>
              <a:t>Chinook Salmon</a:t>
            </a:r>
            <a:endParaRPr b="1" sz="1800">
              <a:solidFill>
                <a:schemeClr val="dk2"/>
              </a:solidFill>
              <a:latin typeface="Proxima Nova"/>
              <a:ea typeface="Proxima Nova"/>
              <a:cs typeface="Proxima Nova"/>
              <a:sym typeface="Proxima Nova"/>
            </a:endParaRPr>
          </a:p>
        </p:txBody>
      </p:sp>
      <p:sp>
        <p:nvSpPr>
          <p:cNvPr id="135" name="Google Shape;135;p30"/>
          <p:cNvSpPr/>
          <p:nvPr/>
        </p:nvSpPr>
        <p:spPr>
          <a:xfrm rot="1468035">
            <a:off x="3241794" y="2107009"/>
            <a:ext cx="916284" cy="258983"/>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30"/>
          <p:cNvSpPr txBox="1"/>
          <p:nvPr/>
        </p:nvSpPr>
        <p:spPr>
          <a:xfrm>
            <a:off x="4098150" y="2229400"/>
            <a:ext cx="1630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latin typeface="Proxima Nova"/>
                <a:ea typeface="Proxima Nova"/>
                <a:cs typeface="Proxima Nova"/>
                <a:sym typeface="Proxima Nova"/>
              </a:rPr>
              <a:t>Longfin Smelt</a:t>
            </a:r>
            <a:endParaRPr b="1" sz="1800">
              <a:solidFill>
                <a:schemeClr val="dk2"/>
              </a:solidFill>
              <a:latin typeface="Proxima Nova"/>
              <a:ea typeface="Proxima Nova"/>
              <a:cs typeface="Proxima Nova"/>
              <a:sym typeface="Proxima Nova"/>
            </a:endParaRPr>
          </a:p>
        </p:txBody>
      </p:sp>
      <p:sp>
        <p:nvSpPr>
          <p:cNvPr id="137" name="Google Shape;137;p30"/>
          <p:cNvSpPr/>
          <p:nvPr/>
        </p:nvSpPr>
        <p:spPr>
          <a:xfrm rot="1126">
            <a:off x="3095403" y="3325901"/>
            <a:ext cx="916200" cy="2589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30"/>
          <p:cNvSpPr txBox="1"/>
          <p:nvPr/>
        </p:nvSpPr>
        <p:spPr>
          <a:xfrm>
            <a:off x="4098150" y="3186100"/>
            <a:ext cx="2076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latin typeface="Proxima Nova"/>
                <a:ea typeface="Proxima Nova"/>
                <a:cs typeface="Proxima Nova"/>
                <a:sym typeface="Proxima Nova"/>
              </a:rPr>
              <a:t>Invasive Plants</a:t>
            </a:r>
            <a:endParaRPr b="1" sz="1800">
              <a:solidFill>
                <a:schemeClr val="dk2"/>
              </a:solidFill>
              <a:latin typeface="Proxima Nova"/>
              <a:ea typeface="Proxima Nova"/>
              <a:cs typeface="Proxima Nova"/>
              <a:sym typeface="Proxima Nova"/>
            </a:endParaRPr>
          </a:p>
        </p:txBody>
      </p:sp>
      <p:sp>
        <p:nvSpPr>
          <p:cNvPr id="139" name="Google Shape;139;p30"/>
          <p:cNvSpPr/>
          <p:nvPr/>
        </p:nvSpPr>
        <p:spPr>
          <a:xfrm rot="-1899326">
            <a:off x="1909637" y="4272763"/>
            <a:ext cx="916332" cy="25876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30"/>
          <p:cNvSpPr txBox="1"/>
          <p:nvPr/>
        </p:nvSpPr>
        <p:spPr>
          <a:xfrm>
            <a:off x="2724225" y="3833175"/>
            <a:ext cx="2076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latin typeface="Proxima Nova"/>
                <a:ea typeface="Proxima Nova"/>
                <a:cs typeface="Proxima Nova"/>
                <a:sym typeface="Proxima Nova"/>
              </a:rPr>
              <a:t>Clams</a:t>
            </a:r>
            <a:endParaRPr b="1" sz="1800">
              <a:solidFill>
                <a:schemeClr val="dk2"/>
              </a:solidFill>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144" name="Shape 144"/>
        <p:cNvGrpSpPr/>
        <p:nvPr/>
      </p:nvGrpSpPr>
      <p:grpSpPr>
        <a:xfrm>
          <a:off x="0" y="0"/>
          <a:ext cx="0" cy="0"/>
          <a:chOff x="0" y="0"/>
          <a:chExt cx="0" cy="0"/>
        </a:xfrm>
      </p:grpSpPr>
      <p:graphicFrame>
        <p:nvGraphicFramePr>
          <p:cNvPr id="145" name="Google Shape;145;p31"/>
          <p:cNvGraphicFramePr/>
          <p:nvPr/>
        </p:nvGraphicFramePr>
        <p:xfrm>
          <a:off x="320040" y="1188720"/>
          <a:ext cx="3000000" cy="3000000"/>
        </p:xfrm>
        <a:graphic>
          <a:graphicData uri="http://schemas.openxmlformats.org/drawingml/2006/table">
            <a:tbl>
              <a:tblPr>
                <a:noFill/>
                <a:tableStyleId>{85CED069-D96A-4F69-AB26-FEDBC44AE582}</a:tableStyleId>
              </a:tblPr>
              <a:tblGrid>
                <a:gridCol w="1413125"/>
                <a:gridCol w="4020750"/>
                <a:gridCol w="3024300"/>
              </a:tblGrid>
              <a:tr h="491550">
                <a:tc>
                  <a:txBody>
                    <a:bodyPr/>
                    <a:lstStyle/>
                    <a:p>
                      <a:pPr indent="0" lvl="0" marL="0" rtl="0" algn="l">
                        <a:spcBef>
                          <a:spcPts val="0"/>
                        </a:spcBef>
                        <a:spcAft>
                          <a:spcPts val="0"/>
                        </a:spcAft>
                        <a:buNone/>
                      </a:pPr>
                      <a:r>
                        <a:rPr b="1" lang="en" sz="2000">
                          <a:solidFill>
                            <a:schemeClr val="lt1"/>
                          </a:solidFill>
                          <a:latin typeface="Proxima Nova"/>
                          <a:ea typeface="Proxima Nova"/>
                          <a:cs typeface="Proxima Nova"/>
                          <a:sym typeface="Proxima Nova"/>
                        </a:rPr>
                        <a:t>Metric</a:t>
                      </a:r>
                      <a:endParaRPr b="1" sz="600"/>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2000">
                          <a:solidFill>
                            <a:schemeClr val="lt1"/>
                          </a:solidFill>
                          <a:latin typeface="Proxima Nova"/>
                          <a:ea typeface="Proxima Nova"/>
                          <a:cs typeface="Proxima Nova"/>
                          <a:sym typeface="Proxima Nova"/>
                        </a:rPr>
                        <a:t>Definition</a:t>
                      </a:r>
                      <a:endParaRPr b="1" sz="2000">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2000">
                          <a:solidFill>
                            <a:schemeClr val="lt1"/>
                          </a:solidFill>
                          <a:latin typeface="Proxima Nova"/>
                          <a:ea typeface="Proxima Nova"/>
                          <a:cs typeface="Proxima Nova"/>
                          <a:sym typeface="Proxima Nova"/>
                        </a:rPr>
                        <a:t>Measurement</a:t>
                      </a:r>
                      <a:endParaRPr b="1" sz="2000">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r>
              <a:tr h="1141325">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Species-specific modeling</a:t>
                      </a:r>
                      <a:endParaRPr sz="1200"/>
                    </a:p>
                  </a:txBody>
                  <a:tcPr marT="91425" marB="91425" marR="91425" marL="91425">
                    <a:lnT cap="flat" cmpd="sng" w="38100">
                      <a:solidFill>
                        <a:srgbClr val="9E9E9E"/>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n" sz="1200">
                          <a:solidFill>
                            <a:srgbClr val="FFFFFF"/>
                          </a:solidFill>
                          <a:latin typeface="Proxima Nova"/>
                          <a:ea typeface="Proxima Nova"/>
                          <a:cs typeface="Proxima Nova"/>
                          <a:sym typeface="Proxima Nova"/>
                        </a:rPr>
                        <a:t>Specific species or species groups of interest from our June 2025 stakeholder workshop. Using temperature and salinity to determine functional abiotic niche. Two metrics of suitability - proportion of suitable points and average length of suitable consecutive days.</a:t>
                      </a:r>
                      <a:endParaRPr sz="1200"/>
                    </a:p>
                  </a:txBody>
                  <a:tcPr marT="91425" marB="91425" marR="91425" marL="91425">
                    <a:lnT cap="flat" cmpd="sng" w="38100">
                      <a:solidFill>
                        <a:srgbClr val="9E9E9E"/>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n" sz="1200">
                          <a:solidFill>
                            <a:srgbClr val="FFFFFF"/>
                          </a:solidFill>
                          <a:latin typeface="Proxima Nova"/>
                          <a:ea typeface="Proxima Nova"/>
                          <a:cs typeface="Proxima Nova"/>
                          <a:sym typeface="Proxima Nova"/>
                        </a:rPr>
                        <a:t>Measured as </a:t>
                      </a:r>
                      <a:r>
                        <a:rPr lang="en" sz="1200">
                          <a:solidFill>
                            <a:srgbClr val="FFFFFF"/>
                          </a:solidFill>
                          <a:latin typeface="Proxima Nova"/>
                          <a:ea typeface="Proxima Nova"/>
                          <a:cs typeface="Proxima Nova"/>
                          <a:sym typeface="Proxima Nova"/>
                        </a:rPr>
                        <a:t>proportion</a:t>
                      </a:r>
                      <a:r>
                        <a:rPr lang="en" sz="1200">
                          <a:solidFill>
                            <a:srgbClr val="FFFFFF"/>
                          </a:solidFill>
                          <a:latin typeface="Proxima Nova"/>
                          <a:ea typeface="Proxima Nova"/>
                          <a:cs typeface="Proxima Nova"/>
                          <a:sym typeface="Proxima Nova"/>
                        </a:rPr>
                        <a:t> of suitable days per region for a species of interest and average </a:t>
                      </a:r>
                      <a:r>
                        <a:rPr lang="en" sz="1200">
                          <a:solidFill>
                            <a:srgbClr val="FFFFFF"/>
                          </a:solidFill>
                          <a:latin typeface="Proxima Nova"/>
                          <a:ea typeface="Proxima Nova"/>
                          <a:cs typeface="Proxima Nova"/>
                          <a:sym typeface="Proxima Nova"/>
                        </a:rPr>
                        <a:t>steak</a:t>
                      </a:r>
                      <a:r>
                        <a:rPr lang="en" sz="1200">
                          <a:solidFill>
                            <a:srgbClr val="FFFFFF"/>
                          </a:solidFill>
                          <a:latin typeface="Proxima Nova"/>
                          <a:ea typeface="Proxima Nova"/>
                          <a:cs typeface="Proxima Nova"/>
                          <a:sym typeface="Proxima Nova"/>
                        </a:rPr>
                        <a:t> length per point of suitabilities. </a:t>
                      </a:r>
                      <a:endParaRPr sz="1200">
                        <a:solidFill>
                          <a:srgbClr val="FFFFFF"/>
                        </a:solidFill>
                        <a:latin typeface="Proxima Nova"/>
                        <a:ea typeface="Proxima Nova"/>
                        <a:cs typeface="Proxima Nova"/>
                        <a:sym typeface="Proxima Nova"/>
                      </a:endParaRPr>
                    </a:p>
                  </a:txBody>
                  <a:tcPr marT="91425" marB="91425" marR="91425" marL="91425">
                    <a:lnT cap="flat" cmpd="sng" w="38100">
                      <a:solidFill>
                        <a:srgbClr val="9E9E9E"/>
                      </a:solidFill>
                      <a:prstDash val="solid"/>
                      <a:round/>
                      <a:headEnd len="sm" w="sm" type="none"/>
                      <a:tailEnd len="sm" w="sm" type="none"/>
                    </a:lnT>
                  </a:tcPr>
                </a:tc>
              </a:tr>
              <a:tr h="829475">
                <a:tc>
                  <a:txBody>
                    <a:bodyPr/>
                    <a:lstStyle/>
                    <a:p>
                      <a:pPr indent="0" lvl="0" marL="0" rtl="0" algn="l">
                        <a:spcBef>
                          <a:spcPts val="0"/>
                        </a:spcBef>
                        <a:spcAft>
                          <a:spcPts val="0"/>
                        </a:spcAft>
                        <a:buClr>
                          <a:schemeClr val="dk1"/>
                        </a:buClr>
                        <a:buSzPts val="1100"/>
                        <a:buFont typeface="Arial"/>
                        <a:buNone/>
                      </a:pPr>
                      <a:r>
                        <a:rPr lang="en" sz="1200">
                          <a:solidFill>
                            <a:schemeClr val="lt1"/>
                          </a:solidFill>
                          <a:latin typeface="Proxima Nova"/>
                          <a:ea typeface="Proxima Nova"/>
                          <a:cs typeface="Proxima Nova"/>
                          <a:sym typeface="Proxima Nova"/>
                        </a:rPr>
                        <a:t>Landscape and food web modeling</a:t>
                      </a:r>
                      <a:endParaRPr sz="1200"/>
                    </a:p>
                  </a:txBody>
                  <a:tcPr marT="91425" marB="91425" marR="91425" marL="91425"/>
                </a:tc>
                <a:tc>
                  <a:txBody>
                    <a:bodyPr/>
                    <a:lstStyle/>
                    <a:p>
                      <a:pPr indent="0" lvl="0" marL="0" rtl="0" algn="l">
                        <a:spcBef>
                          <a:spcPts val="0"/>
                        </a:spcBef>
                        <a:spcAft>
                          <a:spcPts val="0"/>
                        </a:spcAft>
                        <a:buNone/>
                      </a:pPr>
                      <a:r>
                        <a:rPr lang="en" sz="1200">
                          <a:solidFill>
                            <a:schemeClr val="lt2"/>
                          </a:solidFill>
                        </a:rPr>
                        <a:t>Landscape-level rankings will be based on newly accessible acres for aquatic biota. Food web modeling with incorporate “food web positive” landscape acreage.</a:t>
                      </a:r>
                      <a:endParaRPr sz="1200">
                        <a:solidFill>
                          <a:srgbClr val="FFFFFF"/>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sz="1200">
                          <a:solidFill>
                            <a:schemeClr val="lt2"/>
                          </a:solidFill>
                        </a:rPr>
                        <a:t>Landscape is </a:t>
                      </a:r>
                      <a:r>
                        <a:rPr lang="en" sz="1200">
                          <a:solidFill>
                            <a:schemeClr val="lt2"/>
                          </a:solidFill>
                        </a:rPr>
                        <a:t>calculated</a:t>
                      </a:r>
                      <a:r>
                        <a:rPr lang="en" sz="1200">
                          <a:solidFill>
                            <a:schemeClr val="lt2"/>
                          </a:solidFill>
                        </a:rPr>
                        <a:t> as newly accessible acres and food webs are calculated as relative food web contributions multiplied by new acreage to form a food web </a:t>
                      </a:r>
                      <a:r>
                        <a:rPr lang="en" sz="1200">
                          <a:solidFill>
                            <a:schemeClr val="lt2"/>
                          </a:solidFill>
                        </a:rPr>
                        <a:t>proxy</a:t>
                      </a:r>
                      <a:r>
                        <a:rPr lang="en" sz="1200">
                          <a:solidFill>
                            <a:schemeClr val="lt2"/>
                          </a:solidFill>
                        </a:rPr>
                        <a:t>.</a:t>
                      </a:r>
                      <a:endParaRPr sz="1200">
                        <a:solidFill>
                          <a:schemeClr val="lt2"/>
                        </a:solidFill>
                      </a:endParaRPr>
                    </a:p>
                  </a:txBody>
                  <a:tcPr marT="91425" marB="91425" marR="91425" marL="91425"/>
                </a:tc>
              </a:tr>
              <a:tr h="829475">
                <a:tc>
                  <a:txBody>
                    <a:bodyPr/>
                    <a:lstStyle/>
                    <a:p>
                      <a:pPr indent="0" lvl="0" marL="0" rtl="0" algn="l">
                        <a:spcBef>
                          <a:spcPts val="0"/>
                        </a:spcBef>
                        <a:spcAft>
                          <a:spcPts val="0"/>
                        </a:spcAft>
                        <a:buClr>
                          <a:schemeClr val="dk1"/>
                        </a:buClr>
                        <a:buSzPts val="1100"/>
                        <a:buFont typeface="Arial"/>
                        <a:buNone/>
                      </a:pPr>
                      <a:r>
                        <a:rPr lang="en" sz="1200">
                          <a:solidFill>
                            <a:schemeClr val="lt2"/>
                          </a:solidFill>
                          <a:latin typeface="Proxima Nova"/>
                          <a:ea typeface="Proxima Nova"/>
                          <a:cs typeface="Proxima Nova"/>
                          <a:sym typeface="Proxima Nova"/>
                        </a:rPr>
                        <a:t>Conceptual models</a:t>
                      </a:r>
                      <a:endParaRPr sz="1200"/>
                    </a:p>
                  </a:txBody>
                  <a:tcPr marT="91425" marB="91425" marR="91425" marL="91425"/>
                </a:tc>
                <a:tc>
                  <a:txBody>
                    <a:bodyPr/>
                    <a:lstStyle/>
                    <a:p>
                      <a:pPr indent="0" lvl="0" marL="0" rtl="0" algn="l">
                        <a:spcBef>
                          <a:spcPts val="0"/>
                        </a:spcBef>
                        <a:spcAft>
                          <a:spcPts val="0"/>
                        </a:spcAft>
                        <a:buNone/>
                      </a:pPr>
                      <a:r>
                        <a:rPr lang="en" sz="1200">
                          <a:solidFill>
                            <a:schemeClr val="lt2"/>
                          </a:solidFill>
                        </a:rPr>
                        <a:t>To describe the food web changes and changes in habitat accessibility for each scenario, we will create a series of conceptual models describing ecosystem-wide interactions.</a:t>
                      </a:r>
                      <a:endParaRPr sz="1200">
                        <a:solidFill>
                          <a:srgbClr val="FFFFFF"/>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sz="1200">
                          <a:solidFill>
                            <a:schemeClr val="lt2"/>
                          </a:solidFill>
                        </a:rPr>
                        <a:t>Conceptual models are the way to condense information and collate differences between scenarios</a:t>
                      </a:r>
                      <a:endParaRPr sz="1200">
                        <a:solidFill>
                          <a:schemeClr val="lt2"/>
                        </a:solidFill>
                      </a:endParaRPr>
                    </a:p>
                  </a:txBody>
                  <a:tcPr marT="91425" marB="91425" marR="91425" marL="91425"/>
                </a:tc>
              </a:tr>
            </a:tbl>
          </a:graphicData>
        </a:graphic>
      </p:graphicFrame>
      <p:sp>
        <p:nvSpPr>
          <p:cNvPr id="146" name="Google Shape;146;p31"/>
          <p:cNvSpPr txBox="1"/>
          <p:nvPr>
            <p:ph type="ctrTitle"/>
          </p:nvPr>
        </p:nvSpPr>
        <p:spPr>
          <a:xfrm>
            <a:off x="274325" y="312400"/>
            <a:ext cx="4297800" cy="628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680"/>
              <a:buNone/>
            </a:pPr>
            <a:r>
              <a:rPr lang="en" sz="4000">
                <a:solidFill>
                  <a:srgbClr val="7ED957"/>
                </a:solidFill>
                <a:latin typeface="Hammersmith One"/>
                <a:ea typeface="Hammersmith One"/>
                <a:cs typeface="Hammersmith One"/>
                <a:sym typeface="Hammersmith One"/>
              </a:rPr>
              <a:t>Ecology Metrics</a:t>
            </a:r>
            <a:endParaRPr sz="4000">
              <a:solidFill>
                <a:srgbClr val="7ED957"/>
              </a:solidFill>
              <a:latin typeface="Hammersmith One"/>
              <a:ea typeface="Hammersmith One"/>
              <a:cs typeface="Hammersmith One"/>
              <a:sym typeface="Hammersmith On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150" name="Shape 150"/>
        <p:cNvGrpSpPr/>
        <p:nvPr/>
      </p:nvGrpSpPr>
      <p:grpSpPr>
        <a:xfrm>
          <a:off x="0" y="0"/>
          <a:ext cx="0" cy="0"/>
          <a:chOff x="0" y="0"/>
          <a:chExt cx="0" cy="0"/>
        </a:xfrm>
      </p:grpSpPr>
      <p:sp>
        <p:nvSpPr>
          <p:cNvPr id="151" name="Google Shape;151;p32"/>
          <p:cNvSpPr txBox="1"/>
          <p:nvPr>
            <p:ph type="ctrTitle"/>
          </p:nvPr>
        </p:nvSpPr>
        <p:spPr>
          <a:xfrm>
            <a:off x="256372" y="96949"/>
            <a:ext cx="8520600" cy="3414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100"/>
              <a:buNone/>
            </a:pPr>
            <a:r>
              <a:rPr b="1" lang="en" sz="4056">
                <a:solidFill>
                  <a:srgbClr val="7ED957"/>
                </a:solidFill>
                <a:latin typeface="Proxima Nova"/>
                <a:ea typeface="Proxima Nova"/>
                <a:cs typeface="Proxima Nova"/>
                <a:sym typeface="Proxima Nova"/>
              </a:rPr>
              <a:t>Delta </a:t>
            </a:r>
            <a:r>
              <a:rPr b="1" lang="en" sz="4056">
                <a:solidFill>
                  <a:srgbClr val="7ED957"/>
                </a:solidFill>
                <a:latin typeface="Proxima Nova"/>
                <a:ea typeface="Proxima Nova"/>
                <a:cs typeface="Proxima Nova"/>
                <a:sym typeface="Proxima Nova"/>
              </a:rPr>
              <a:t>Sub-regional</a:t>
            </a:r>
            <a:r>
              <a:rPr b="1" lang="en" sz="4056">
                <a:solidFill>
                  <a:srgbClr val="7ED957"/>
                </a:solidFill>
                <a:latin typeface="Proxima Nova"/>
                <a:ea typeface="Proxima Nova"/>
                <a:cs typeface="Proxima Nova"/>
                <a:sym typeface="Proxima Nova"/>
              </a:rPr>
              <a:t> Map</a:t>
            </a:r>
            <a:endParaRPr b="1" sz="4056">
              <a:solidFill>
                <a:srgbClr val="7ED957"/>
              </a:solidFill>
              <a:latin typeface="Proxima Nova"/>
              <a:ea typeface="Proxima Nova"/>
              <a:cs typeface="Proxima Nova"/>
              <a:sym typeface="Proxima Nova"/>
            </a:endParaRPr>
          </a:p>
          <a:p>
            <a:pPr indent="0" lvl="0" marL="0" rtl="0" algn="l">
              <a:spcBef>
                <a:spcPts val="800"/>
              </a:spcBef>
              <a:spcAft>
                <a:spcPts val="0"/>
              </a:spcAft>
              <a:buSzPts val="1100"/>
              <a:buNone/>
            </a:pPr>
            <a:r>
              <a:t/>
            </a:r>
            <a:endParaRPr sz="2978">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ts val="5200"/>
              <a:buNone/>
            </a:pPr>
            <a:r>
              <a:t/>
            </a:r>
            <a:endParaRPr>
              <a:solidFill>
                <a:srgbClr val="7ED957"/>
              </a:solidFill>
              <a:latin typeface="Hammersmith One"/>
              <a:ea typeface="Hammersmith One"/>
              <a:cs typeface="Hammersmith One"/>
              <a:sym typeface="Hammersmith One"/>
            </a:endParaRPr>
          </a:p>
        </p:txBody>
      </p:sp>
      <p:sp>
        <p:nvSpPr>
          <p:cNvPr id="152" name="Google Shape;152;p32"/>
          <p:cNvSpPr txBox="1"/>
          <p:nvPr/>
        </p:nvSpPr>
        <p:spPr>
          <a:xfrm>
            <a:off x="131875" y="924575"/>
            <a:ext cx="4440300" cy="4944300"/>
          </a:xfrm>
          <a:prstGeom prst="rect">
            <a:avLst/>
          </a:prstGeom>
          <a:noFill/>
          <a:ln>
            <a:noFill/>
          </a:ln>
        </p:spPr>
        <p:txBody>
          <a:bodyPr anchorCtr="0" anchor="t" bIns="91425" lIns="91425" spcFirstLastPara="1" rIns="91425" wrap="square" tIns="91425">
            <a:spAutoFit/>
          </a:bodyPr>
          <a:lstStyle/>
          <a:p>
            <a:pPr indent="-417689" lvl="0" marL="457200" rtl="0" algn="l">
              <a:spcBef>
                <a:spcPts val="0"/>
              </a:spcBef>
              <a:spcAft>
                <a:spcPts val="0"/>
              </a:spcAft>
              <a:buClr>
                <a:schemeClr val="lt1"/>
              </a:buClr>
              <a:buSzPts val="2978"/>
              <a:buFont typeface="Proxima Nova"/>
              <a:buChar char="●"/>
            </a:pPr>
            <a:r>
              <a:rPr lang="en" sz="2978">
                <a:solidFill>
                  <a:schemeClr val="lt1"/>
                </a:solidFill>
                <a:latin typeface="Proxima Nova"/>
                <a:ea typeface="Proxima Nova"/>
                <a:cs typeface="Proxima Nova"/>
                <a:sym typeface="Proxima Nova"/>
              </a:rPr>
              <a:t>T</a:t>
            </a:r>
            <a:r>
              <a:rPr lang="en" sz="2700">
                <a:solidFill>
                  <a:schemeClr val="lt1"/>
                </a:solidFill>
                <a:latin typeface="Proxima Nova"/>
                <a:ea typeface="Proxima Nova"/>
                <a:cs typeface="Proxima Nova"/>
                <a:sym typeface="Proxima Nova"/>
              </a:rPr>
              <a:t>otal of 145 points across the Estuary</a:t>
            </a:r>
            <a:endParaRPr sz="2700">
              <a:solidFill>
                <a:schemeClr val="lt1"/>
              </a:solidFill>
              <a:latin typeface="Proxima Nova"/>
              <a:ea typeface="Proxima Nova"/>
              <a:cs typeface="Proxima Nova"/>
              <a:sym typeface="Proxima Nova"/>
            </a:endParaRPr>
          </a:p>
          <a:p>
            <a:pPr indent="-400050" lvl="0" marL="457200" rtl="0" algn="l">
              <a:spcBef>
                <a:spcPts val="0"/>
              </a:spcBef>
              <a:spcAft>
                <a:spcPts val="0"/>
              </a:spcAft>
              <a:buClr>
                <a:schemeClr val="lt1"/>
              </a:buClr>
              <a:buSzPts val="2700"/>
              <a:buFont typeface="Proxima Nova"/>
              <a:buChar char="●"/>
            </a:pPr>
            <a:r>
              <a:rPr lang="en" sz="2700">
                <a:solidFill>
                  <a:schemeClr val="lt1"/>
                </a:solidFill>
                <a:latin typeface="Proxima Nova"/>
                <a:ea typeface="Proxima Nova"/>
                <a:cs typeface="Proxima Nova"/>
                <a:sym typeface="Proxima Nova"/>
              </a:rPr>
              <a:t>Adapted broad Delta regions from Pien et al. 2025 and Grimaldo et al. 2020</a:t>
            </a:r>
            <a:endParaRPr sz="2700">
              <a:solidFill>
                <a:schemeClr val="lt1"/>
              </a:solidFill>
              <a:latin typeface="Proxima Nova"/>
              <a:ea typeface="Proxima Nova"/>
              <a:cs typeface="Proxima Nova"/>
              <a:sym typeface="Proxima Nova"/>
            </a:endParaRPr>
          </a:p>
          <a:p>
            <a:pPr indent="-400050" lvl="0" marL="457200" rtl="0" algn="l">
              <a:spcBef>
                <a:spcPts val="0"/>
              </a:spcBef>
              <a:spcAft>
                <a:spcPts val="0"/>
              </a:spcAft>
              <a:buClr>
                <a:schemeClr val="lt1"/>
              </a:buClr>
              <a:buSzPts val="2700"/>
              <a:buFont typeface="Proxima Nova"/>
              <a:buChar char="●"/>
            </a:pPr>
            <a:r>
              <a:rPr lang="en" sz="2700">
                <a:solidFill>
                  <a:schemeClr val="lt1"/>
                </a:solidFill>
                <a:latin typeface="Proxima Nova"/>
                <a:ea typeface="Proxima Nova"/>
                <a:cs typeface="Proxima Nova"/>
                <a:sym typeface="Proxima Nova"/>
              </a:rPr>
              <a:t>Regions grouped by temperature similarities, or by known regional divisions</a:t>
            </a:r>
            <a:endParaRPr sz="2700">
              <a:solidFill>
                <a:schemeClr val="lt1"/>
              </a:solidFill>
              <a:latin typeface="Proxima Nova"/>
              <a:ea typeface="Proxima Nova"/>
              <a:cs typeface="Proxima Nova"/>
              <a:sym typeface="Proxima Nova"/>
            </a:endParaRPr>
          </a:p>
          <a:p>
            <a:pPr indent="0" lvl="0" marL="0" rtl="0" algn="l">
              <a:spcBef>
                <a:spcPts val="800"/>
              </a:spcBef>
              <a:spcAft>
                <a:spcPts val="800"/>
              </a:spcAft>
              <a:buNone/>
            </a:pPr>
            <a:r>
              <a:t/>
            </a:r>
            <a:endParaRPr sz="2978">
              <a:solidFill>
                <a:schemeClr val="lt1"/>
              </a:solidFill>
              <a:latin typeface="Proxima Nova"/>
              <a:ea typeface="Proxima Nova"/>
              <a:cs typeface="Proxima Nova"/>
              <a:sym typeface="Proxima Nova"/>
            </a:endParaRPr>
          </a:p>
        </p:txBody>
      </p:sp>
      <p:sp>
        <p:nvSpPr>
          <p:cNvPr id="153" name="Google Shape;153;p32"/>
          <p:cNvSpPr txBox="1"/>
          <p:nvPr/>
        </p:nvSpPr>
        <p:spPr>
          <a:xfrm>
            <a:off x="5125325" y="1068000"/>
            <a:ext cx="3000000" cy="64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800"/>
              </a:spcAft>
              <a:buNone/>
            </a:pPr>
            <a:r>
              <a:rPr lang="en" sz="2978">
                <a:solidFill>
                  <a:schemeClr val="lt1"/>
                </a:solidFill>
                <a:latin typeface="Proxima Nova"/>
                <a:ea typeface="Proxima Nova"/>
                <a:cs typeface="Proxima Nova"/>
                <a:sym typeface="Proxima Nova"/>
              </a:rPr>
              <a:t>Map here</a:t>
            </a:r>
            <a:endParaRPr/>
          </a:p>
        </p:txBody>
      </p:sp>
      <p:pic>
        <p:nvPicPr>
          <p:cNvPr id="154" name="Google Shape;154;p32"/>
          <p:cNvPicPr preferRelativeResize="0"/>
          <p:nvPr/>
        </p:nvPicPr>
        <p:blipFill rotWithShape="1">
          <a:blip r:embed="rId3">
            <a:alphaModFix/>
          </a:blip>
          <a:srcRect b="11466" l="0" r="0" t="13834"/>
          <a:stretch/>
        </p:blipFill>
        <p:spPr>
          <a:xfrm>
            <a:off x="4674575" y="854325"/>
            <a:ext cx="4238400" cy="4063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158" name="Shape 158"/>
        <p:cNvGrpSpPr/>
        <p:nvPr/>
      </p:nvGrpSpPr>
      <p:grpSpPr>
        <a:xfrm>
          <a:off x="0" y="0"/>
          <a:ext cx="0" cy="0"/>
          <a:chOff x="0" y="0"/>
          <a:chExt cx="0" cy="0"/>
        </a:xfrm>
      </p:grpSpPr>
      <p:graphicFrame>
        <p:nvGraphicFramePr>
          <p:cNvPr id="159" name="Google Shape;159;p33"/>
          <p:cNvGraphicFramePr/>
          <p:nvPr/>
        </p:nvGraphicFramePr>
        <p:xfrm>
          <a:off x="254540" y="756520"/>
          <a:ext cx="3000000" cy="3000000"/>
        </p:xfrm>
        <a:graphic>
          <a:graphicData uri="http://schemas.openxmlformats.org/drawingml/2006/table">
            <a:tbl>
              <a:tblPr>
                <a:noFill/>
                <a:tableStyleId>{85CED069-D96A-4F69-AB26-FEDBC44AE582}</a:tableStyleId>
              </a:tblPr>
              <a:tblGrid>
                <a:gridCol w="2436450"/>
                <a:gridCol w="2499200"/>
                <a:gridCol w="3522525"/>
              </a:tblGrid>
              <a:tr h="423600">
                <a:tc>
                  <a:txBody>
                    <a:bodyPr/>
                    <a:lstStyle/>
                    <a:p>
                      <a:pPr indent="0" lvl="0" marL="0" rtl="0" algn="l">
                        <a:spcBef>
                          <a:spcPts val="0"/>
                        </a:spcBef>
                        <a:spcAft>
                          <a:spcPts val="0"/>
                        </a:spcAft>
                        <a:buNone/>
                      </a:pPr>
                      <a:r>
                        <a:rPr b="1" lang="en" sz="1500">
                          <a:solidFill>
                            <a:schemeClr val="lt1"/>
                          </a:solidFill>
                          <a:latin typeface="Proxima Nova"/>
                          <a:ea typeface="Proxima Nova"/>
                          <a:cs typeface="Proxima Nova"/>
                          <a:sym typeface="Proxima Nova"/>
                        </a:rPr>
                        <a:t>Species</a:t>
                      </a:r>
                      <a:endParaRPr b="1" sz="1500">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500">
                          <a:solidFill>
                            <a:schemeClr val="lt1"/>
                          </a:solidFill>
                          <a:latin typeface="Proxima Nova"/>
                          <a:ea typeface="Proxima Nova"/>
                          <a:cs typeface="Proxima Nova"/>
                          <a:sym typeface="Proxima Nova"/>
                        </a:rPr>
                        <a:t>Salinity</a:t>
                      </a:r>
                      <a:endParaRPr b="1" sz="1500">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500">
                          <a:solidFill>
                            <a:schemeClr val="lt1"/>
                          </a:solidFill>
                          <a:latin typeface="Proxima Nova"/>
                          <a:ea typeface="Proxima Nova"/>
                          <a:cs typeface="Proxima Nova"/>
                          <a:sym typeface="Proxima Nova"/>
                        </a:rPr>
                        <a:t>Temperature</a:t>
                      </a:r>
                      <a:endParaRPr b="1" sz="1500">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r>
              <a:tr h="374775">
                <a:tc>
                  <a:txBody>
                    <a:bodyPr/>
                    <a:lstStyle/>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Egeria densa</a:t>
                      </a:r>
                      <a:endParaRPr sz="1500">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solidFill>
                            <a:srgbClr val="FFFFFF"/>
                          </a:solidFill>
                          <a:latin typeface="Proxima Nova"/>
                          <a:ea typeface="Proxima Nova"/>
                          <a:cs typeface="Proxima Nova"/>
                          <a:sym typeface="Proxima Nova"/>
                        </a:rPr>
                        <a:t> &lt; 5 psu</a:t>
                      </a:r>
                      <a:endParaRPr sz="1500">
                        <a:solidFill>
                          <a:srgbClr val="FFFFFF"/>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n" sz="1500">
                          <a:solidFill>
                            <a:srgbClr val="FFFFFF"/>
                          </a:solidFill>
                          <a:latin typeface="Proxima Nova"/>
                          <a:ea typeface="Proxima Nova"/>
                          <a:cs typeface="Proxima Nova"/>
                          <a:sym typeface="Proxima Nova"/>
                        </a:rPr>
                        <a:t>&gt; 3 C &lt; 26 C</a:t>
                      </a:r>
                      <a:endParaRPr sz="1500">
                        <a:solidFill>
                          <a:srgbClr val="FFFFFF"/>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T cap="flat" cmpd="sng" w="38100">
                      <a:solidFill>
                        <a:srgbClr val="9E9E9E"/>
                      </a:solidFill>
                      <a:prstDash val="solid"/>
                      <a:round/>
                      <a:headEnd len="sm" w="sm" type="none"/>
                      <a:tailEnd len="sm" w="sm" type="none"/>
                    </a:lnT>
                  </a:tcPr>
                </a:tc>
              </a:tr>
              <a:tr h="386175">
                <a:tc>
                  <a:txBody>
                    <a:bodyPr/>
                    <a:lstStyle/>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Largemouth Bass</a:t>
                      </a:r>
                      <a:endParaRPr sz="1500">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solidFill>
                            <a:schemeClr val="lt1"/>
                          </a:solidFill>
                          <a:latin typeface="Proxima Nova"/>
                          <a:ea typeface="Proxima Nova"/>
                          <a:cs typeface="Proxima Nova"/>
                          <a:sym typeface="Proxima Nova"/>
                        </a:rPr>
                        <a:t>&lt; 4 psu</a:t>
                      </a:r>
                      <a:endParaRPr sz="1500">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lnSpc>
                          <a:spcPct val="115000"/>
                        </a:lnSpc>
                        <a:spcBef>
                          <a:spcPts val="0"/>
                        </a:spcBef>
                        <a:spcAft>
                          <a:spcPts val="0"/>
                        </a:spcAft>
                        <a:buNone/>
                      </a:pPr>
                      <a:r>
                        <a:rPr lang="en" sz="1500">
                          <a:solidFill>
                            <a:srgbClr val="FFFFFF"/>
                          </a:solidFill>
                          <a:latin typeface="Proxima Nova"/>
                          <a:ea typeface="Proxima Nova"/>
                          <a:cs typeface="Proxima Nova"/>
                          <a:sym typeface="Proxima Nova"/>
                        </a:rPr>
                        <a:t>&gt; 3 C &lt; 28 C</a:t>
                      </a:r>
                      <a:endParaRPr sz="1500">
                        <a:solidFill>
                          <a:srgbClr val="FFFFFF"/>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r h="374625">
                <a:tc>
                  <a:txBody>
                    <a:bodyPr/>
                    <a:lstStyle/>
                    <a:p>
                      <a:pPr indent="0" lvl="0" marL="0" rtl="0" algn="l">
                        <a:spcBef>
                          <a:spcPts val="0"/>
                        </a:spcBef>
                        <a:spcAft>
                          <a:spcPts val="0"/>
                        </a:spcAft>
                        <a:buNone/>
                      </a:pPr>
                      <a:r>
                        <a:rPr lang="en" sz="1500">
                          <a:solidFill>
                            <a:schemeClr val="lt2"/>
                          </a:solidFill>
                          <a:latin typeface="Proxima Nova"/>
                          <a:ea typeface="Proxima Nova"/>
                          <a:cs typeface="Proxima Nova"/>
                          <a:sym typeface="Proxima Nova"/>
                        </a:rPr>
                        <a:t>Overbite Clam juvenile</a:t>
                      </a:r>
                      <a:endParaRPr sz="1500">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solidFill>
                            <a:srgbClr val="FFFFFF"/>
                          </a:solidFill>
                          <a:latin typeface="Proxima Nova"/>
                          <a:ea typeface="Proxima Nova"/>
                          <a:cs typeface="Proxima Nova"/>
                          <a:sym typeface="Proxima Nova"/>
                        </a:rPr>
                        <a:t>&gt;5 psu &lt;25 psu</a:t>
                      </a:r>
                      <a:endParaRPr sz="1500">
                        <a:solidFill>
                          <a:srgbClr val="FFFFFF"/>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lnSpc>
                          <a:spcPct val="115000"/>
                        </a:lnSpc>
                        <a:spcBef>
                          <a:spcPts val="0"/>
                        </a:spcBef>
                        <a:spcAft>
                          <a:spcPts val="0"/>
                        </a:spcAft>
                        <a:buNone/>
                      </a:pPr>
                      <a:r>
                        <a:rPr lang="en" sz="1500">
                          <a:solidFill>
                            <a:srgbClr val="FFFFFF"/>
                          </a:solidFill>
                          <a:latin typeface="Proxima Nova"/>
                          <a:ea typeface="Proxima Nova"/>
                          <a:cs typeface="Proxima Nova"/>
                          <a:sym typeface="Proxima Nova"/>
                        </a:rPr>
                        <a:t>&gt;3 C &lt; 26 C</a:t>
                      </a:r>
                      <a:endParaRPr sz="1500">
                        <a:solidFill>
                          <a:srgbClr val="FFFFFF"/>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r h="476550">
                <a:tc>
                  <a:txBody>
                    <a:bodyPr/>
                    <a:lstStyle/>
                    <a:p>
                      <a:pPr indent="0" lvl="0" marL="0" rtl="0" algn="l">
                        <a:spcBef>
                          <a:spcPts val="0"/>
                        </a:spcBef>
                        <a:spcAft>
                          <a:spcPts val="0"/>
                        </a:spcAft>
                        <a:buNone/>
                      </a:pPr>
                      <a:r>
                        <a:rPr lang="en" sz="1500">
                          <a:solidFill>
                            <a:schemeClr val="lt2"/>
                          </a:solidFill>
                          <a:latin typeface="Proxima Nova"/>
                          <a:ea typeface="Proxima Nova"/>
                          <a:cs typeface="Proxima Nova"/>
                          <a:sym typeface="Proxima Nova"/>
                        </a:rPr>
                        <a:t>Juvenile Striped Bass</a:t>
                      </a:r>
                      <a:endParaRPr sz="1500">
                        <a:solidFill>
                          <a:schemeClr val="lt2"/>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solidFill>
                            <a:srgbClr val="FFFFFF"/>
                          </a:solidFill>
                          <a:latin typeface="Proxima Nova"/>
                          <a:ea typeface="Proxima Nova"/>
                          <a:cs typeface="Proxima Nova"/>
                          <a:sym typeface="Proxima Nova"/>
                        </a:rPr>
                        <a:t>&gt;0 psu &lt; 35 psu</a:t>
                      </a:r>
                      <a:endParaRPr sz="1500">
                        <a:solidFill>
                          <a:srgbClr val="FFFFFF"/>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lnSpc>
                          <a:spcPct val="115000"/>
                        </a:lnSpc>
                        <a:spcBef>
                          <a:spcPts val="0"/>
                        </a:spcBef>
                        <a:spcAft>
                          <a:spcPts val="0"/>
                        </a:spcAft>
                        <a:buNone/>
                      </a:pPr>
                      <a:r>
                        <a:rPr lang="en" sz="1500">
                          <a:solidFill>
                            <a:srgbClr val="FFFFFF"/>
                          </a:solidFill>
                          <a:latin typeface="Proxima Nova"/>
                          <a:ea typeface="Proxima Nova"/>
                          <a:cs typeface="Proxima Nova"/>
                          <a:sym typeface="Proxima Nova"/>
                        </a:rPr>
                        <a:t>&gt;12 C &lt;27 C</a:t>
                      </a:r>
                      <a:endParaRPr sz="1500">
                        <a:solidFill>
                          <a:srgbClr val="FFFFFF"/>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r h="391675">
                <a:tc>
                  <a:txBody>
                    <a:bodyPr/>
                    <a:lstStyle/>
                    <a:p>
                      <a:pPr indent="0" lvl="0" marL="0" rtl="0" algn="l">
                        <a:spcBef>
                          <a:spcPts val="0"/>
                        </a:spcBef>
                        <a:spcAft>
                          <a:spcPts val="0"/>
                        </a:spcAft>
                        <a:buNone/>
                      </a:pPr>
                      <a:r>
                        <a:rPr lang="en" sz="1500">
                          <a:solidFill>
                            <a:schemeClr val="lt2"/>
                          </a:solidFill>
                          <a:latin typeface="Proxima Nova"/>
                          <a:ea typeface="Proxima Nova"/>
                          <a:cs typeface="Proxima Nova"/>
                          <a:sym typeface="Proxima Nova"/>
                        </a:rPr>
                        <a:t>Juvenile Chinook Salmon</a:t>
                      </a:r>
                      <a:endParaRPr sz="1500">
                        <a:solidFill>
                          <a:schemeClr val="lt2"/>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solidFill>
                            <a:srgbClr val="FFFFFF"/>
                          </a:solidFill>
                          <a:latin typeface="Proxima Nova"/>
                          <a:ea typeface="Proxima Nova"/>
                          <a:cs typeface="Proxima Nova"/>
                          <a:sym typeface="Proxima Nova"/>
                        </a:rPr>
                        <a:t>&gt;0 psu &lt;35 psu</a:t>
                      </a:r>
                      <a:endParaRPr sz="1500">
                        <a:solidFill>
                          <a:srgbClr val="FFFFFF"/>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lnSpc>
                          <a:spcPct val="115000"/>
                        </a:lnSpc>
                        <a:spcBef>
                          <a:spcPts val="0"/>
                        </a:spcBef>
                        <a:spcAft>
                          <a:spcPts val="0"/>
                        </a:spcAft>
                        <a:buNone/>
                      </a:pPr>
                      <a:r>
                        <a:rPr lang="en" sz="1500">
                          <a:solidFill>
                            <a:srgbClr val="FFFFFF"/>
                          </a:solidFill>
                          <a:latin typeface="Proxima Nova"/>
                          <a:ea typeface="Proxima Nova"/>
                          <a:cs typeface="Proxima Nova"/>
                          <a:sym typeface="Proxima Nova"/>
                        </a:rPr>
                        <a:t>&gt;10 C &lt;25 C</a:t>
                      </a:r>
                      <a:endParaRPr sz="1500">
                        <a:solidFill>
                          <a:srgbClr val="FFFFFF"/>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r h="391675">
                <a:tc>
                  <a:txBody>
                    <a:bodyPr/>
                    <a:lstStyle/>
                    <a:p>
                      <a:pPr indent="0" lvl="0" marL="0" rtl="0" algn="l">
                        <a:spcBef>
                          <a:spcPts val="0"/>
                        </a:spcBef>
                        <a:spcAft>
                          <a:spcPts val="0"/>
                        </a:spcAft>
                        <a:buNone/>
                      </a:pPr>
                      <a:r>
                        <a:rPr lang="en" sz="1500">
                          <a:solidFill>
                            <a:schemeClr val="lt2"/>
                          </a:solidFill>
                          <a:latin typeface="Proxima Nova"/>
                          <a:ea typeface="Proxima Nova"/>
                          <a:cs typeface="Proxima Nova"/>
                          <a:sym typeface="Proxima Nova"/>
                        </a:rPr>
                        <a:t>L</a:t>
                      </a:r>
                      <a:r>
                        <a:rPr lang="en" sz="1500">
                          <a:solidFill>
                            <a:schemeClr val="lt2"/>
                          </a:solidFill>
                          <a:latin typeface="Proxima Nova"/>
                          <a:ea typeface="Proxima Nova"/>
                          <a:cs typeface="Proxima Nova"/>
                          <a:sym typeface="Proxima Nova"/>
                        </a:rPr>
                        <a:t>ongfin smelt juvenile</a:t>
                      </a:r>
                      <a:endParaRPr sz="1500">
                        <a:solidFill>
                          <a:schemeClr val="lt2"/>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solidFill>
                            <a:srgbClr val="FFFFFF"/>
                          </a:solidFill>
                          <a:latin typeface="Proxima Nova"/>
                          <a:ea typeface="Proxima Nova"/>
                          <a:cs typeface="Proxima Nova"/>
                          <a:sym typeface="Proxima Nova"/>
                        </a:rPr>
                        <a:t>&gt;0.4 psu &lt;10 psu</a:t>
                      </a:r>
                      <a:endParaRPr sz="1500">
                        <a:solidFill>
                          <a:srgbClr val="FFFFFF"/>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lnSpc>
                          <a:spcPct val="115000"/>
                        </a:lnSpc>
                        <a:spcBef>
                          <a:spcPts val="0"/>
                        </a:spcBef>
                        <a:spcAft>
                          <a:spcPts val="0"/>
                        </a:spcAft>
                        <a:buNone/>
                      </a:pPr>
                      <a:r>
                        <a:rPr lang="en" sz="1500">
                          <a:solidFill>
                            <a:srgbClr val="FFFFFF"/>
                          </a:solidFill>
                          <a:latin typeface="Proxima Nova"/>
                          <a:ea typeface="Proxima Nova"/>
                          <a:cs typeface="Proxima Nova"/>
                          <a:sym typeface="Proxima Nova"/>
                        </a:rPr>
                        <a:t>&gt;9 C &lt;15 C</a:t>
                      </a:r>
                      <a:endParaRPr sz="1500">
                        <a:solidFill>
                          <a:srgbClr val="FFFFFF"/>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r h="619050">
                <a:tc>
                  <a:txBody>
                    <a:bodyPr/>
                    <a:lstStyle/>
                    <a:p>
                      <a:pPr indent="0" lvl="0" marL="0" rtl="0" algn="l">
                        <a:spcBef>
                          <a:spcPts val="0"/>
                        </a:spcBef>
                        <a:spcAft>
                          <a:spcPts val="0"/>
                        </a:spcAft>
                        <a:buNone/>
                      </a:pPr>
                      <a:r>
                        <a:rPr lang="en" sz="1500">
                          <a:solidFill>
                            <a:schemeClr val="lt2"/>
                          </a:solidFill>
                          <a:latin typeface="Proxima Nova"/>
                          <a:ea typeface="Proxima Nova"/>
                          <a:cs typeface="Proxima Nova"/>
                          <a:sym typeface="Proxima Nova"/>
                        </a:rPr>
                        <a:t>Longfin smelt adult</a:t>
                      </a:r>
                      <a:endParaRPr sz="1500">
                        <a:solidFill>
                          <a:schemeClr val="lt2"/>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solidFill>
                            <a:srgbClr val="FFFFFF"/>
                          </a:solidFill>
                          <a:latin typeface="Proxima Nova"/>
                          <a:ea typeface="Proxima Nova"/>
                          <a:cs typeface="Proxima Nova"/>
                          <a:sym typeface="Proxima Nova"/>
                        </a:rPr>
                        <a:t>&gt;15 psu  &lt;30 psu</a:t>
                      </a:r>
                      <a:endParaRPr sz="1500">
                        <a:solidFill>
                          <a:srgbClr val="FFFFFF"/>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lnSpc>
                          <a:spcPct val="115000"/>
                        </a:lnSpc>
                        <a:spcBef>
                          <a:spcPts val="0"/>
                        </a:spcBef>
                        <a:spcAft>
                          <a:spcPts val="0"/>
                        </a:spcAft>
                        <a:buNone/>
                      </a:pPr>
                      <a:r>
                        <a:rPr lang="en" sz="1500">
                          <a:solidFill>
                            <a:srgbClr val="FFFFFF"/>
                          </a:solidFill>
                          <a:latin typeface="Proxima Nova"/>
                          <a:ea typeface="Proxima Nova"/>
                          <a:cs typeface="Proxima Nova"/>
                          <a:sym typeface="Proxima Nova"/>
                        </a:rPr>
                        <a:t>&gt;9 C &lt;18 C</a:t>
                      </a:r>
                      <a:endParaRPr sz="1500">
                        <a:solidFill>
                          <a:srgbClr val="FFFFFF"/>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
        <p:nvSpPr>
          <p:cNvPr id="160" name="Google Shape;160;p33"/>
          <p:cNvSpPr txBox="1"/>
          <p:nvPr>
            <p:ph type="ctrTitle"/>
          </p:nvPr>
        </p:nvSpPr>
        <p:spPr>
          <a:xfrm>
            <a:off x="220175" y="128325"/>
            <a:ext cx="8526900" cy="628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680"/>
              <a:buNone/>
            </a:pPr>
            <a:r>
              <a:rPr b="1" lang="en" sz="4000">
                <a:solidFill>
                  <a:srgbClr val="7ED957"/>
                </a:solidFill>
                <a:latin typeface="Proxima Nova"/>
                <a:ea typeface="Proxima Nova"/>
                <a:cs typeface="Proxima Nova"/>
                <a:sym typeface="Proxima Nova"/>
              </a:rPr>
              <a:t>Species Suitability Thresholds</a:t>
            </a:r>
            <a:endParaRPr b="1" sz="4000">
              <a:solidFill>
                <a:srgbClr val="7ED957"/>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164" name="Shape 164"/>
        <p:cNvGrpSpPr/>
        <p:nvPr/>
      </p:nvGrpSpPr>
      <p:grpSpPr>
        <a:xfrm>
          <a:off x="0" y="0"/>
          <a:ext cx="0" cy="0"/>
          <a:chOff x="0" y="0"/>
          <a:chExt cx="0" cy="0"/>
        </a:xfrm>
      </p:grpSpPr>
      <p:graphicFrame>
        <p:nvGraphicFramePr>
          <p:cNvPr id="165" name="Google Shape;165;p34"/>
          <p:cNvGraphicFramePr/>
          <p:nvPr/>
        </p:nvGraphicFramePr>
        <p:xfrm>
          <a:off x="320040" y="1188720"/>
          <a:ext cx="3000000" cy="3000000"/>
        </p:xfrm>
        <a:graphic>
          <a:graphicData uri="http://schemas.openxmlformats.org/drawingml/2006/table">
            <a:tbl>
              <a:tblPr>
                <a:noFill/>
                <a:tableStyleId>{85CED069-D96A-4F69-AB26-FEDBC44AE582}</a:tableStyleId>
              </a:tblPr>
              <a:tblGrid>
                <a:gridCol w="2421675"/>
                <a:gridCol w="6036525"/>
              </a:tblGrid>
              <a:tr h="480050">
                <a:tc>
                  <a:txBody>
                    <a:bodyPr/>
                    <a:lstStyle/>
                    <a:p>
                      <a:pPr indent="0" lvl="0" marL="0" rtl="0" algn="l">
                        <a:spcBef>
                          <a:spcPts val="0"/>
                        </a:spcBef>
                        <a:spcAft>
                          <a:spcPts val="0"/>
                        </a:spcAft>
                        <a:buNone/>
                      </a:pPr>
                      <a:r>
                        <a:rPr b="1" lang="en" sz="2000">
                          <a:solidFill>
                            <a:schemeClr val="lt1"/>
                          </a:solidFill>
                          <a:latin typeface="Proxima Nova"/>
                          <a:ea typeface="Proxima Nova"/>
                          <a:cs typeface="Proxima Nova"/>
                          <a:sym typeface="Proxima Nova"/>
                        </a:rPr>
                        <a:t>Method</a:t>
                      </a:r>
                      <a:endParaRPr b="1" sz="600"/>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2000">
                          <a:solidFill>
                            <a:schemeClr val="lt1"/>
                          </a:solidFill>
                          <a:latin typeface="Proxima Nova"/>
                          <a:ea typeface="Proxima Nova"/>
                          <a:cs typeface="Proxima Nova"/>
                          <a:sym typeface="Proxima Nova"/>
                        </a:rPr>
                        <a:t>Description</a:t>
                      </a:r>
                      <a:endParaRPr b="1" sz="2000">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r>
              <a:tr h="581025">
                <a:tc>
                  <a:txBody>
                    <a:bodyPr/>
                    <a:lstStyle/>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Date Filter</a:t>
                      </a:r>
                      <a:endParaRPr sz="15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solidFill>
                            <a:srgbClr val="FFFFFF"/>
                          </a:solidFill>
                          <a:latin typeface="Proxima Nova"/>
                          <a:ea typeface="Proxima Nova"/>
                          <a:cs typeface="Proxima Nova"/>
                          <a:sym typeface="Proxima Nova"/>
                        </a:rPr>
                        <a:t>Spring pulse flows, and spawning - February 1 through June 1</a:t>
                      </a:r>
                      <a:endParaRPr>
                        <a:solidFill>
                          <a:srgbClr val="FFFFFF"/>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T cap="flat" cmpd="sng" w="38100">
                      <a:solidFill>
                        <a:srgbClr val="9E9E9E"/>
                      </a:solidFill>
                      <a:prstDash val="solid"/>
                      <a:round/>
                      <a:headEnd len="sm" w="sm" type="none"/>
                      <a:tailEnd len="sm" w="sm" type="none"/>
                    </a:lnT>
                  </a:tcPr>
                </a:tc>
              </a:tr>
              <a:tr h="631550">
                <a:tc>
                  <a:txBody>
                    <a:bodyPr/>
                    <a:lstStyle/>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Species Threshold Data</a:t>
                      </a:r>
                      <a:endParaRPr sz="15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solidFill>
                            <a:srgbClr val="FFFFFF"/>
                          </a:solidFill>
                          <a:latin typeface="Proxima Nova"/>
                          <a:ea typeface="Proxima Nova"/>
                          <a:cs typeface="Proxima Nova"/>
                          <a:sym typeface="Proxima Nova"/>
                        </a:rPr>
                        <a:t>If individual day per site falls within the salinity AND temperature bracket = 1; if one or both don’t meet the criteria = 0</a:t>
                      </a:r>
                      <a:endParaRPr/>
                    </a:p>
                  </a:txBody>
                  <a:tcPr marT="91425" marB="91425" marR="91425" marL="91425">
                    <a:lnL cap="flat" cmpd="sng" w="9525">
                      <a:solidFill>
                        <a:srgbClr val="9E9E9E"/>
                      </a:solidFill>
                      <a:prstDash val="solid"/>
                      <a:round/>
                      <a:headEnd len="sm" w="sm" type="none"/>
                      <a:tailEnd len="sm" w="sm" type="none"/>
                    </a:lnL>
                  </a:tcPr>
                </a:tc>
              </a:tr>
              <a:tr h="745300">
                <a:tc>
                  <a:txBody>
                    <a:bodyPr/>
                    <a:lstStyle/>
                    <a:p>
                      <a:pPr indent="0" lvl="0" marL="0" rtl="0" algn="l">
                        <a:spcBef>
                          <a:spcPts val="0"/>
                        </a:spcBef>
                        <a:spcAft>
                          <a:spcPts val="0"/>
                        </a:spcAft>
                        <a:buNone/>
                      </a:pPr>
                      <a:r>
                        <a:rPr lang="en" sz="1500">
                          <a:solidFill>
                            <a:schemeClr val="lt2"/>
                          </a:solidFill>
                          <a:latin typeface="Proxima Nova"/>
                          <a:ea typeface="Proxima Nova"/>
                          <a:cs typeface="Proxima Nova"/>
                          <a:sym typeface="Proxima Nova"/>
                        </a:rPr>
                        <a:t>Proportion of Suitable Days</a:t>
                      </a:r>
                      <a:endParaRPr sz="15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solidFill>
                            <a:srgbClr val="FFFFFF"/>
                          </a:solidFill>
                          <a:latin typeface="Proxima Nova"/>
                          <a:ea typeface="Proxima Nova"/>
                          <a:cs typeface="Proxima Nova"/>
                          <a:sym typeface="Proxima Nova"/>
                        </a:rPr>
                        <a:t>Total number of suitable days at all sites/total number of days and sites in the run</a:t>
                      </a:r>
                      <a:endParaRPr>
                        <a:solidFill>
                          <a:srgbClr val="FFFFFF"/>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r h="762525">
                <a:tc>
                  <a:txBody>
                    <a:bodyPr/>
                    <a:lstStyle/>
                    <a:p>
                      <a:pPr indent="0" lvl="0" marL="0" rtl="0" algn="l">
                        <a:spcBef>
                          <a:spcPts val="0"/>
                        </a:spcBef>
                        <a:spcAft>
                          <a:spcPts val="0"/>
                        </a:spcAft>
                        <a:buNone/>
                      </a:pPr>
                      <a:r>
                        <a:rPr lang="en" sz="1500">
                          <a:solidFill>
                            <a:schemeClr val="lt2"/>
                          </a:solidFill>
                          <a:latin typeface="Proxima Nova"/>
                          <a:ea typeface="Proxima Nova"/>
                          <a:cs typeface="Proxima Nova"/>
                          <a:sym typeface="Proxima Nova"/>
                        </a:rPr>
                        <a:t>Average Streak Length</a:t>
                      </a:r>
                      <a:endParaRPr sz="1500">
                        <a:solidFill>
                          <a:schemeClr val="lt2"/>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solidFill>
                            <a:srgbClr val="FFFFFF"/>
                          </a:solidFill>
                          <a:latin typeface="Proxima Nova"/>
                          <a:ea typeface="Proxima Nova"/>
                          <a:cs typeface="Proxima Nova"/>
                          <a:sym typeface="Proxima Nova"/>
                        </a:rPr>
                        <a:t>The mean of number of consecutive days per site divided by the total number of streaks</a:t>
                      </a:r>
                      <a:endParaRPr>
                        <a:solidFill>
                          <a:srgbClr val="FFFFFF"/>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
        <p:nvSpPr>
          <p:cNvPr id="166" name="Google Shape;166;p34"/>
          <p:cNvSpPr txBox="1"/>
          <p:nvPr>
            <p:ph type="ctrTitle"/>
          </p:nvPr>
        </p:nvSpPr>
        <p:spPr>
          <a:xfrm>
            <a:off x="274325" y="312400"/>
            <a:ext cx="8093100" cy="628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680"/>
              <a:buNone/>
            </a:pPr>
            <a:r>
              <a:rPr lang="en" sz="4000">
                <a:solidFill>
                  <a:srgbClr val="7ED957"/>
                </a:solidFill>
                <a:latin typeface="Hammersmith One"/>
                <a:ea typeface="Hammersmith One"/>
                <a:cs typeface="Hammersmith One"/>
                <a:sym typeface="Hammersmith One"/>
              </a:rPr>
              <a:t>Species of Interest </a:t>
            </a:r>
            <a:r>
              <a:rPr lang="en" sz="4000">
                <a:solidFill>
                  <a:srgbClr val="7ED957"/>
                </a:solidFill>
                <a:latin typeface="Hammersmith One"/>
                <a:ea typeface="Hammersmith One"/>
                <a:cs typeface="Hammersmith One"/>
                <a:sym typeface="Hammersmith One"/>
              </a:rPr>
              <a:t>APPROACH</a:t>
            </a:r>
            <a:endParaRPr sz="4000">
              <a:solidFill>
                <a:srgbClr val="7ED957"/>
              </a:solidFill>
              <a:latin typeface="Hammersmith One"/>
              <a:ea typeface="Hammersmith One"/>
              <a:cs typeface="Hammersmith One"/>
              <a:sym typeface="Hammersmith On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170" name="Shape 170"/>
        <p:cNvGrpSpPr/>
        <p:nvPr/>
      </p:nvGrpSpPr>
      <p:grpSpPr>
        <a:xfrm>
          <a:off x="0" y="0"/>
          <a:ext cx="0" cy="0"/>
          <a:chOff x="0" y="0"/>
          <a:chExt cx="0" cy="0"/>
        </a:xfrm>
      </p:grpSpPr>
      <p:sp>
        <p:nvSpPr>
          <p:cNvPr id="171" name="Google Shape;171;p35"/>
          <p:cNvSpPr txBox="1"/>
          <p:nvPr>
            <p:ph type="ctrTitle"/>
          </p:nvPr>
        </p:nvSpPr>
        <p:spPr>
          <a:xfrm>
            <a:off x="245525" y="0"/>
            <a:ext cx="8520600" cy="8832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800"/>
              </a:spcAft>
              <a:buSzPts val="1100"/>
              <a:buNone/>
            </a:pPr>
            <a:r>
              <a:rPr b="1" lang="en" sz="4056">
                <a:solidFill>
                  <a:srgbClr val="7ED957"/>
                </a:solidFill>
                <a:latin typeface="Proxima Nova"/>
                <a:ea typeface="Proxima Nova"/>
                <a:cs typeface="Proxima Nova"/>
                <a:sym typeface="Proxima Nova"/>
              </a:rPr>
              <a:t>Overall Results Summary</a:t>
            </a:r>
            <a:endParaRPr b="1" sz="4056">
              <a:solidFill>
                <a:srgbClr val="7ED957"/>
              </a:solidFill>
              <a:latin typeface="Proxima Nova"/>
              <a:ea typeface="Proxima Nova"/>
              <a:cs typeface="Proxima Nova"/>
              <a:sym typeface="Proxima Nova"/>
            </a:endParaRPr>
          </a:p>
        </p:txBody>
      </p:sp>
      <p:sp>
        <p:nvSpPr>
          <p:cNvPr id="172" name="Google Shape;172;p35"/>
          <p:cNvSpPr txBox="1"/>
          <p:nvPr/>
        </p:nvSpPr>
        <p:spPr>
          <a:xfrm>
            <a:off x="425650" y="611850"/>
            <a:ext cx="7873200" cy="19599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lt1"/>
              </a:buClr>
              <a:buSzPts val="1600"/>
              <a:buFont typeface="Proxima Nova"/>
              <a:buChar char="●"/>
            </a:pPr>
            <a:r>
              <a:rPr lang="en" sz="1600">
                <a:solidFill>
                  <a:schemeClr val="lt1"/>
                </a:solidFill>
                <a:latin typeface="Proxima Nova"/>
                <a:ea typeface="Proxima Nova"/>
                <a:cs typeface="Proxima Nova"/>
                <a:sym typeface="Proxima Nova"/>
              </a:rPr>
              <a:t>Little variation between scenarios</a:t>
            </a:r>
            <a:endParaRPr sz="1600">
              <a:solidFill>
                <a:schemeClr val="lt1"/>
              </a:solidFill>
              <a:latin typeface="Proxima Nova"/>
              <a:ea typeface="Proxima Nova"/>
              <a:cs typeface="Proxima Nova"/>
              <a:sym typeface="Proxima Nova"/>
            </a:endParaRPr>
          </a:p>
          <a:p>
            <a:pPr indent="-330200" lvl="0" marL="457200" rtl="0" algn="l">
              <a:spcBef>
                <a:spcPts val="0"/>
              </a:spcBef>
              <a:spcAft>
                <a:spcPts val="0"/>
              </a:spcAft>
              <a:buClr>
                <a:schemeClr val="lt1"/>
              </a:buClr>
              <a:buSzPts val="1600"/>
              <a:buFont typeface="Proxima Nova"/>
              <a:buChar char="●"/>
            </a:pPr>
            <a:r>
              <a:rPr lang="en" sz="1600">
                <a:solidFill>
                  <a:schemeClr val="lt1"/>
                </a:solidFill>
                <a:latin typeface="Proxima Nova"/>
                <a:ea typeface="Proxima Nova"/>
                <a:cs typeface="Proxima Nova"/>
                <a:sym typeface="Proxima Nova"/>
              </a:rPr>
              <a:t>Calling on Reserves was the most variable scenario for Species of Interest modeling</a:t>
            </a:r>
            <a:endParaRPr sz="1600">
              <a:solidFill>
                <a:schemeClr val="lt1"/>
              </a:solidFill>
              <a:latin typeface="Proxima Nova"/>
              <a:ea typeface="Proxima Nova"/>
              <a:cs typeface="Proxima Nova"/>
              <a:sym typeface="Proxima Nova"/>
            </a:endParaRPr>
          </a:p>
          <a:p>
            <a:pPr indent="-330200" lvl="0" marL="457200" rtl="0" algn="l">
              <a:spcBef>
                <a:spcPts val="0"/>
              </a:spcBef>
              <a:spcAft>
                <a:spcPts val="0"/>
              </a:spcAft>
              <a:buClr>
                <a:schemeClr val="lt1"/>
              </a:buClr>
              <a:buSzPts val="1600"/>
              <a:buFont typeface="Proxima Nova"/>
              <a:buChar char="●"/>
            </a:pPr>
            <a:r>
              <a:rPr lang="en" sz="1600">
                <a:solidFill>
                  <a:schemeClr val="lt1"/>
                </a:solidFill>
                <a:latin typeface="Proxima Nova"/>
                <a:ea typeface="Proxima Nova"/>
                <a:cs typeface="Proxima Nova"/>
                <a:sym typeface="Proxima Nova"/>
              </a:rPr>
              <a:t>Most variation in </a:t>
            </a:r>
            <a:r>
              <a:rPr lang="en" sz="1600">
                <a:solidFill>
                  <a:schemeClr val="lt1"/>
                </a:solidFill>
                <a:latin typeface="Proxima Nova"/>
                <a:ea typeface="Proxima Nova"/>
                <a:cs typeface="Proxima Nova"/>
                <a:sym typeface="Proxima Nova"/>
              </a:rPr>
              <a:t>scenarios</a:t>
            </a:r>
            <a:r>
              <a:rPr lang="en" sz="1600">
                <a:solidFill>
                  <a:schemeClr val="lt1"/>
                </a:solidFill>
                <a:latin typeface="Proxima Nova"/>
                <a:ea typeface="Proxima Nova"/>
                <a:cs typeface="Proxima Nova"/>
                <a:sym typeface="Proxima Nova"/>
              </a:rPr>
              <a:t> in Suisun, San Pablo, and Confluence</a:t>
            </a:r>
            <a:endParaRPr sz="1600">
              <a:solidFill>
                <a:schemeClr val="lt1"/>
              </a:solidFill>
              <a:latin typeface="Proxima Nova"/>
              <a:ea typeface="Proxima Nova"/>
              <a:cs typeface="Proxima Nova"/>
              <a:sym typeface="Proxima Nova"/>
            </a:endParaRPr>
          </a:p>
          <a:p>
            <a:pPr indent="0" lvl="0" marL="914400" rtl="0" algn="l">
              <a:spcBef>
                <a:spcPts val="800"/>
              </a:spcBef>
              <a:spcAft>
                <a:spcPts val="0"/>
              </a:spcAft>
              <a:buNone/>
            </a:pPr>
            <a:r>
              <a:t/>
            </a:r>
            <a:endParaRPr sz="1900">
              <a:solidFill>
                <a:schemeClr val="lt1"/>
              </a:solidFill>
              <a:latin typeface="Proxima Nova"/>
              <a:ea typeface="Proxima Nova"/>
              <a:cs typeface="Proxima Nova"/>
              <a:sym typeface="Proxima Nova"/>
            </a:endParaRPr>
          </a:p>
          <a:p>
            <a:pPr indent="0" lvl="0" marL="457200" rtl="0" algn="l">
              <a:spcBef>
                <a:spcPts val="800"/>
              </a:spcBef>
              <a:spcAft>
                <a:spcPts val="800"/>
              </a:spcAft>
              <a:buNone/>
            </a:pPr>
            <a:r>
              <a:t/>
            </a:r>
            <a:endParaRPr sz="1900">
              <a:solidFill>
                <a:schemeClr val="lt1"/>
              </a:solidFill>
              <a:latin typeface="Proxima Nova"/>
              <a:ea typeface="Proxima Nova"/>
              <a:cs typeface="Proxima Nova"/>
              <a:sym typeface="Proxima Nova"/>
            </a:endParaRPr>
          </a:p>
        </p:txBody>
      </p:sp>
      <p:graphicFrame>
        <p:nvGraphicFramePr>
          <p:cNvPr id="173" name="Google Shape;173;p35"/>
          <p:cNvGraphicFramePr/>
          <p:nvPr/>
        </p:nvGraphicFramePr>
        <p:xfrm>
          <a:off x="163600" y="1748175"/>
          <a:ext cx="3000000" cy="3000000"/>
        </p:xfrm>
        <a:graphic>
          <a:graphicData uri="http://schemas.openxmlformats.org/drawingml/2006/table">
            <a:tbl>
              <a:tblPr>
                <a:noFill/>
                <a:tableStyleId>{85CED069-D96A-4F69-AB26-FEDBC44AE582}</a:tableStyleId>
              </a:tblPr>
              <a:tblGrid>
                <a:gridCol w="1732425"/>
                <a:gridCol w="1720575"/>
                <a:gridCol w="1641450"/>
                <a:gridCol w="2144225"/>
                <a:gridCol w="1423450"/>
              </a:tblGrid>
              <a:tr h="617150">
                <a:tc>
                  <a:txBody>
                    <a:bodyPr/>
                    <a:lstStyle/>
                    <a:p>
                      <a:pPr indent="0" lvl="0" marL="0" rtl="0" algn="l">
                        <a:spcBef>
                          <a:spcPts val="0"/>
                        </a:spcBef>
                        <a:spcAft>
                          <a:spcPts val="0"/>
                        </a:spcAft>
                        <a:buNone/>
                      </a:pPr>
                      <a:r>
                        <a:t/>
                      </a:r>
                      <a:endParaRPr b="1">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Eco Machine</a:t>
                      </a:r>
                      <a:endParaRPr b="1">
                        <a:solidFill>
                          <a:schemeClr val="lt1"/>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New Green Watershed</a:t>
                      </a:r>
                      <a:endParaRPr b="1">
                        <a:solidFill>
                          <a:schemeClr val="lt1"/>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Calling on Reserves</a:t>
                      </a:r>
                      <a:endParaRPr b="1">
                        <a:solidFill>
                          <a:schemeClr val="lt1"/>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Other</a:t>
                      </a:r>
                      <a:endParaRPr b="1">
                        <a:solidFill>
                          <a:schemeClr val="lt1"/>
                        </a:solidFill>
                        <a:latin typeface="Proxima Nova"/>
                        <a:ea typeface="Proxima Nova"/>
                        <a:cs typeface="Proxima Nova"/>
                        <a:sym typeface="Proxima Nova"/>
                      </a:endParaRPr>
                    </a:p>
                  </a:txBody>
                  <a:tcPr marT="91425" marB="91425" marR="91425" marL="91425"/>
                </a:tc>
              </a:tr>
              <a:tr h="440950">
                <a:tc>
                  <a:txBody>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2019 Proportions</a:t>
                      </a:r>
                      <a:endParaRPr b="1">
                        <a:solidFill>
                          <a:schemeClr val="lt1"/>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b="1" lang="en">
                          <a:solidFill>
                            <a:schemeClr val="accent1"/>
                          </a:solidFill>
                          <a:latin typeface="Proxima Nova"/>
                          <a:ea typeface="Proxima Nova"/>
                          <a:cs typeface="Proxima Nova"/>
                          <a:sym typeface="Proxima Nova"/>
                        </a:rPr>
                        <a:t>    Longfin Juv</a:t>
                      </a:r>
                      <a:endParaRPr b="1">
                        <a:solidFill>
                          <a:schemeClr val="accent1"/>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rgbClr val="4A86E8"/>
                          </a:solidFill>
                          <a:latin typeface="Proxima Nova"/>
                          <a:ea typeface="Proxima Nova"/>
                          <a:cs typeface="Proxima Nova"/>
                          <a:sym typeface="Proxima Nova"/>
                        </a:rPr>
                        <a:t>  Longfin Juv</a:t>
                      </a:r>
                      <a:endParaRPr b="1">
                        <a:solidFill>
                          <a:srgbClr val="4A86E8"/>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  </a:t>
                      </a:r>
                      <a:r>
                        <a:rPr b="1" lang="en">
                          <a:solidFill>
                            <a:srgbClr val="4A86E8"/>
                          </a:solidFill>
                          <a:latin typeface="Proxima Nova"/>
                          <a:ea typeface="Proxima Nova"/>
                          <a:cs typeface="Proxima Nova"/>
                          <a:sym typeface="Proxima Nova"/>
                        </a:rPr>
                        <a:t>Chinook</a:t>
                      </a:r>
                      <a:endParaRPr b="1">
                        <a:solidFill>
                          <a:srgbClr val="4A86E8"/>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t/>
                      </a:r>
                      <a:endParaRPr b="1">
                        <a:latin typeface="Proxima Nova"/>
                        <a:ea typeface="Proxima Nova"/>
                        <a:cs typeface="Proxima Nova"/>
                        <a:sym typeface="Proxima Nova"/>
                      </a:endParaRPr>
                    </a:p>
                  </a:txBody>
                  <a:tcPr marT="91425" marB="91425" marR="91425" marL="91425"/>
                </a:tc>
              </a:tr>
              <a:tr h="459975">
                <a:tc>
                  <a:txBody>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2020 Proportions</a:t>
                      </a:r>
                      <a:endParaRPr b="1">
                        <a:solidFill>
                          <a:schemeClr val="lt1"/>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b="1" lang="en">
                          <a:solidFill>
                            <a:schemeClr val="accent1"/>
                          </a:solidFill>
                          <a:latin typeface="Proxima Nova"/>
                          <a:ea typeface="Proxima Nova"/>
                          <a:cs typeface="Proxima Nova"/>
                          <a:sym typeface="Proxima Nova"/>
                        </a:rPr>
                        <a:t>   </a:t>
                      </a:r>
                      <a:r>
                        <a:rPr b="1" lang="en">
                          <a:solidFill>
                            <a:schemeClr val="accent1"/>
                          </a:solidFill>
                          <a:latin typeface="Proxima Nova"/>
                          <a:ea typeface="Proxima Nova"/>
                          <a:cs typeface="Proxima Nova"/>
                          <a:sym typeface="Proxima Nova"/>
                        </a:rPr>
                        <a:t>Clams</a:t>
                      </a:r>
                      <a:endParaRPr b="1">
                        <a:solidFill>
                          <a:schemeClr val="accent1"/>
                        </a:solidFill>
                        <a:latin typeface="Proxima Nova"/>
                        <a:ea typeface="Proxima Nova"/>
                        <a:cs typeface="Proxima Nova"/>
                        <a:sym typeface="Proxima Nova"/>
                      </a:endParaRPr>
                    </a:p>
                    <a:p>
                      <a:pPr indent="0" lvl="0" marL="0" rtl="0" algn="l">
                        <a:spcBef>
                          <a:spcPts val="0"/>
                        </a:spcBef>
                        <a:spcAft>
                          <a:spcPts val="0"/>
                        </a:spcAft>
                        <a:buNone/>
                      </a:pPr>
                      <a:r>
                        <a:rPr b="1" lang="en">
                          <a:solidFill>
                            <a:srgbClr val="FF0000"/>
                          </a:solidFill>
                          <a:latin typeface="Proxima Nova"/>
                          <a:ea typeface="Proxima Nova"/>
                          <a:cs typeface="Proxima Nova"/>
                          <a:sym typeface="Proxima Nova"/>
                        </a:rPr>
                        <a:t>   LMB, Egeria</a:t>
                      </a:r>
                      <a:endParaRPr b="1">
                        <a:solidFill>
                          <a:srgbClr val="FF0000"/>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  </a:t>
                      </a:r>
                      <a:r>
                        <a:rPr b="1" lang="en">
                          <a:solidFill>
                            <a:schemeClr val="accent1"/>
                          </a:solidFill>
                          <a:latin typeface="Proxima Nova"/>
                          <a:ea typeface="Proxima Nova"/>
                          <a:cs typeface="Proxima Nova"/>
                          <a:sym typeface="Proxima Nova"/>
                        </a:rPr>
                        <a:t> Clams</a:t>
                      </a:r>
                      <a:endParaRPr b="1">
                        <a:solidFill>
                          <a:schemeClr val="accent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  </a:t>
                      </a:r>
                      <a:r>
                        <a:rPr b="1" lang="en">
                          <a:solidFill>
                            <a:srgbClr val="FF0000"/>
                          </a:solidFill>
                          <a:latin typeface="Proxima Nova"/>
                          <a:ea typeface="Proxima Nova"/>
                          <a:cs typeface="Proxima Nova"/>
                          <a:sym typeface="Proxima Nova"/>
                        </a:rPr>
                        <a:t> LMB, Egeria</a:t>
                      </a:r>
                      <a:endParaRPr b="1">
                        <a:solidFill>
                          <a:srgbClr val="FF0000"/>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  </a:t>
                      </a:r>
                      <a:r>
                        <a:rPr b="1" lang="en">
                          <a:solidFill>
                            <a:srgbClr val="4A86E8"/>
                          </a:solidFill>
                          <a:latin typeface="Proxima Nova"/>
                          <a:ea typeface="Proxima Nova"/>
                          <a:cs typeface="Proxima Nova"/>
                          <a:sym typeface="Proxima Nova"/>
                        </a:rPr>
                        <a:t>Clams</a:t>
                      </a:r>
                      <a:endParaRPr b="1">
                        <a:solidFill>
                          <a:srgbClr val="4A86E8"/>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  </a:t>
                      </a:r>
                      <a:r>
                        <a:rPr b="1" lang="en">
                          <a:solidFill>
                            <a:srgbClr val="FF0000"/>
                          </a:solidFill>
                          <a:latin typeface="Proxima Nova"/>
                          <a:ea typeface="Proxima Nova"/>
                          <a:cs typeface="Proxima Nova"/>
                          <a:sym typeface="Proxima Nova"/>
                        </a:rPr>
                        <a:t>LMB, Egeria</a:t>
                      </a:r>
                      <a:endParaRPr b="1">
                        <a:solidFill>
                          <a:srgbClr val="FF0000"/>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t/>
                      </a:r>
                      <a:endParaRPr b="1">
                        <a:latin typeface="Proxima Nova"/>
                        <a:ea typeface="Proxima Nova"/>
                        <a:cs typeface="Proxima Nova"/>
                        <a:sym typeface="Proxima Nova"/>
                      </a:endParaRPr>
                    </a:p>
                  </a:txBody>
                  <a:tcPr marT="91425" marB="91425" marR="91425" marL="91425"/>
                </a:tc>
              </a:tr>
              <a:tr h="298975">
                <a:tc>
                  <a:txBody>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2019 Streaks</a:t>
                      </a:r>
                      <a:endParaRPr b="1">
                        <a:solidFill>
                          <a:schemeClr val="lt1"/>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b="1" lang="en">
                          <a:latin typeface="Proxima Nova"/>
                          <a:ea typeface="Proxima Nova"/>
                          <a:cs typeface="Proxima Nova"/>
                          <a:sym typeface="Proxima Nova"/>
                        </a:rPr>
                        <a:t> </a:t>
                      </a:r>
                      <a:r>
                        <a:rPr b="1" lang="en">
                          <a:solidFill>
                            <a:srgbClr val="FF0000"/>
                          </a:solidFill>
                          <a:latin typeface="Proxima Nova"/>
                          <a:ea typeface="Proxima Nova"/>
                          <a:cs typeface="Proxima Nova"/>
                          <a:sym typeface="Proxima Nova"/>
                        </a:rPr>
                        <a:t> </a:t>
                      </a:r>
                      <a:r>
                        <a:rPr b="1" lang="en">
                          <a:solidFill>
                            <a:srgbClr val="FF0000"/>
                          </a:solidFill>
                          <a:latin typeface="Proxima Nova"/>
                          <a:ea typeface="Proxima Nova"/>
                          <a:cs typeface="Proxima Nova"/>
                          <a:sym typeface="Proxima Nova"/>
                        </a:rPr>
                        <a:t>LMB, Egeria</a:t>
                      </a:r>
                      <a:endParaRPr b="1">
                        <a:solidFill>
                          <a:srgbClr val="FF0000"/>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b="1" lang="en">
                          <a:latin typeface="Proxima Nova"/>
                          <a:ea typeface="Proxima Nova"/>
                          <a:cs typeface="Proxima Nova"/>
                          <a:sym typeface="Proxima Nova"/>
                        </a:rPr>
                        <a:t> </a:t>
                      </a:r>
                      <a:r>
                        <a:rPr b="1" lang="en">
                          <a:solidFill>
                            <a:srgbClr val="FF0000"/>
                          </a:solidFill>
                          <a:latin typeface="Proxima Nova"/>
                          <a:ea typeface="Proxima Nova"/>
                          <a:cs typeface="Proxima Nova"/>
                          <a:sym typeface="Proxima Nova"/>
                        </a:rPr>
                        <a:t> Egeria, Chinook, Ad.  SB</a:t>
                      </a:r>
                      <a:endParaRPr b="1">
                        <a:solidFill>
                          <a:srgbClr val="FF0000"/>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  </a:t>
                      </a:r>
                      <a:r>
                        <a:rPr b="1" lang="en">
                          <a:solidFill>
                            <a:schemeClr val="accent1"/>
                          </a:solidFill>
                          <a:latin typeface="Proxima Nova"/>
                          <a:ea typeface="Proxima Nova"/>
                          <a:cs typeface="Proxima Nova"/>
                          <a:sym typeface="Proxima Nova"/>
                        </a:rPr>
                        <a:t>Ad. Longfin, Chinook</a:t>
                      </a:r>
                      <a:endParaRPr b="1">
                        <a:solidFill>
                          <a:schemeClr val="accent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  </a:t>
                      </a:r>
                      <a:r>
                        <a:rPr b="1" lang="en">
                          <a:solidFill>
                            <a:srgbClr val="FF0000"/>
                          </a:solidFill>
                          <a:latin typeface="Proxima Nova"/>
                          <a:ea typeface="Proxima Nova"/>
                          <a:cs typeface="Proxima Nova"/>
                          <a:sym typeface="Proxima Nova"/>
                        </a:rPr>
                        <a:t>SB, Egeria, LMB</a:t>
                      </a:r>
                      <a:endParaRPr b="1">
                        <a:solidFill>
                          <a:srgbClr val="FF0000"/>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b="1" lang="en">
                          <a:solidFill>
                            <a:srgbClr val="4A86E8"/>
                          </a:solidFill>
                          <a:latin typeface="Proxima Nova"/>
                          <a:ea typeface="Proxima Nova"/>
                          <a:cs typeface="Proxima Nova"/>
                          <a:sym typeface="Proxima Nova"/>
                        </a:rPr>
                        <a:t>  Juv. SB (BF)</a:t>
                      </a:r>
                      <a:endParaRPr b="1">
                        <a:solidFill>
                          <a:srgbClr val="4A86E8"/>
                        </a:solidFill>
                        <a:latin typeface="Proxima Nova"/>
                        <a:ea typeface="Proxima Nova"/>
                        <a:cs typeface="Proxima Nova"/>
                        <a:sym typeface="Proxima Nova"/>
                      </a:endParaRPr>
                    </a:p>
                    <a:p>
                      <a:pPr indent="0" lvl="0" marL="0" rtl="0" algn="l">
                        <a:spcBef>
                          <a:spcPts val="0"/>
                        </a:spcBef>
                        <a:spcAft>
                          <a:spcPts val="0"/>
                        </a:spcAft>
                        <a:buNone/>
                      </a:pPr>
                      <a:r>
                        <a:rPr b="1" lang="en">
                          <a:solidFill>
                            <a:schemeClr val="lt1"/>
                          </a:solidFill>
                          <a:latin typeface="Proxima Nova"/>
                          <a:ea typeface="Proxima Nova"/>
                          <a:cs typeface="Proxima Nova"/>
                          <a:sym typeface="Proxima Nova"/>
                        </a:rPr>
                        <a:t>   </a:t>
                      </a:r>
                      <a:r>
                        <a:rPr b="1" lang="en">
                          <a:solidFill>
                            <a:srgbClr val="FF0000"/>
                          </a:solidFill>
                          <a:latin typeface="Proxima Nova"/>
                          <a:ea typeface="Proxima Nova"/>
                          <a:cs typeface="Proxima Nova"/>
                          <a:sym typeface="Proxima Nova"/>
                        </a:rPr>
                        <a:t>Ad. SB (BF)</a:t>
                      </a:r>
                      <a:endParaRPr b="1">
                        <a:solidFill>
                          <a:srgbClr val="FF0000"/>
                        </a:solidFill>
                        <a:latin typeface="Proxima Nova"/>
                        <a:ea typeface="Proxima Nova"/>
                        <a:cs typeface="Proxima Nova"/>
                        <a:sym typeface="Proxima Nova"/>
                      </a:endParaRPr>
                    </a:p>
                  </a:txBody>
                  <a:tcPr marT="91425" marB="91425" marR="91425" marL="91425"/>
                </a:tc>
              </a:tr>
              <a:tr h="298975">
                <a:tc>
                  <a:txBody>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2020 Streaks</a:t>
                      </a:r>
                      <a:endParaRPr b="1">
                        <a:solidFill>
                          <a:schemeClr val="lt1"/>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rgbClr val="FF0000"/>
                          </a:solidFill>
                          <a:latin typeface="Proxima Nova"/>
                          <a:ea typeface="Proxima Nova"/>
                          <a:cs typeface="Proxima Nova"/>
                          <a:sym typeface="Proxima Nova"/>
                        </a:rPr>
                        <a:t>  LMB, Egeria</a:t>
                      </a:r>
                      <a:endParaRPr b="1">
                        <a:solidFill>
                          <a:srgbClr val="FF0000"/>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b="1" lang="en">
                          <a:latin typeface="Proxima Nova"/>
                          <a:ea typeface="Proxima Nova"/>
                          <a:cs typeface="Proxima Nova"/>
                          <a:sym typeface="Proxima Nova"/>
                        </a:rPr>
                        <a:t> </a:t>
                      </a:r>
                      <a:r>
                        <a:rPr b="1" lang="en">
                          <a:solidFill>
                            <a:srgbClr val="FF0000"/>
                          </a:solidFill>
                          <a:latin typeface="Proxima Nova"/>
                          <a:ea typeface="Proxima Nova"/>
                          <a:cs typeface="Proxima Nova"/>
                          <a:sym typeface="Proxima Nova"/>
                        </a:rPr>
                        <a:t>  </a:t>
                      </a:r>
                      <a:r>
                        <a:rPr b="1" lang="en">
                          <a:solidFill>
                            <a:srgbClr val="FF0000"/>
                          </a:solidFill>
                          <a:latin typeface="Proxima Nova"/>
                          <a:ea typeface="Proxima Nova"/>
                          <a:cs typeface="Proxima Nova"/>
                          <a:sym typeface="Proxima Nova"/>
                        </a:rPr>
                        <a:t>LMB, Egeria</a:t>
                      </a:r>
                      <a:endParaRPr b="1">
                        <a:solidFill>
                          <a:srgbClr val="FF0000"/>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b="1" lang="en">
                          <a:latin typeface="Proxima Nova"/>
                          <a:ea typeface="Proxima Nova"/>
                          <a:cs typeface="Proxima Nova"/>
                          <a:sym typeface="Proxima Nova"/>
                        </a:rPr>
                        <a:t> </a:t>
                      </a:r>
                      <a:r>
                        <a:rPr b="1" lang="en">
                          <a:solidFill>
                            <a:srgbClr val="FF0000"/>
                          </a:solidFill>
                          <a:latin typeface="Proxima Nova"/>
                          <a:ea typeface="Proxima Nova"/>
                          <a:cs typeface="Proxima Nova"/>
                          <a:sym typeface="Proxima Nova"/>
                        </a:rPr>
                        <a:t> </a:t>
                      </a:r>
                      <a:r>
                        <a:rPr b="1" lang="en">
                          <a:solidFill>
                            <a:srgbClr val="4A86E8"/>
                          </a:solidFill>
                          <a:latin typeface="Proxima Nova"/>
                          <a:ea typeface="Proxima Nova"/>
                          <a:cs typeface="Proxima Nova"/>
                          <a:sym typeface="Proxima Nova"/>
                        </a:rPr>
                        <a:t>Ad. Longfin, Ad. SB,</a:t>
                      </a:r>
                      <a:r>
                        <a:rPr b="1" lang="en">
                          <a:solidFill>
                            <a:srgbClr val="FF0000"/>
                          </a:solidFill>
                          <a:latin typeface="Proxima Nova"/>
                          <a:ea typeface="Proxima Nova"/>
                          <a:cs typeface="Proxima Nova"/>
                          <a:sym typeface="Proxima Nova"/>
                        </a:rPr>
                        <a:t> </a:t>
                      </a:r>
                      <a:r>
                        <a:rPr b="1" lang="en">
                          <a:solidFill>
                            <a:srgbClr val="4A86E8"/>
                          </a:solidFill>
                          <a:latin typeface="Proxima Nova"/>
                          <a:ea typeface="Proxima Nova"/>
                          <a:cs typeface="Proxima Nova"/>
                          <a:sym typeface="Proxima Nova"/>
                        </a:rPr>
                        <a:t>Egeria</a:t>
                      </a:r>
                      <a:endParaRPr b="1">
                        <a:solidFill>
                          <a:srgbClr val="4A86E8"/>
                        </a:solidFill>
                        <a:latin typeface="Proxima Nova"/>
                        <a:ea typeface="Proxima Nova"/>
                        <a:cs typeface="Proxima Nova"/>
                        <a:sym typeface="Proxima Nova"/>
                      </a:endParaRPr>
                    </a:p>
                    <a:p>
                      <a:pPr indent="0" lvl="0" marL="0" rtl="0" algn="l">
                        <a:spcBef>
                          <a:spcPts val="0"/>
                        </a:spcBef>
                        <a:spcAft>
                          <a:spcPts val="0"/>
                        </a:spcAft>
                        <a:buNone/>
                      </a:pPr>
                      <a:r>
                        <a:rPr b="1" lang="en">
                          <a:solidFill>
                            <a:srgbClr val="FF0000"/>
                          </a:solidFill>
                          <a:latin typeface="Proxima Nova"/>
                          <a:ea typeface="Proxima Nova"/>
                          <a:cs typeface="Proxima Nova"/>
                          <a:sym typeface="Proxima Nova"/>
                        </a:rPr>
                        <a:t> LMB, Clam, CS, juvSB</a:t>
                      </a:r>
                      <a:endParaRPr b="1">
                        <a:solidFill>
                          <a:srgbClr val="FF0000"/>
                        </a:solidFill>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b="1" lang="en">
                          <a:solidFill>
                            <a:srgbClr val="4A86E8"/>
                          </a:solidFill>
                          <a:latin typeface="Proxima Nova"/>
                          <a:ea typeface="Proxima Nova"/>
                          <a:cs typeface="Proxima Nova"/>
                          <a:sym typeface="Proxima Nova"/>
                        </a:rPr>
                        <a:t>  </a:t>
                      </a:r>
                      <a:r>
                        <a:rPr b="1" lang="en">
                          <a:solidFill>
                            <a:srgbClr val="4A86E8"/>
                          </a:solidFill>
                          <a:latin typeface="Proxima Nova"/>
                          <a:ea typeface="Proxima Nova"/>
                          <a:cs typeface="Proxima Nova"/>
                          <a:sym typeface="Proxima Nova"/>
                        </a:rPr>
                        <a:t>Juv. SB (BF)</a:t>
                      </a:r>
                      <a:endParaRPr b="1">
                        <a:solidFill>
                          <a:srgbClr val="4A86E8"/>
                        </a:solidFill>
                        <a:latin typeface="Proxima Nova"/>
                        <a:ea typeface="Proxima Nova"/>
                        <a:cs typeface="Proxima Nova"/>
                        <a:sym typeface="Proxima Nova"/>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177" name="Shape 177"/>
        <p:cNvGrpSpPr/>
        <p:nvPr/>
      </p:nvGrpSpPr>
      <p:grpSpPr>
        <a:xfrm>
          <a:off x="0" y="0"/>
          <a:ext cx="0" cy="0"/>
          <a:chOff x="0" y="0"/>
          <a:chExt cx="0" cy="0"/>
        </a:xfrm>
      </p:grpSpPr>
      <p:sp>
        <p:nvSpPr>
          <p:cNvPr id="178" name="Google Shape;178;p36"/>
          <p:cNvSpPr txBox="1"/>
          <p:nvPr>
            <p:ph type="ctrTitle"/>
          </p:nvPr>
        </p:nvSpPr>
        <p:spPr>
          <a:xfrm>
            <a:off x="274325" y="320049"/>
            <a:ext cx="8520600" cy="642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 sz="4000">
                <a:solidFill>
                  <a:srgbClr val="7ED957"/>
                </a:solidFill>
                <a:latin typeface="Hammersmith One"/>
                <a:ea typeface="Hammersmith One"/>
                <a:cs typeface="Hammersmith One"/>
                <a:sym typeface="Hammersmith One"/>
              </a:rPr>
              <a:t>PERFORMANCE</a:t>
            </a:r>
            <a:r>
              <a:rPr lang="en" sz="4000">
                <a:solidFill>
                  <a:srgbClr val="7ED957"/>
                </a:solidFill>
                <a:latin typeface="Hammersmith One"/>
                <a:ea typeface="Hammersmith One"/>
                <a:cs typeface="Hammersmith One"/>
                <a:sym typeface="Hammersmith One"/>
              </a:rPr>
              <a:t>:</a:t>
            </a:r>
            <a:r>
              <a:rPr lang="en" sz="4000">
                <a:solidFill>
                  <a:srgbClr val="7ED957"/>
                </a:solidFill>
                <a:latin typeface="Hammersmith One"/>
                <a:ea typeface="Hammersmith One"/>
                <a:cs typeface="Hammersmith One"/>
                <a:sym typeface="Hammersmith One"/>
              </a:rPr>
              <a:t> </a:t>
            </a:r>
            <a:r>
              <a:rPr lang="en" sz="3200">
                <a:solidFill>
                  <a:schemeClr val="lt1"/>
                </a:solidFill>
                <a:latin typeface="Proxima Nova"/>
                <a:ea typeface="Proxima Nova"/>
                <a:cs typeface="Proxima Nova"/>
                <a:sym typeface="Proxima Nova"/>
              </a:rPr>
              <a:t>ALL SPECIES SUITABILITY</a:t>
            </a:r>
            <a:endParaRPr sz="3200">
              <a:solidFill>
                <a:schemeClr val="lt1"/>
              </a:solidFill>
              <a:latin typeface="Proxima Nova"/>
              <a:ea typeface="Proxima Nova"/>
              <a:cs typeface="Proxima Nova"/>
              <a:sym typeface="Proxima Nova"/>
            </a:endParaRPr>
          </a:p>
        </p:txBody>
      </p:sp>
      <p:graphicFrame>
        <p:nvGraphicFramePr>
          <p:cNvPr id="179" name="Google Shape;179;p36"/>
          <p:cNvGraphicFramePr/>
          <p:nvPr/>
        </p:nvGraphicFramePr>
        <p:xfrm>
          <a:off x="320040" y="1188720"/>
          <a:ext cx="3000000" cy="3000000"/>
        </p:xfrm>
        <a:graphic>
          <a:graphicData uri="http://schemas.openxmlformats.org/drawingml/2006/table">
            <a:tbl>
              <a:tblPr>
                <a:noFill/>
                <a:tableStyleId>{85CED069-D96A-4F69-AB26-FEDBC44AE582}</a:tableStyleId>
              </a:tblPr>
              <a:tblGrid>
                <a:gridCol w="1756825"/>
                <a:gridCol w="552175"/>
                <a:gridCol w="567875"/>
                <a:gridCol w="573350"/>
                <a:gridCol w="588950"/>
                <a:gridCol w="599575"/>
                <a:gridCol w="610100"/>
                <a:gridCol w="641875"/>
                <a:gridCol w="641875"/>
                <a:gridCol w="641875"/>
                <a:gridCol w="641875"/>
                <a:gridCol w="641875"/>
              </a:tblGrid>
              <a:tr h="412500">
                <a:tc>
                  <a:txBody>
                    <a:bodyPr/>
                    <a:lstStyle/>
                    <a:p>
                      <a:pPr indent="0" lvl="0" marL="0" rtl="0" algn="r">
                        <a:spcBef>
                          <a:spcPts val="0"/>
                        </a:spcBef>
                        <a:spcAft>
                          <a:spcPts val="0"/>
                        </a:spcAft>
                        <a:buNone/>
                      </a:pPr>
                      <a:r>
                        <a:rPr lang="en" sz="1200">
                          <a:solidFill>
                            <a:schemeClr val="lt1"/>
                          </a:solidFill>
                          <a:latin typeface="Proxima Nova"/>
                          <a:ea typeface="Proxima Nova"/>
                          <a:cs typeface="Proxima Nova"/>
                          <a:sym typeface="Proxima Nova"/>
                        </a:rPr>
                        <a:t>RANK</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-5</a:t>
                      </a:r>
                      <a:endParaRPr sz="1200">
                        <a:solidFill>
                          <a:schemeClr val="lt1"/>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-4</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-3</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-2</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-1</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0</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1</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2</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3</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4</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5</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r>
              <a:tr h="395575">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Business As Usual</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1080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Eco Machine</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b="1">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rPr b="1" lang="en" sz="1500">
                          <a:solidFill>
                            <a:srgbClr val="51A2BD"/>
                          </a:solidFill>
                          <a:latin typeface="Proxima Nova"/>
                          <a:ea typeface="Proxima Nova"/>
                          <a:cs typeface="Proxima Nova"/>
                          <a:sym typeface="Proxima Nova"/>
                        </a:rPr>
                        <a:t>X</a:t>
                      </a:r>
                      <a:endParaRPr b="1" sz="1000">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420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New Green Watershed</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sz="1500">
                          <a:solidFill>
                            <a:srgbClr val="51A2BD"/>
                          </a:solidFill>
                          <a:latin typeface="Proxima Nova"/>
                          <a:ea typeface="Proxima Nova"/>
                          <a:cs typeface="Proxima Nova"/>
                          <a:sym typeface="Proxima Nova"/>
                        </a:rPr>
                        <a:t>X</a:t>
                      </a:r>
                      <a:endParaRPr b="1" sz="1000">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95575">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Bolster &amp; Fortify</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b="1">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6185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Calling On Reserves</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Clr>
                          <a:schemeClr val="dk1"/>
                        </a:buClr>
                        <a:buSzPts val="1100"/>
                        <a:buFont typeface="Arial"/>
                        <a:buNone/>
                      </a:pPr>
                      <a:r>
                        <a:t/>
                      </a:r>
                      <a:endParaRPr b="1">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EEA622"/>
                          </a:solidFill>
                          <a:latin typeface="Proxima Nova"/>
                          <a:ea typeface="Proxima Nova"/>
                          <a:cs typeface="Proxima Nova"/>
                          <a:sym typeface="Proxima Nova"/>
                        </a:rPr>
                        <a:t>X</a:t>
                      </a:r>
                      <a:endParaRPr b="1">
                        <a:solidFill>
                          <a:srgbClr val="EEA62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80" name="Google Shape;180;p36"/>
          <p:cNvSpPr txBox="1"/>
          <p:nvPr/>
        </p:nvSpPr>
        <p:spPr>
          <a:xfrm>
            <a:off x="320050" y="4632425"/>
            <a:ext cx="10971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 </a:t>
            </a:r>
            <a:r>
              <a:rPr i="1" lang="en" sz="1000">
                <a:solidFill>
                  <a:schemeClr val="lt1"/>
                </a:solidFill>
                <a:latin typeface="Proxima Nova"/>
                <a:ea typeface="Proxima Nova"/>
                <a:cs typeface="Proxima Nova"/>
                <a:sym typeface="Proxima Nova"/>
              </a:rPr>
              <a:t>* All Others</a:t>
            </a:r>
            <a:endParaRPr sz="1800">
              <a:solidFill>
                <a:schemeClr val="dk2"/>
              </a:solidFill>
            </a:endParaRPr>
          </a:p>
        </p:txBody>
      </p:sp>
      <p:sp>
        <p:nvSpPr>
          <p:cNvPr id="181" name="Google Shape;181;p36"/>
          <p:cNvSpPr txBox="1"/>
          <p:nvPr/>
        </p:nvSpPr>
        <p:spPr>
          <a:xfrm>
            <a:off x="147775" y="4160520"/>
            <a:ext cx="20145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lt1"/>
                </a:solidFill>
                <a:latin typeface="Proxima Nova"/>
                <a:ea typeface="Proxima Nova"/>
                <a:cs typeface="Proxima Nova"/>
                <a:sym typeface="Proxima Nova"/>
              </a:rPr>
              <a:t>SPECIES OF INTEREST</a:t>
            </a:r>
            <a:endParaRPr sz="1600">
              <a:solidFill>
                <a:schemeClr val="dk2"/>
              </a:solidFill>
            </a:endParaRPr>
          </a:p>
        </p:txBody>
      </p:sp>
      <p:sp>
        <p:nvSpPr>
          <p:cNvPr id="182" name="Google Shape;182;p36"/>
          <p:cNvSpPr txBox="1"/>
          <p:nvPr/>
        </p:nvSpPr>
        <p:spPr>
          <a:xfrm>
            <a:off x="4572000" y="813725"/>
            <a:ext cx="42063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lt2"/>
                </a:solidFill>
                <a:latin typeface="Proxima Nova"/>
                <a:ea typeface="Proxima Nova"/>
                <a:cs typeface="Proxima Nova"/>
                <a:sym typeface="Proxima Nova"/>
              </a:rPr>
              <a:t>Proportion of suitable points (2019 ONLY)</a:t>
            </a:r>
            <a:endParaRPr i="1">
              <a:solidFill>
                <a:schemeClr val="lt2"/>
              </a:solidFill>
              <a:latin typeface="Proxima Nova"/>
              <a:ea typeface="Proxima Nova"/>
              <a:cs typeface="Proxima Nova"/>
              <a:sym typeface="Proxima Nova"/>
            </a:endParaRPr>
          </a:p>
        </p:txBody>
      </p:sp>
      <p:sp>
        <p:nvSpPr>
          <p:cNvPr id="183" name="Google Shape;183;p36"/>
          <p:cNvSpPr txBox="1"/>
          <p:nvPr/>
        </p:nvSpPr>
        <p:spPr>
          <a:xfrm>
            <a:off x="7383000" y="4589225"/>
            <a:ext cx="1896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2000">
              <a:solidFill>
                <a:schemeClr val="lt1"/>
              </a:solidFill>
              <a:latin typeface="Proxima Nova"/>
              <a:ea typeface="Proxima Nova"/>
              <a:cs typeface="Proxima Nova"/>
              <a:sym typeface="Proxima Nova"/>
            </a:endParaRPr>
          </a:p>
        </p:txBody>
      </p:sp>
      <p:sp>
        <p:nvSpPr>
          <p:cNvPr id="184" name="Google Shape;184;p36"/>
          <p:cNvSpPr txBox="1"/>
          <p:nvPr/>
        </p:nvSpPr>
        <p:spPr>
          <a:xfrm>
            <a:off x="2076875" y="4068125"/>
            <a:ext cx="32538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+1%= increases by 1 from baseline</a:t>
            </a:r>
            <a:endParaRPr sz="12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-1% = decreases by 1 from baseline</a:t>
            </a:r>
            <a:endParaRPr sz="12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200">
                <a:solidFill>
                  <a:srgbClr val="51A2BD"/>
                </a:solidFill>
                <a:latin typeface="Proxima Nova"/>
                <a:ea typeface="Proxima Nova"/>
                <a:cs typeface="Proxima Nova"/>
                <a:sym typeface="Proxima Nova"/>
              </a:rPr>
              <a:t>Juvenile Longfin Smelt </a:t>
            </a:r>
            <a:r>
              <a:rPr b="1" lang="en" sz="1200">
                <a:solidFill>
                  <a:srgbClr val="999999"/>
                </a:solidFill>
                <a:latin typeface="Proxima Nova"/>
                <a:ea typeface="Proxima Nova"/>
                <a:cs typeface="Proxima Nova"/>
                <a:sym typeface="Proxima Nova"/>
              </a:rPr>
              <a:t>I</a:t>
            </a:r>
            <a:r>
              <a:rPr lang="en" sz="1200">
                <a:solidFill>
                  <a:srgbClr val="51A2BD"/>
                </a:solidFill>
                <a:latin typeface="Proxima Nova"/>
                <a:ea typeface="Proxima Nova"/>
                <a:cs typeface="Proxima Nova"/>
                <a:sym typeface="Proxima Nova"/>
              </a:rPr>
              <a:t> </a:t>
            </a:r>
            <a:r>
              <a:rPr lang="en" sz="1200">
                <a:solidFill>
                  <a:srgbClr val="5AEEEE"/>
                </a:solidFill>
                <a:latin typeface="Proxima Nova"/>
                <a:ea typeface="Proxima Nova"/>
                <a:cs typeface="Proxima Nova"/>
                <a:sym typeface="Proxima Nova"/>
              </a:rPr>
              <a:t>Adult Longfin Smelt</a:t>
            </a:r>
            <a:endParaRPr sz="1200">
              <a:solidFill>
                <a:srgbClr val="5AEEEE"/>
              </a:solidFill>
              <a:latin typeface="Proxima Nova"/>
              <a:ea typeface="Proxima Nova"/>
              <a:cs typeface="Proxima Nova"/>
              <a:sym typeface="Proxima Nova"/>
            </a:endParaRPr>
          </a:p>
          <a:p>
            <a:pPr indent="0" lvl="0" marL="0" rtl="0" algn="l">
              <a:spcBef>
                <a:spcPts val="0"/>
              </a:spcBef>
              <a:spcAft>
                <a:spcPts val="0"/>
              </a:spcAft>
              <a:buNone/>
            </a:pPr>
            <a:r>
              <a:rPr lang="en" sz="1200">
                <a:solidFill>
                  <a:srgbClr val="EEA622"/>
                </a:solidFill>
                <a:latin typeface="Proxima Nova"/>
                <a:ea typeface="Proxima Nova"/>
                <a:cs typeface="Proxima Nova"/>
                <a:sym typeface="Proxima Nova"/>
              </a:rPr>
              <a:t>Juvenile Chinook Salmon</a:t>
            </a:r>
            <a:r>
              <a:rPr lang="en" sz="1200">
                <a:solidFill>
                  <a:srgbClr val="F98043"/>
                </a:solidFill>
                <a:latin typeface="Proxima Nova"/>
                <a:ea typeface="Proxima Nova"/>
                <a:cs typeface="Proxima Nova"/>
                <a:sym typeface="Proxima Nova"/>
              </a:rPr>
              <a:t> </a:t>
            </a:r>
            <a:r>
              <a:rPr b="1" lang="en" sz="1200">
                <a:solidFill>
                  <a:srgbClr val="999999"/>
                </a:solidFill>
                <a:latin typeface="Proxima Nova"/>
                <a:ea typeface="Proxima Nova"/>
                <a:cs typeface="Proxima Nova"/>
                <a:sym typeface="Proxima Nova"/>
              </a:rPr>
              <a:t>I</a:t>
            </a:r>
            <a:r>
              <a:rPr lang="en" sz="1200">
                <a:solidFill>
                  <a:srgbClr val="51A2BD"/>
                </a:solidFill>
                <a:latin typeface="Proxima Nova"/>
                <a:ea typeface="Proxima Nova"/>
                <a:cs typeface="Proxima Nova"/>
                <a:sym typeface="Proxima Nova"/>
              </a:rPr>
              <a:t> </a:t>
            </a:r>
            <a:r>
              <a:rPr lang="en" sz="1200">
                <a:solidFill>
                  <a:srgbClr val="7ED957"/>
                </a:solidFill>
                <a:latin typeface="Proxima Nova"/>
                <a:ea typeface="Proxima Nova"/>
                <a:cs typeface="Proxima Nova"/>
                <a:sym typeface="Proxima Nova"/>
              </a:rPr>
              <a:t>Juvenile Striped Bass</a:t>
            </a:r>
            <a:endParaRPr/>
          </a:p>
        </p:txBody>
      </p:sp>
      <p:sp>
        <p:nvSpPr>
          <p:cNvPr id="185" name="Google Shape;185;p36"/>
          <p:cNvSpPr txBox="1"/>
          <p:nvPr/>
        </p:nvSpPr>
        <p:spPr>
          <a:xfrm>
            <a:off x="5296375" y="4160525"/>
            <a:ext cx="3000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+1% = decreases by 1 from baseline</a:t>
            </a:r>
            <a:endParaRPr sz="12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-1%= increases by 1 from baseline</a:t>
            </a:r>
            <a:endParaRPr sz="12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200">
                <a:solidFill>
                  <a:srgbClr val="DEE01E"/>
                </a:solidFill>
                <a:latin typeface="Proxima Nova"/>
                <a:ea typeface="Proxima Nova"/>
                <a:cs typeface="Proxima Nova"/>
                <a:sym typeface="Proxima Nova"/>
              </a:rPr>
              <a:t>Largemouth Bass</a:t>
            </a:r>
            <a:endParaRPr sz="1200">
              <a:solidFill>
                <a:srgbClr val="DEE01E"/>
              </a:solidFill>
              <a:latin typeface="Proxima Nova"/>
              <a:ea typeface="Proxima Nova"/>
              <a:cs typeface="Proxima Nova"/>
              <a:sym typeface="Proxima Nova"/>
            </a:endParaRPr>
          </a:p>
          <a:p>
            <a:pPr indent="0" lvl="0" marL="0" rtl="0" algn="l">
              <a:spcBef>
                <a:spcPts val="0"/>
              </a:spcBef>
              <a:spcAft>
                <a:spcPts val="0"/>
              </a:spcAft>
              <a:buNone/>
            </a:pPr>
            <a:r>
              <a:rPr lang="en" sz="1200">
                <a:solidFill>
                  <a:srgbClr val="FF4C79"/>
                </a:solidFill>
                <a:latin typeface="Proxima Nova"/>
                <a:ea typeface="Proxima Nova"/>
                <a:cs typeface="Proxima Nova"/>
                <a:sym typeface="Proxima Nova"/>
              </a:rPr>
              <a:t>Egeria </a:t>
            </a:r>
            <a:r>
              <a:rPr b="1" lang="en" sz="1200">
                <a:solidFill>
                  <a:srgbClr val="999999"/>
                </a:solidFill>
                <a:latin typeface="Proxima Nova"/>
                <a:ea typeface="Proxima Nova"/>
                <a:cs typeface="Proxima Nova"/>
                <a:sym typeface="Proxima Nova"/>
              </a:rPr>
              <a:t>I</a:t>
            </a:r>
            <a:r>
              <a:rPr lang="en" sz="1200">
                <a:solidFill>
                  <a:srgbClr val="51A2BD"/>
                </a:solidFill>
                <a:latin typeface="Proxima Nova"/>
                <a:ea typeface="Proxima Nova"/>
                <a:cs typeface="Proxima Nova"/>
                <a:sym typeface="Proxima Nova"/>
              </a:rPr>
              <a:t> </a:t>
            </a:r>
            <a:r>
              <a:rPr lang="en" sz="1200">
                <a:solidFill>
                  <a:srgbClr val="E263FF"/>
                </a:solidFill>
                <a:latin typeface="Proxima Nova"/>
                <a:ea typeface="Proxima Nova"/>
                <a:cs typeface="Proxima Nova"/>
                <a:sym typeface="Proxima Nova"/>
              </a:rPr>
              <a:t>Overbite Clam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189" name="Shape 189"/>
        <p:cNvGrpSpPr/>
        <p:nvPr/>
      </p:nvGrpSpPr>
      <p:grpSpPr>
        <a:xfrm>
          <a:off x="0" y="0"/>
          <a:ext cx="0" cy="0"/>
          <a:chOff x="0" y="0"/>
          <a:chExt cx="0" cy="0"/>
        </a:xfrm>
      </p:grpSpPr>
      <p:sp>
        <p:nvSpPr>
          <p:cNvPr id="190" name="Google Shape;190;p37"/>
          <p:cNvSpPr txBox="1"/>
          <p:nvPr>
            <p:ph type="ctrTitle"/>
          </p:nvPr>
        </p:nvSpPr>
        <p:spPr>
          <a:xfrm>
            <a:off x="274325" y="320049"/>
            <a:ext cx="8520600" cy="642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 sz="4000">
                <a:solidFill>
                  <a:srgbClr val="7ED957"/>
                </a:solidFill>
                <a:latin typeface="Hammersmith One"/>
                <a:ea typeface="Hammersmith One"/>
                <a:cs typeface="Hammersmith One"/>
                <a:sym typeface="Hammersmith One"/>
              </a:rPr>
              <a:t>PERFORMANCE</a:t>
            </a:r>
            <a:r>
              <a:rPr lang="en" sz="4000">
                <a:solidFill>
                  <a:srgbClr val="7ED957"/>
                </a:solidFill>
                <a:latin typeface="Hammersmith One"/>
                <a:ea typeface="Hammersmith One"/>
                <a:cs typeface="Hammersmith One"/>
                <a:sym typeface="Hammersmith One"/>
              </a:rPr>
              <a:t>: </a:t>
            </a:r>
            <a:r>
              <a:rPr lang="en" sz="3200">
                <a:solidFill>
                  <a:schemeClr val="lt1"/>
                </a:solidFill>
                <a:latin typeface="Proxima Nova"/>
                <a:ea typeface="Proxima Nova"/>
                <a:cs typeface="Proxima Nova"/>
                <a:sym typeface="Proxima Nova"/>
              </a:rPr>
              <a:t>ALL SPECIES SUITABILITY</a:t>
            </a:r>
            <a:endParaRPr sz="3200">
              <a:solidFill>
                <a:schemeClr val="lt1"/>
              </a:solidFill>
              <a:latin typeface="Proxima Nova"/>
              <a:ea typeface="Proxima Nova"/>
              <a:cs typeface="Proxima Nova"/>
              <a:sym typeface="Proxima Nova"/>
            </a:endParaRPr>
          </a:p>
        </p:txBody>
      </p:sp>
      <p:graphicFrame>
        <p:nvGraphicFramePr>
          <p:cNvPr id="191" name="Google Shape;191;p37"/>
          <p:cNvGraphicFramePr/>
          <p:nvPr/>
        </p:nvGraphicFramePr>
        <p:xfrm>
          <a:off x="320040" y="1188720"/>
          <a:ext cx="3000000" cy="3000000"/>
        </p:xfrm>
        <a:graphic>
          <a:graphicData uri="http://schemas.openxmlformats.org/drawingml/2006/table">
            <a:tbl>
              <a:tblPr>
                <a:noFill/>
                <a:tableStyleId>{85CED069-D96A-4F69-AB26-FEDBC44AE582}</a:tableStyleId>
              </a:tblPr>
              <a:tblGrid>
                <a:gridCol w="1756825"/>
                <a:gridCol w="552175"/>
                <a:gridCol w="567875"/>
                <a:gridCol w="573350"/>
                <a:gridCol w="588950"/>
                <a:gridCol w="599575"/>
                <a:gridCol w="610100"/>
                <a:gridCol w="641875"/>
                <a:gridCol w="641875"/>
                <a:gridCol w="641875"/>
                <a:gridCol w="641875"/>
                <a:gridCol w="641875"/>
              </a:tblGrid>
              <a:tr h="412500">
                <a:tc>
                  <a:txBody>
                    <a:bodyPr/>
                    <a:lstStyle/>
                    <a:p>
                      <a:pPr indent="0" lvl="0" marL="0" rtl="0" algn="r">
                        <a:spcBef>
                          <a:spcPts val="0"/>
                        </a:spcBef>
                        <a:spcAft>
                          <a:spcPts val="0"/>
                        </a:spcAft>
                        <a:buNone/>
                      </a:pPr>
                      <a:r>
                        <a:rPr lang="en" sz="1200">
                          <a:solidFill>
                            <a:schemeClr val="lt1"/>
                          </a:solidFill>
                          <a:latin typeface="Proxima Nova"/>
                          <a:ea typeface="Proxima Nova"/>
                          <a:cs typeface="Proxima Nova"/>
                          <a:sym typeface="Proxima Nova"/>
                        </a:rPr>
                        <a:t>RANK</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-5</a:t>
                      </a:r>
                      <a:endParaRPr sz="1200">
                        <a:solidFill>
                          <a:schemeClr val="lt1"/>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-4</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-3</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-2</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-1</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0</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1</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2</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3</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4</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5</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r>
              <a:tr h="395575">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Business As Usual</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1080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Eco Machine</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E263FF"/>
                          </a:solidFill>
                          <a:latin typeface="Proxima Nova"/>
                          <a:ea typeface="Proxima Nova"/>
                          <a:cs typeface="Proxima Nova"/>
                          <a:sym typeface="Proxima Nova"/>
                        </a:rPr>
                        <a:t>0</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b="1">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rPr b="1" lang="en">
                          <a:solidFill>
                            <a:srgbClr val="FF4C79"/>
                          </a:solidFill>
                          <a:latin typeface="Proxima Nova"/>
                          <a:ea typeface="Proxima Nova"/>
                          <a:cs typeface="Proxima Nova"/>
                          <a:sym typeface="Proxima Nova"/>
                        </a:rPr>
                        <a:t>0</a:t>
                      </a:r>
                      <a:endParaRPr b="1" sz="1000">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rPr b="1" lang="en">
                          <a:solidFill>
                            <a:srgbClr val="DEE01E"/>
                          </a:solidFill>
                          <a:latin typeface="Proxima Nova"/>
                          <a:ea typeface="Proxima Nova"/>
                          <a:cs typeface="Proxima Nova"/>
                          <a:sym typeface="Proxima Nova"/>
                        </a:rPr>
                        <a:t>0</a:t>
                      </a:r>
                      <a:endParaRPr b="1">
                        <a:solidFill>
                          <a:srgbClr val="DEE01E"/>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420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New Green Watershed</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E263FF"/>
                          </a:solidFill>
                          <a:latin typeface="Proxima Nova"/>
                          <a:ea typeface="Proxima Nova"/>
                          <a:cs typeface="Proxima Nova"/>
                          <a:sym typeface="Proxima Nova"/>
                        </a:rPr>
                        <a:t>0</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FF4C79"/>
                          </a:solidFill>
                          <a:latin typeface="Proxima Nova"/>
                          <a:ea typeface="Proxima Nova"/>
                          <a:cs typeface="Proxima Nova"/>
                          <a:sym typeface="Proxima Nova"/>
                        </a:rPr>
                        <a:t>0</a:t>
                      </a:r>
                      <a:endParaRPr b="1" sz="1000">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rPr b="1" lang="en">
                          <a:solidFill>
                            <a:srgbClr val="DEE01E"/>
                          </a:solidFill>
                          <a:latin typeface="Proxima Nova"/>
                          <a:ea typeface="Proxima Nova"/>
                          <a:cs typeface="Proxima Nova"/>
                          <a:sym typeface="Proxima Nova"/>
                        </a:rPr>
                        <a:t>0</a:t>
                      </a:r>
                      <a:endParaRPr b="1">
                        <a:solidFill>
                          <a:srgbClr val="DEE01E"/>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95575">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Bolster &amp; Fortify</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b="1">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6185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Calling On Reserves</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Clr>
                          <a:schemeClr val="dk1"/>
                        </a:buClr>
                        <a:buSzPts val="1100"/>
                        <a:buFont typeface="Arial"/>
                        <a:buNone/>
                      </a:pPr>
                      <a:r>
                        <a:t/>
                      </a:r>
                      <a:endParaRPr b="1">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E263FF"/>
                          </a:solidFill>
                          <a:latin typeface="Proxima Nova"/>
                          <a:ea typeface="Proxima Nova"/>
                          <a:cs typeface="Proxima Nova"/>
                          <a:sym typeface="Proxima Nova"/>
                        </a:rPr>
                        <a:t>0</a:t>
                      </a:r>
                      <a:endParaRPr b="1">
                        <a:solidFill>
                          <a:srgbClr val="E263FF"/>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solidFill>
                          <a:srgbClr val="EEA62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DEE01E"/>
                          </a:solidFill>
                          <a:latin typeface="Proxima Nova"/>
                          <a:ea typeface="Proxima Nova"/>
                          <a:cs typeface="Proxima Nova"/>
                          <a:sym typeface="Proxima Nova"/>
                        </a:rPr>
                        <a:t>0</a:t>
                      </a:r>
                      <a:r>
                        <a:rPr b="1" lang="en">
                          <a:solidFill>
                            <a:srgbClr val="FF4C79"/>
                          </a:solidFill>
                          <a:latin typeface="Proxima Nova"/>
                          <a:ea typeface="Proxima Nova"/>
                          <a:cs typeface="Proxima Nova"/>
                          <a:sym typeface="Proxima Nova"/>
                        </a:rPr>
                        <a:t>0</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92" name="Google Shape;192;p37"/>
          <p:cNvSpPr txBox="1"/>
          <p:nvPr/>
        </p:nvSpPr>
        <p:spPr>
          <a:xfrm>
            <a:off x="320050" y="4632425"/>
            <a:ext cx="10971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 </a:t>
            </a:r>
            <a:r>
              <a:rPr i="1" lang="en" sz="1000">
                <a:solidFill>
                  <a:schemeClr val="lt1"/>
                </a:solidFill>
                <a:latin typeface="Proxima Nova"/>
                <a:ea typeface="Proxima Nova"/>
                <a:cs typeface="Proxima Nova"/>
                <a:sym typeface="Proxima Nova"/>
              </a:rPr>
              <a:t>* All Others</a:t>
            </a:r>
            <a:endParaRPr sz="1800">
              <a:solidFill>
                <a:schemeClr val="dk2"/>
              </a:solidFill>
            </a:endParaRPr>
          </a:p>
        </p:txBody>
      </p:sp>
      <p:sp>
        <p:nvSpPr>
          <p:cNvPr id="193" name="Google Shape;193;p37"/>
          <p:cNvSpPr txBox="1"/>
          <p:nvPr/>
        </p:nvSpPr>
        <p:spPr>
          <a:xfrm>
            <a:off x="147775" y="4160520"/>
            <a:ext cx="20145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lt1"/>
                </a:solidFill>
                <a:latin typeface="Proxima Nova"/>
                <a:ea typeface="Proxima Nova"/>
                <a:cs typeface="Proxima Nova"/>
                <a:sym typeface="Proxima Nova"/>
              </a:rPr>
              <a:t>SPECIES OF INTEREST</a:t>
            </a:r>
            <a:endParaRPr sz="1600">
              <a:solidFill>
                <a:schemeClr val="dk2"/>
              </a:solidFill>
            </a:endParaRPr>
          </a:p>
        </p:txBody>
      </p:sp>
      <p:sp>
        <p:nvSpPr>
          <p:cNvPr id="194" name="Google Shape;194;p37"/>
          <p:cNvSpPr txBox="1"/>
          <p:nvPr/>
        </p:nvSpPr>
        <p:spPr>
          <a:xfrm>
            <a:off x="4572000" y="813725"/>
            <a:ext cx="42063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lt2"/>
                </a:solidFill>
                <a:latin typeface="Proxima Nova"/>
                <a:ea typeface="Proxima Nova"/>
                <a:cs typeface="Proxima Nova"/>
                <a:sym typeface="Proxima Nova"/>
              </a:rPr>
              <a:t>Proportion of suitable points (2020 only)</a:t>
            </a:r>
            <a:endParaRPr i="1">
              <a:solidFill>
                <a:schemeClr val="lt2"/>
              </a:solidFill>
              <a:latin typeface="Proxima Nova"/>
              <a:ea typeface="Proxima Nova"/>
              <a:cs typeface="Proxima Nova"/>
              <a:sym typeface="Proxima Nova"/>
            </a:endParaRPr>
          </a:p>
        </p:txBody>
      </p:sp>
      <p:sp>
        <p:nvSpPr>
          <p:cNvPr id="195" name="Google Shape;195;p37"/>
          <p:cNvSpPr txBox="1"/>
          <p:nvPr/>
        </p:nvSpPr>
        <p:spPr>
          <a:xfrm>
            <a:off x="7247700" y="4632425"/>
            <a:ext cx="1896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2000">
              <a:solidFill>
                <a:schemeClr val="lt1"/>
              </a:solidFill>
              <a:latin typeface="Proxima Nova"/>
              <a:ea typeface="Proxima Nova"/>
              <a:cs typeface="Proxima Nova"/>
              <a:sym typeface="Proxima Nova"/>
            </a:endParaRPr>
          </a:p>
        </p:txBody>
      </p:sp>
      <p:sp>
        <p:nvSpPr>
          <p:cNvPr id="196" name="Google Shape;196;p37"/>
          <p:cNvSpPr txBox="1"/>
          <p:nvPr/>
        </p:nvSpPr>
        <p:spPr>
          <a:xfrm>
            <a:off x="2076875" y="4068125"/>
            <a:ext cx="32538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+1%= increases by 1 from baseline</a:t>
            </a:r>
            <a:endParaRPr sz="12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-1% = decreases by 1 from baseline</a:t>
            </a:r>
            <a:endParaRPr sz="12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200">
                <a:solidFill>
                  <a:srgbClr val="51A2BD"/>
                </a:solidFill>
                <a:latin typeface="Proxima Nova"/>
                <a:ea typeface="Proxima Nova"/>
                <a:cs typeface="Proxima Nova"/>
                <a:sym typeface="Proxima Nova"/>
              </a:rPr>
              <a:t>Juvenile Longfin Smelt </a:t>
            </a:r>
            <a:r>
              <a:rPr b="1" lang="en" sz="1200">
                <a:solidFill>
                  <a:srgbClr val="999999"/>
                </a:solidFill>
                <a:latin typeface="Proxima Nova"/>
                <a:ea typeface="Proxima Nova"/>
                <a:cs typeface="Proxima Nova"/>
                <a:sym typeface="Proxima Nova"/>
              </a:rPr>
              <a:t>I</a:t>
            </a:r>
            <a:r>
              <a:rPr lang="en" sz="1200">
                <a:solidFill>
                  <a:srgbClr val="51A2BD"/>
                </a:solidFill>
                <a:latin typeface="Proxima Nova"/>
                <a:ea typeface="Proxima Nova"/>
                <a:cs typeface="Proxima Nova"/>
                <a:sym typeface="Proxima Nova"/>
              </a:rPr>
              <a:t> </a:t>
            </a:r>
            <a:r>
              <a:rPr lang="en" sz="1200">
                <a:solidFill>
                  <a:srgbClr val="5AEEEE"/>
                </a:solidFill>
                <a:latin typeface="Proxima Nova"/>
                <a:ea typeface="Proxima Nova"/>
                <a:cs typeface="Proxima Nova"/>
                <a:sym typeface="Proxima Nova"/>
              </a:rPr>
              <a:t>Adult Longfin Smelt</a:t>
            </a:r>
            <a:endParaRPr sz="1200">
              <a:solidFill>
                <a:srgbClr val="5AEEEE"/>
              </a:solidFill>
              <a:latin typeface="Proxima Nova"/>
              <a:ea typeface="Proxima Nova"/>
              <a:cs typeface="Proxima Nova"/>
              <a:sym typeface="Proxima Nova"/>
            </a:endParaRPr>
          </a:p>
          <a:p>
            <a:pPr indent="0" lvl="0" marL="0" rtl="0" algn="l">
              <a:spcBef>
                <a:spcPts val="0"/>
              </a:spcBef>
              <a:spcAft>
                <a:spcPts val="0"/>
              </a:spcAft>
              <a:buNone/>
            </a:pPr>
            <a:r>
              <a:rPr lang="en" sz="1200">
                <a:solidFill>
                  <a:srgbClr val="EEA622"/>
                </a:solidFill>
                <a:latin typeface="Proxima Nova"/>
                <a:ea typeface="Proxima Nova"/>
                <a:cs typeface="Proxima Nova"/>
                <a:sym typeface="Proxima Nova"/>
              </a:rPr>
              <a:t>Juvenile Chinook Salmon</a:t>
            </a:r>
            <a:r>
              <a:rPr lang="en" sz="1200">
                <a:solidFill>
                  <a:srgbClr val="F98043"/>
                </a:solidFill>
                <a:latin typeface="Proxima Nova"/>
                <a:ea typeface="Proxima Nova"/>
                <a:cs typeface="Proxima Nova"/>
                <a:sym typeface="Proxima Nova"/>
              </a:rPr>
              <a:t> </a:t>
            </a:r>
            <a:r>
              <a:rPr b="1" lang="en" sz="1200">
                <a:solidFill>
                  <a:srgbClr val="999999"/>
                </a:solidFill>
                <a:latin typeface="Proxima Nova"/>
                <a:ea typeface="Proxima Nova"/>
                <a:cs typeface="Proxima Nova"/>
                <a:sym typeface="Proxima Nova"/>
              </a:rPr>
              <a:t>I</a:t>
            </a:r>
            <a:r>
              <a:rPr lang="en" sz="1200">
                <a:solidFill>
                  <a:srgbClr val="51A2BD"/>
                </a:solidFill>
                <a:latin typeface="Proxima Nova"/>
                <a:ea typeface="Proxima Nova"/>
                <a:cs typeface="Proxima Nova"/>
                <a:sym typeface="Proxima Nova"/>
              </a:rPr>
              <a:t> </a:t>
            </a:r>
            <a:r>
              <a:rPr lang="en" sz="1200">
                <a:solidFill>
                  <a:srgbClr val="7ED957"/>
                </a:solidFill>
                <a:latin typeface="Proxima Nova"/>
                <a:ea typeface="Proxima Nova"/>
                <a:cs typeface="Proxima Nova"/>
                <a:sym typeface="Proxima Nova"/>
              </a:rPr>
              <a:t>Juvenile Striped Bass</a:t>
            </a:r>
            <a:endParaRPr/>
          </a:p>
        </p:txBody>
      </p:sp>
      <p:sp>
        <p:nvSpPr>
          <p:cNvPr id="197" name="Google Shape;197;p37"/>
          <p:cNvSpPr txBox="1"/>
          <p:nvPr/>
        </p:nvSpPr>
        <p:spPr>
          <a:xfrm>
            <a:off x="5296375" y="4160525"/>
            <a:ext cx="3000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+1% = decreases by 1 from baseline</a:t>
            </a:r>
            <a:endParaRPr sz="12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-1%= increases by 1 from baseline</a:t>
            </a:r>
            <a:endParaRPr sz="12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200">
                <a:solidFill>
                  <a:srgbClr val="DEE01E"/>
                </a:solidFill>
                <a:latin typeface="Proxima Nova"/>
                <a:ea typeface="Proxima Nova"/>
                <a:cs typeface="Proxima Nova"/>
                <a:sym typeface="Proxima Nova"/>
              </a:rPr>
              <a:t>Largemouth Bass</a:t>
            </a:r>
            <a:endParaRPr sz="1200">
              <a:solidFill>
                <a:srgbClr val="DEE01E"/>
              </a:solidFill>
              <a:latin typeface="Proxima Nova"/>
              <a:ea typeface="Proxima Nova"/>
              <a:cs typeface="Proxima Nova"/>
              <a:sym typeface="Proxima Nova"/>
            </a:endParaRPr>
          </a:p>
          <a:p>
            <a:pPr indent="0" lvl="0" marL="0" rtl="0" algn="l">
              <a:spcBef>
                <a:spcPts val="0"/>
              </a:spcBef>
              <a:spcAft>
                <a:spcPts val="0"/>
              </a:spcAft>
              <a:buNone/>
            </a:pPr>
            <a:r>
              <a:rPr lang="en" sz="1200">
                <a:solidFill>
                  <a:srgbClr val="FF4C79"/>
                </a:solidFill>
                <a:latin typeface="Proxima Nova"/>
                <a:ea typeface="Proxima Nova"/>
                <a:cs typeface="Proxima Nova"/>
                <a:sym typeface="Proxima Nova"/>
              </a:rPr>
              <a:t>Egeria </a:t>
            </a:r>
            <a:r>
              <a:rPr b="1" lang="en" sz="1200">
                <a:solidFill>
                  <a:srgbClr val="999999"/>
                </a:solidFill>
                <a:latin typeface="Proxima Nova"/>
                <a:ea typeface="Proxima Nova"/>
                <a:cs typeface="Proxima Nova"/>
                <a:sym typeface="Proxima Nova"/>
              </a:rPr>
              <a:t>I</a:t>
            </a:r>
            <a:r>
              <a:rPr lang="en" sz="1200">
                <a:solidFill>
                  <a:srgbClr val="51A2BD"/>
                </a:solidFill>
                <a:latin typeface="Proxima Nova"/>
                <a:ea typeface="Proxima Nova"/>
                <a:cs typeface="Proxima Nova"/>
                <a:sym typeface="Proxima Nova"/>
              </a:rPr>
              <a:t> </a:t>
            </a:r>
            <a:r>
              <a:rPr lang="en" sz="1200">
                <a:solidFill>
                  <a:srgbClr val="E263FF"/>
                </a:solidFill>
                <a:latin typeface="Proxima Nova"/>
                <a:ea typeface="Proxima Nova"/>
                <a:cs typeface="Proxima Nova"/>
                <a:sym typeface="Proxima Nova"/>
              </a:rPr>
              <a:t>Overbite Clam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201" name="Shape 201"/>
        <p:cNvGrpSpPr/>
        <p:nvPr/>
      </p:nvGrpSpPr>
      <p:grpSpPr>
        <a:xfrm>
          <a:off x="0" y="0"/>
          <a:ext cx="0" cy="0"/>
          <a:chOff x="0" y="0"/>
          <a:chExt cx="0" cy="0"/>
        </a:xfrm>
      </p:grpSpPr>
      <p:sp>
        <p:nvSpPr>
          <p:cNvPr id="202" name="Google Shape;202;p38"/>
          <p:cNvSpPr txBox="1"/>
          <p:nvPr>
            <p:ph type="ctrTitle"/>
          </p:nvPr>
        </p:nvSpPr>
        <p:spPr>
          <a:xfrm>
            <a:off x="274325" y="320049"/>
            <a:ext cx="8520600" cy="642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 sz="4000">
                <a:solidFill>
                  <a:srgbClr val="7ED957"/>
                </a:solidFill>
                <a:latin typeface="Hammersmith One"/>
                <a:ea typeface="Hammersmith One"/>
                <a:cs typeface="Hammersmith One"/>
                <a:sym typeface="Hammersmith One"/>
              </a:rPr>
              <a:t>PERFORMANCE</a:t>
            </a:r>
            <a:r>
              <a:rPr lang="en" sz="4000">
                <a:solidFill>
                  <a:srgbClr val="7ED957"/>
                </a:solidFill>
                <a:latin typeface="Hammersmith One"/>
                <a:ea typeface="Hammersmith One"/>
                <a:cs typeface="Hammersmith One"/>
                <a:sym typeface="Hammersmith One"/>
              </a:rPr>
              <a:t>: </a:t>
            </a:r>
            <a:r>
              <a:rPr lang="en" sz="3200">
                <a:solidFill>
                  <a:schemeClr val="lt1"/>
                </a:solidFill>
                <a:latin typeface="Proxima Nova"/>
                <a:ea typeface="Proxima Nova"/>
                <a:cs typeface="Proxima Nova"/>
                <a:sym typeface="Proxima Nova"/>
              </a:rPr>
              <a:t>ALL SPECIES SUITABILITY</a:t>
            </a:r>
            <a:endParaRPr sz="3200">
              <a:solidFill>
                <a:schemeClr val="lt1"/>
              </a:solidFill>
              <a:latin typeface="Proxima Nova"/>
              <a:ea typeface="Proxima Nova"/>
              <a:cs typeface="Proxima Nova"/>
              <a:sym typeface="Proxima Nova"/>
            </a:endParaRPr>
          </a:p>
        </p:txBody>
      </p:sp>
      <p:graphicFrame>
        <p:nvGraphicFramePr>
          <p:cNvPr id="203" name="Google Shape;203;p38"/>
          <p:cNvGraphicFramePr/>
          <p:nvPr/>
        </p:nvGraphicFramePr>
        <p:xfrm>
          <a:off x="320040" y="1188720"/>
          <a:ext cx="3000000" cy="3000000"/>
        </p:xfrm>
        <a:graphic>
          <a:graphicData uri="http://schemas.openxmlformats.org/drawingml/2006/table">
            <a:tbl>
              <a:tblPr>
                <a:noFill/>
                <a:tableStyleId>{85CED069-D96A-4F69-AB26-FEDBC44AE582}</a:tableStyleId>
              </a:tblPr>
              <a:tblGrid>
                <a:gridCol w="1756825"/>
                <a:gridCol w="552175"/>
                <a:gridCol w="567875"/>
                <a:gridCol w="573350"/>
                <a:gridCol w="588950"/>
                <a:gridCol w="599575"/>
                <a:gridCol w="610100"/>
                <a:gridCol w="641875"/>
                <a:gridCol w="641875"/>
                <a:gridCol w="641875"/>
                <a:gridCol w="641875"/>
                <a:gridCol w="641875"/>
              </a:tblGrid>
              <a:tr h="408450">
                <a:tc>
                  <a:txBody>
                    <a:bodyPr/>
                    <a:lstStyle/>
                    <a:p>
                      <a:pPr indent="0" lvl="0" marL="0" rtl="0" algn="r">
                        <a:spcBef>
                          <a:spcPts val="0"/>
                        </a:spcBef>
                        <a:spcAft>
                          <a:spcPts val="0"/>
                        </a:spcAft>
                        <a:buNone/>
                      </a:pPr>
                      <a:r>
                        <a:rPr lang="en" sz="1200">
                          <a:solidFill>
                            <a:schemeClr val="lt1"/>
                          </a:solidFill>
                          <a:latin typeface="Proxima Nova"/>
                          <a:ea typeface="Proxima Nova"/>
                          <a:cs typeface="Proxima Nova"/>
                          <a:sym typeface="Proxima Nova"/>
                        </a:rPr>
                        <a:t>RANK</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-5</a:t>
                      </a:r>
                      <a:endParaRPr sz="1200">
                        <a:solidFill>
                          <a:schemeClr val="lt1"/>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-4</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-3</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-2</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-1</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0</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1</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2</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3</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4</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5</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r>
              <a:tr h="40845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Business As Usual</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0845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Eco Machine</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X</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4C79"/>
                          </a:solidFill>
                          <a:latin typeface="Proxima Nova"/>
                          <a:ea typeface="Proxima Nova"/>
                          <a:cs typeface="Proxima Nova"/>
                          <a:sym typeface="Proxima Nova"/>
                        </a:rPr>
                        <a:t>0</a:t>
                      </a:r>
                      <a:r>
                        <a:rPr b="1" lang="en">
                          <a:solidFill>
                            <a:srgbClr val="FFFF00"/>
                          </a:solidFill>
                          <a:latin typeface="Proxima Nova"/>
                          <a:ea typeface="Proxima Nova"/>
                          <a:cs typeface="Proxima Nova"/>
                          <a:sym typeface="Proxima Nova"/>
                        </a:rPr>
                        <a:t>0</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38225">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New Green Watershed</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38761D"/>
                          </a:solidFill>
                          <a:latin typeface="Proxima Nova"/>
                          <a:ea typeface="Proxima Nova"/>
                          <a:cs typeface="Proxima Nova"/>
                          <a:sym typeface="Proxima Nova"/>
                        </a:rPr>
                        <a:t>X</a:t>
                      </a:r>
                      <a:r>
                        <a:rPr b="1" lang="en">
                          <a:solidFill>
                            <a:srgbClr val="F98043"/>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FF4C79"/>
                          </a:solidFill>
                          <a:latin typeface="Proxima Nova"/>
                          <a:ea typeface="Proxima Nova"/>
                          <a:cs typeface="Proxima Nova"/>
                          <a:sym typeface="Proxima Nova"/>
                        </a:rPr>
                        <a:t>0</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0845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Bolster &amp; Fortify</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38761D"/>
                          </a:solidFill>
                          <a:latin typeface="Proxima Nova"/>
                          <a:ea typeface="Proxima Nova"/>
                          <a:cs typeface="Proxima Nova"/>
                          <a:sym typeface="Proxima Nova"/>
                        </a:rPr>
                        <a:t>X</a:t>
                      </a:r>
                      <a:endParaRPr b="1">
                        <a:solidFill>
                          <a:srgbClr val="38761D"/>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7ED957"/>
                          </a:solidFill>
                          <a:latin typeface="Proxima Nova"/>
                          <a:ea typeface="Proxima Nova"/>
                          <a:cs typeface="Proxima Nova"/>
                          <a:sym typeface="Proxima Nova"/>
                        </a:rPr>
                        <a:t>X</a:t>
                      </a:r>
                      <a:endParaRPr>
                        <a:solidFill>
                          <a:srgbClr val="7ED957"/>
                        </a:solidFill>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45575">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Calling On Reserves</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Clr>
                          <a:schemeClr val="dk1"/>
                        </a:buClr>
                        <a:buSzPts val="1100"/>
                        <a:buFont typeface="Arial"/>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7ED957"/>
                          </a:solidFill>
                          <a:latin typeface="Proxima Nova"/>
                          <a:ea typeface="Proxima Nova"/>
                          <a:cs typeface="Proxima Nova"/>
                          <a:sym typeface="Proxima Nova"/>
                        </a:rPr>
                        <a:t>X</a:t>
                      </a:r>
                      <a:endParaRPr>
                        <a:solidFill>
                          <a:srgbClr val="7ED957"/>
                        </a:solidFill>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FF4C79"/>
                          </a:solidFill>
                          <a:latin typeface="Proxima Nova"/>
                          <a:ea typeface="Proxima Nova"/>
                          <a:cs typeface="Proxima Nova"/>
                          <a:sym typeface="Proxima Nova"/>
                        </a:rPr>
                        <a:t>0</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38761D"/>
                          </a:solidFill>
                          <a:latin typeface="Proxima Nova"/>
                          <a:ea typeface="Proxima Nova"/>
                          <a:cs typeface="Proxima Nova"/>
                          <a:sym typeface="Proxima Nova"/>
                        </a:rPr>
                        <a:t>X</a:t>
                      </a:r>
                      <a:r>
                        <a:rPr b="1" lang="en">
                          <a:solidFill>
                            <a:srgbClr val="FFFF00"/>
                          </a:solidFill>
                          <a:latin typeface="Proxima Nova"/>
                          <a:ea typeface="Proxima Nova"/>
                          <a:cs typeface="Proxima Nova"/>
                          <a:sym typeface="Proxima Nova"/>
                        </a:rPr>
                        <a:t>0</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5AEEEE"/>
                          </a:solidFill>
                          <a:latin typeface="Proxima Nova"/>
                          <a:ea typeface="Proxima Nova"/>
                          <a:cs typeface="Proxima Nova"/>
                          <a:sym typeface="Proxima Nova"/>
                        </a:rPr>
                        <a:t>X</a:t>
                      </a:r>
                      <a:endParaRPr b="1">
                        <a:solidFill>
                          <a:srgbClr val="5AEEEE"/>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F98043"/>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04" name="Google Shape;204;p38"/>
          <p:cNvSpPr txBox="1"/>
          <p:nvPr/>
        </p:nvSpPr>
        <p:spPr>
          <a:xfrm>
            <a:off x="2175325" y="4114775"/>
            <a:ext cx="3645000" cy="69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lang="en" sz="1200">
                <a:solidFill>
                  <a:schemeClr val="lt1"/>
                </a:solidFill>
                <a:latin typeface="Proxima Nova"/>
                <a:ea typeface="Proxima Nova"/>
                <a:cs typeface="Proxima Nova"/>
                <a:sym typeface="Proxima Nova"/>
              </a:rPr>
              <a:t>+1 day = increases by 1 from baseline</a:t>
            </a:r>
            <a:endParaRPr sz="1200">
              <a:solidFill>
                <a:schemeClr val="lt1"/>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000"/>
              <a:buFont typeface="Arial"/>
              <a:buNone/>
            </a:pPr>
            <a:r>
              <a:rPr lang="en" sz="1200">
                <a:solidFill>
                  <a:schemeClr val="lt1"/>
                </a:solidFill>
                <a:latin typeface="Proxima Nova"/>
                <a:ea typeface="Proxima Nova"/>
                <a:cs typeface="Proxima Nova"/>
                <a:sym typeface="Proxima Nova"/>
              </a:rPr>
              <a:t>-1 day = decreases by 1 from baseline</a:t>
            </a:r>
            <a:endParaRPr sz="1200">
              <a:solidFill>
                <a:schemeClr val="lt1"/>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000"/>
              <a:buFont typeface="Arial"/>
              <a:buNone/>
            </a:pPr>
            <a:r>
              <a:rPr lang="en" sz="1200">
                <a:solidFill>
                  <a:srgbClr val="51A2BD"/>
                </a:solidFill>
                <a:latin typeface="Proxima Nova"/>
                <a:ea typeface="Proxima Nova"/>
                <a:cs typeface="Proxima Nova"/>
                <a:sym typeface="Proxima Nova"/>
              </a:rPr>
              <a:t>Juvenile Longfin Smelt </a:t>
            </a:r>
            <a:r>
              <a:rPr b="1" lang="en" sz="1200">
                <a:solidFill>
                  <a:srgbClr val="999999"/>
                </a:solidFill>
                <a:latin typeface="Proxima Nova"/>
                <a:ea typeface="Proxima Nova"/>
                <a:cs typeface="Proxima Nova"/>
                <a:sym typeface="Proxima Nova"/>
              </a:rPr>
              <a:t>I</a:t>
            </a:r>
            <a:r>
              <a:rPr lang="en" sz="1200">
                <a:solidFill>
                  <a:srgbClr val="51A2BD"/>
                </a:solidFill>
                <a:latin typeface="Proxima Nova"/>
                <a:ea typeface="Proxima Nova"/>
                <a:cs typeface="Proxima Nova"/>
                <a:sym typeface="Proxima Nova"/>
              </a:rPr>
              <a:t> </a:t>
            </a:r>
            <a:r>
              <a:rPr lang="en" sz="1200">
                <a:solidFill>
                  <a:srgbClr val="5AEEEE"/>
                </a:solidFill>
                <a:latin typeface="Proxima Nova"/>
                <a:ea typeface="Proxima Nova"/>
                <a:cs typeface="Proxima Nova"/>
                <a:sym typeface="Proxima Nova"/>
              </a:rPr>
              <a:t>Adult Longfin Smelt</a:t>
            </a:r>
            <a:endParaRPr sz="1200">
              <a:solidFill>
                <a:srgbClr val="5AEEEE"/>
              </a:solidFill>
              <a:latin typeface="Proxima Nova"/>
              <a:ea typeface="Proxima Nova"/>
              <a:cs typeface="Proxima Nova"/>
              <a:sym typeface="Proxima Nova"/>
            </a:endParaRPr>
          </a:p>
          <a:p>
            <a:pPr indent="0" lvl="0" marL="0" rtl="0" algn="l">
              <a:spcBef>
                <a:spcPts val="0"/>
              </a:spcBef>
              <a:spcAft>
                <a:spcPts val="0"/>
              </a:spcAft>
              <a:buClr>
                <a:schemeClr val="dk1"/>
              </a:buClr>
              <a:buSzPts val="1000"/>
              <a:buFont typeface="Arial"/>
              <a:buNone/>
            </a:pPr>
            <a:r>
              <a:rPr lang="en" sz="1200">
                <a:solidFill>
                  <a:srgbClr val="EEA622"/>
                </a:solidFill>
                <a:latin typeface="Proxima Nova"/>
                <a:ea typeface="Proxima Nova"/>
                <a:cs typeface="Proxima Nova"/>
                <a:sym typeface="Proxima Nova"/>
              </a:rPr>
              <a:t>Juvenile Chinook Salmon</a:t>
            </a:r>
            <a:r>
              <a:rPr lang="en" sz="1200">
                <a:solidFill>
                  <a:srgbClr val="F98043"/>
                </a:solidFill>
                <a:latin typeface="Proxima Nova"/>
                <a:ea typeface="Proxima Nova"/>
                <a:cs typeface="Proxima Nova"/>
                <a:sym typeface="Proxima Nova"/>
              </a:rPr>
              <a:t> </a:t>
            </a:r>
            <a:r>
              <a:rPr b="1" lang="en" sz="1200">
                <a:solidFill>
                  <a:srgbClr val="999999"/>
                </a:solidFill>
                <a:latin typeface="Proxima Nova"/>
                <a:ea typeface="Proxima Nova"/>
                <a:cs typeface="Proxima Nova"/>
                <a:sym typeface="Proxima Nova"/>
              </a:rPr>
              <a:t>I</a:t>
            </a:r>
            <a:r>
              <a:rPr lang="en" sz="1200">
                <a:solidFill>
                  <a:srgbClr val="51A2BD"/>
                </a:solidFill>
                <a:latin typeface="Proxima Nova"/>
                <a:ea typeface="Proxima Nova"/>
                <a:cs typeface="Proxima Nova"/>
                <a:sym typeface="Proxima Nova"/>
              </a:rPr>
              <a:t> </a:t>
            </a:r>
            <a:r>
              <a:rPr lang="en" sz="1200">
                <a:solidFill>
                  <a:srgbClr val="7ED957"/>
                </a:solidFill>
                <a:latin typeface="Proxima Nova"/>
                <a:ea typeface="Proxima Nova"/>
                <a:cs typeface="Proxima Nova"/>
                <a:sym typeface="Proxima Nova"/>
              </a:rPr>
              <a:t>Juvenile Striped Bass</a:t>
            </a:r>
            <a:endParaRPr sz="1200">
              <a:solidFill>
                <a:srgbClr val="7ED957"/>
              </a:solidFill>
              <a:latin typeface="Proxima Nova"/>
              <a:ea typeface="Proxima Nova"/>
              <a:cs typeface="Proxima Nova"/>
              <a:sym typeface="Proxima Nova"/>
            </a:endParaRPr>
          </a:p>
          <a:p>
            <a:pPr indent="0" lvl="0" marL="0" rtl="0" algn="l">
              <a:spcBef>
                <a:spcPts val="0"/>
              </a:spcBef>
              <a:spcAft>
                <a:spcPts val="0"/>
              </a:spcAft>
              <a:buClr>
                <a:schemeClr val="dk1"/>
              </a:buClr>
              <a:buSzPts val="1000"/>
              <a:buFont typeface="Arial"/>
              <a:buNone/>
            </a:pPr>
            <a:r>
              <a:t/>
            </a:r>
            <a:endParaRPr sz="1200">
              <a:solidFill>
                <a:srgbClr val="7ED957"/>
              </a:solidFill>
              <a:latin typeface="Proxima Nova"/>
              <a:ea typeface="Proxima Nova"/>
              <a:cs typeface="Proxima Nova"/>
              <a:sym typeface="Proxima Nova"/>
            </a:endParaRPr>
          </a:p>
        </p:txBody>
      </p:sp>
      <p:sp>
        <p:nvSpPr>
          <p:cNvPr id="205" name="Google Shape;205;p38"/>
          <p:cNvSpPr txBox="1"/>
          <p:nvPr/>
        </p:nvSpPr>
        <p:spPr>
          <a:xfrm>
            <a:off x="713075" y="4493300"/>
            <a:ext cx="10971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X </a:t>
            </a:r>
            <a:r>
              <a:rPr i="1" lang="en" sz="1000">
                <a:solidFill>
                  <a:schemeClr val="lt1"/>
                </a:solidFill>
                <a:latin typeface="Proxima Nova"/>
                <a:ea typeface="Proxima Nova"/>
                <a:cs typeface="Proxima Nova"/>
                <a:sym typeface="Proxima Nova"/>
              </a:rPr>
              <a:t>* All Others</a:t>
            </a:r>
            <a:endParaRPr sz="1800">
              <a:solidFill>
                <a:schemeClr val="dk2"/>
              </a:solidFill>
            </a:endParaRPr>
          </a:p>
        </p:txBody>
      </p:sp>
      <p:sp>
        <p:nvSpPr>
          <p:cNvPr id="206" name="Google Shape;206;p38"/>
          <p:cNvSpPr txBox="1"/>
          <p:nvPr/>
        </p:nvSpPr>
        <p:spPr>
          <a:xfrm>
            <a:off x="320050" y="4160520"/>
            <a:ext cx="20145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lt1"/>
                </a:solidFill>
                <a:latin typeface="Proxima Nova"/>
                <a:ea typeface="Proxima Nova"/>
                <a:cs typeface="Proxima Nova"/>
                <a:sym typeface="Proxima Nova"/>
              </a:rPr>
              <a:t>SPECIES OF INTEREST</a:t>
            </a:r>
            <a:endParaRPr sz="1600">
              <a:solidFill>
                <a:schemeClr val="dk2"/>
              </a:solidFill>
            </a:endParaRPr>
          </a:p>
        </p:txBody>
      </p:sp>
      <p:sp>
        <p:nvSpPr>
          <p:cNvPr id="207" name="Google Shape;207;p38"/>
          <p:cNvSpPr txBox="1"/>
          <p:nvPr/>
        </p:nvSpPr>
        <p:spPr>
          <a:xfrm>
            <a:off x="3770275" y="813725"/>
            <a:ext cx="55812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lt2"/>
                </a:solidFill>
                <a:latin typeface="Proxima Nova"/>
                <a:ea typeface="Proxima Nova"/>
                <a:cs typeface="Proxima Nova"/>
                <a:sym typeface="Proxima Nova"/>
              </a:rPr>
              <a:t>Average Streak of Consecutive Suitable Days (2019 ONLY)</a:t>
            </a:r>
            <a:endParaRPr i="1">
              <a:solidFill>
                <a:schemeClr val="lt2"/>
              </a:solidFill>
              <a:latin typeface="Proxima Nova"/>
              <a:ea typeface="Proxima Nova"/>
              <a:cs typeface="Proxima Nova"/>
              <a:sym typeface="Proxima Nova"/>
            </a:endParaRPr>
          </a:p>
        </p:txBody>
      </p:sp>
      <p:sp>
        <p:nvSpPr>
          <p:cNvPr id="208" name="Google Shape;208;p38"/>
          <p:cNvSpPr txBox="1"/>
          <p:nvPr/>
        </p:nvSpPr>
        <p:spPr>
          <a:xfrm>
            <a:off x="5820325" y="4114775"/>
            <a:ext cx="29907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+1 day = decreases by 1 from baseline</a:t>
            </a:r>
            <a:endParaRPr sz="12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-1 day = increases by 1 from baseline</a:t>
            </a:r>
            <a:endParaRPr sz="12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200">
                <a:solidFill>
                  <a:srgbClr val="DEE01E"/>
                </a:solidFill>
                <a:latin typeface="Proxima Nova"/>
                <a:ea typeface="Proxima Nova"/>
                <a:cs typeface="Proxima Nova"/>
                <a:sym typeface="Proxima Nova"/>
              </a:rPr>
              <a:t>Largemouth Bass</a:t>
            </a:r>
            <a:endParaRPr sz="1200">
              <a:solidFill>
                <a:srgbClr val="DEE01E"/>
              </a:solidFill>
              <a:latin typeface="Proxima Nova"/>
              <a:ea typeface="Proxima Nova"/>
              <a:cs typeface="Proxima Nova"/>
              <a:sym typeface="Proxima Nova"/>
            </a:endParaRPr>
          </a:p>
          <a:p>
            <a:pPr indent="0" lvl="0" marL="0" rtl="0" algn="l">
              <a:spcBef>
                <a:spcPts val="0"/>
              </a:spcBef>
              <a:spcAft>
                <a:spcPts val="0"/>
              </a:spcAft>
              <a:buNone/>
            </a:pPr>
            <a:r>
              <a:rPr lang="en" sz="1200">
                <a:solidFill>
                  <a:srgbClr val="FF4C79"/>
                </a:solidFill>
                <a:latin typeface="Proxima Nova"/>
                <a:ea typeface="Proxima Nova"/>
                <a:cs typeface="Proxima Nova"/>
                <a:sym typeface="Proxima Nova"/>
              </a:rPr>
              <a:t>Egeria </a:t>
            </a:r>
            <a:r>
              <a:rPr b="1" lang="en" sz="1200">
                <a:solidFill>
                  <a:srgbClr val="999999"/>
                </a:solidFill>
                <a:latin typeface="Proxima Nova"/>
                <a:ea typeface="Proxima Nova"/>
                <a:cs typeface="Proxima Nova"/>
                <a:sym typeface="Proxima Nova"/>
              </a:rPr>
              <a:t>I</a:t>
            </a:r>
            <a:r>
              <a:rPr lang="en" sz="1200">
                <a:solidFill>
                  <a:srgbClr val="51A2BD"/>
                </a:solidFill>
                <a:latin typeface="Proxima Nova"/>
                <a:ea typeface="Proxima Nova"/>
                <a:cs typeface="Proxima Nova"/>
                <a:sym typeface="Proxima Nova"/>
              </a:rPr>
              <a:t> </a:t>
            </a:r>
            <a:r>
              <a:rPr lang="en" sz="1200">
                <a:solidFill>
                  <a:srgbClr val="E263FF"/>
                </a:solidFill>
                <a:latin typeface="Proxima Nova"/>
                <a:ea typeface="Proxima Nova"/>
                <a:cs typeface="Proxima Nova"/>
                <a:sym typeface="Proxima Nova"/>
              </a:rPr>
              <a:t>Overbite Clam</a:t>
            </a:r>
            <a:endParaRPr sz="1200"/>
          </a:p>
        </p:txBody>
      </p:sp>
      <p:sp>
        <p:nvSpPr>
          <p:cNvPr id="209" name="Google Shape;209;p38"/>
          <p:cNvSpPr txBox="1"/>
          <p:nvPr/>
        </p:nvSpPr>
        <p:spPr>
          <a:xfrm>
            <a:off x="2256625" y="481467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6AA84F"/>
                </a:solidFill>
                <a:latin typeface="Proxima Nova"/>
                <a:ea typeface="Proxima Nova"/>
                <a:cs typeface="Proxima Nova"/>
                <a:sym typeface="Proxima Nova"/>
              </a:rPr>
              <a:t>Adult Striped Bass</a:t>
            </a:r>
            <a:endParaRPr sz="1200">
              <a:solidFill>
                <a:srgbClr val="6AA84F"/>
              </a:solidFill>
              <a:latin typeface="Proxima Nova"/>
              <a:ea typeface="Proxima Nova"/>
              <a:cs typeface="Proxima Nova"/>
              <a:sym typeface="Proxima Nov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213" name="Shape 213"/>
        <p:cNvGrpSpPr/>
        <p:nvPr/>
      </p:nvGrpSpPr>
      <p:grpSpPr>
        <a:xfrm>
          <a:off x="0" y="0"/>
          <a:ext cx="0" cy="0"/>
          <a:chOff x="0" y="0"/>
          <a:chExt cx="0" cy="0"/>
        </a:xfrm>
      </p:grpSpPr>
      <p:sp>
        <p:nvSpPr>
          <p:cNvPr id="214" name="Google Shape;214;p39"/>
          <p:cNvSpPr txBox="1"/>
          <p:nvPr>
            <p:ph type="ctrTitle"/>
          </p:nvPr>
        </p:nvSpPr>
        <p:spPr>
          <a:xfrm>
            <a:off x="274325" y="320049"/>
            <a:ext cx="8520600" cy="642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 sz="4000">
                <a:solidFill>
                  <a:srgbClr val="7ED957"/>
                </a:solidFill>
                <a:latin typeface="Hammersmith One"/>
                <a:ea typeface="Hammersmith One"/>
                <a:cs typeface="Hammersmith One"/>
                <a:sym typeface="Hammersmith One"/>
              </a:rPr>
              <a:t>PERFORMANCE</a:t>
            </a:r>
            <a:r>
              <a:rPr lang="en" sz="4000">
                <a:solidFill>
                  <a:srgbClr val="7ED957"/>
                </a:solidFill>
                <a:latin typeface="Hammersmith One"/>
                <a:ea typeface="Hammersmith One"/>
                <a:cs typeface="Hammersmith One"/>
                <a:sym typeface="Hammersmith One"/>
              </a:rPr>
              <a:t>: </a:t>
            </a:r>
            <a:r>
              <a:rPr lang="en" sz="3200">
                <a:solidFill>
                  <a:schemeClr val="lt1"/>
                </a:solidFill>
                <a:latin typeface="Proxima Nova"/>
                <a:ea typeface="Proxima Nova"/>
                <a:cs typeface="Proxima Nova"/>
                <a:sym typeface="Proxima Nova"/>
              </a:rPr>
              <a:t>ALL SPECIES SUITABILITY</a:t>
            </a:r>
            <a:endParaRPr sz="3200">
              <a:solidFill>
                <a:schemeClr val="lt1"/>
              </a:solidFill>
              <a:latin typeface="Proxima Nova"/>
              <a:ea typeface="Proxima Nova"/>
              <a:cs typeface="Proxima Nova"/>
              <a:sym typeface="Proxima Nova"/>
            </a:endParaRPr>
          </a:p>
        </p:txBody>
      </p:sp>
      <p:graphicFrame>
        <p:nvGraphicFramePr>
          <p:cNvPr id="215" name="Google Shape;215;p39"/>
          <p:cNvGraphicFramePr/>
          <p:nvPr/>
        </p:nvGraphicFramePr>
        <p:xfrm>
          <a:off x="320040" y="1188720"/>
          <a:ext cx="3000000" cy="3000000"/>
        </p:xfrm>
        <a:graphic>
          <a:graphicData uri="http://schemas.openxmlformats.org/drawingml/2006/table">
            <a:tbl>
              <a:tblPr>
                <a:noFill/>
                <a:tableStyleId>{85CED069-D96A-4F69-AB26-FEDBC44AE582}</a:tableStyleId>
              </a:tblPr>
              <a:tblGrid>
                <a:gridCol w="1654250"/>
                <a:gridCol w="654750"/>
                <a:gridCol w="567875"/>
                <a:gridCol w="573350"/>
                <a:gridCol w="441450"/>
                <a:gridCol w="747075"/>
                <a:gridCol w="610100"/>
                <a:gridCol w="641875"/>
                <a:gridCol w="641875"/>
                <a:gridCol w="641875"/>
                <a:gridCol w="641875"/>
                <a:gridCol w="641875"/>
              </a:tblGrid>
              <a:tr h="408450">
                <a:tc>
                  <a:txBody>
                    <a:bodyPr/>
                    <a:lstStyle/>
                    <a:p>
                      <a:pPr indent="0" lvl="0" marL="0" rtl="0" algn="r">
                        <a:spcBef>
                          <a:spcPts val="0"/>
                        </a:spcBef>
                        <a:spcAft>
                          <a:spcPts val="0"/>
                        </a:spcAft>
                        <a:buNone/>
                      </a:pPr>
                      <a:r>
                        <a:rPr lang="en" sz="1200">
                          <a:solidFill>
                            <a:schemeClr val="lt1"/>
                          </a:solidFill>
                          <a:latin typeface="Proxima Nova"/>
                          <a:ea typeface="Proxima Nova"/>
                          <a:cs typeface="Proxima Nova"/>
                          <a:sym typeface="Proxima Nova"/>
                        </a:rPr>
                        <a:t>RANK</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0</a:t>
                      </a:r>
                      <a:endParaRPr sz="1200">
                        <a:solidFill>
                          <a:schemeClr val="lt1"/>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1</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2</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3</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4</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5</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6</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7</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8</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9</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10</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r>
              <a:tr h="40845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Business As Usual</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0845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Eco Machine</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X</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FFFF00"/>
                          </a:solidFill>
                          <a:latin typeface="Proxima Nova"/>
                          <a:ea typeface="Proxima Nova"/>
                          <a:cs typeface="Proxima Nova"/>
                          <a:sym typeface="Proxima Nova"/>
                        </a:rPr>
                        <a:t>0</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FF4C79"/>
                          </a:solidFill>
                          <a:latin typeface="Proxima Nova"/>
                          <a:ea typeface="Proxima Nova"/>
                          <a:cs typeface="Proxima Nova"/>
                          <a:sym typeface="Proxima Nova"/>
                        </a:rPr>
                        <a:t>0</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38225">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New Green Watershed</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FFFF00"/>
                          </a:solidFill>
                          <a:latin typeface="Proxima Nova"/>
                          <a:ea typeface="Proxima Nova"/>
                          <a:cs typeface="Proxima Nova"/>
                          <a:sym typeface="Proxima Nova"/>
                        </a:rPr>
                        <a:t>0</a:t>
                      </a:r>
                      <a:r>
                        <a:rPr b="1" lang="en">
                          <a:solidFill>
                            <a:srgbClr val="FF4C79"/>
                          </a:solidFill>
                          <a:latin typeface="Proxima Nova"/>
                          <a:ea typeface="Proxima Nova"/>
                          <a:cs typeface="Proxima Nova"/>
                          <a:sym typeface="Proxima Nova"/>
                        </a:rPr>
                        <a:t>0</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0845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Bolster &amp; Fortify</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rgbClr val="38761D"/>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7ED957"/>
                          </a:solidFill>
                          <a:latin typeface="Proxima Nova"/>
                          <a:ea typeface="Proxima Nova"/>
                          <a:cs typeface="Proxima Nova"/>
                          <a:sym typeface="Proxima Nova"/>
                        </a:rPr>
                        <a:t>X</a:t>
                      </a:r>
                      <a:endParaRPr>
                        <a:solidFill>
                          <a:srgbClr val="7ED957"/>
                        </a:solidFill>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45575">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Calling On Reserves</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Clr>
                          <a:schemeClr val="dk1"/>
                        </a:buClr>
                        <a:buSzPts val="1100"/>
                        <a:buFont typeface="Arial"/>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a:solidFill>
                          <a:srgbClr val="7ED957"/>
                        </a:solidFill>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F98043"/>
                          </a:solidFill>
                          <a:latin typeface="Proxima Nova"/>
                          <a:ea typeface="Proxima Nova"/>
                          <a:cs typeface="Proxima Nova"/>
                          <a:sym typeface="Proxima Nova"/>
                        </a:rPr>
                        <a:t>X</a:t>
                      </a:r>
                      <a:r>
                        <a:rPr b="1" lang="en">
                          <a:solidFill>
                            <a:srgbClr val="7ED957"/>
                          </a:solidFill>
                          <a:latin typeface="Proxima Nova"/>
                          <a:ea typeface="Proxima Nova"/>
                          <a:cs typeface="Proxima Nova"/>
                          <a:sym typeface="Proxima Nova"/>
                        </a:rPr>
                        <a:t>X</a:t>
                      </a:r>
                      <a:r>
                        <a:rPr b="1" lang="en">
                          <a:solidFill>
                            <a:srgbClr val="FF4C79"/>
                          </a:solidFill>
                          <a:latin typeface="Proxima Nova"/>
                          <a:ea typeface="Proxima Nova"/>
                          <a:cs typeface="Proxima Nova"/>
                          <a:sym typeface="Proxima Nova"/>
                        </a:rPr>
                        <a:t>0</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5AEEEE"/>
                          </a:solidFill>
                          <a:latin typeface="Proxima Nova"/>
                          <a:ea typeface="Proxima Nova"/>
                          <a:cs typeface="Proxima Nova"/>
                          <a:sym typeface="Proxima Nova"/>
                        </a:rPr>
                        <a:t>X</a:t>
                      </a:r>
                      <a:r>
                        <a:rPr b="1" lang="en">
                          <a:solidFill>
                            <a:srgbClr val="38761D"/>
                          </a:solidFill>
                          <a:latin typeface="Proxima Nova"/>
                          <a:ea typeface="Proxima Nova"/>
                          <a:cs typeface="Proxima Nova"/>
                          <a:sym typeface="Proxima Nova"/>
                        </a:rPr>
                        <a:t>X</a:t>
                      </a:r>
                      <a:r>
                        <a:rPr b="1" lang="en">
                          <a:solidFill>
                            <a:srgbClr val="FFFF00"/>
                          </a:solidFill>
                          <a:latin typeface="Proxima Nova"/>
                          <a:ea typeface="Proxima Nova"/>
                          <a:cs typeface="Proxima Nova"/>
                          <a:sym typeface="Proxima Nova"/>
                        </a:rPr>
                        <a:t>0</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rgbClr val="E263FF"/>
                          </a:solidFill>
                          <a:latin typeface="Proxima Nova"/>
                          <a:ea typeface="Proxima Nova"/>
                          <a:cs typeface="Proxima Nova"/>
                          <a:sym typeface="Proxima Nova"/>
                        </a:rPr>
                        <a:t>0</a:t>
                      </a:r>
                      <a:endParaRPr b="1">
                        <a:solidFill>
                          <a:srgbClr val="E263FF"/>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16" name="Google Shape;216;p39"/>
          <p:cNvSpPr txBox="1"/>
          <p:nvPr/>
        </p:nvSpPr>
        <p:spPr>
          <a:xfrm>
            <a:off x="2175325" y="4114775"/>
            <a:ext cx="3645000" cy="69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lang="en" sz="1200">
                <a:solidFill>
                  <a:schemeClr val="lt1"/>
                </a:solidFill>
                <a:latin typeface="Proxima Nova"/>
                <a:ea typeface="Proxima Nova"/>
                <a:cs typeface="Proxima Nova"/>
                <a:sym typeface="Proxima Nova"/>
              </a:rPr>
              <a:t>+1 day = increases by 1 from baseline</a:t>
            </a:r>
            <a:endParaRPr sz="1200">
              <a:solidFill>
                <a:schemeClr val="lt1"/>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000"/>
              <a:buFont typeface="Arial"/>
              <a:buNone/>
            </a:pPr>
            <a:r>
              <a:rPr lang="en" sz="1200">
                <a:solidFill>
                  <a:schemeClr val="lt1"/>
                </a:solidFill>
                <a:latin typeface="Proxima Nova"/>
                <a:ea typeface="Proxima Nova"/>
                <a:cs typeface="Proxima Nova"/>
                <a:sym typeface="Proxima Nova"/>
              </a:rPr>
              <a:t>-1 day = decreases by 1 from baseline</a:t>
            </a:r>
            <a:endParaRPr sz="1200">
              <a:solidFill>
                <a:schemeClr val="lt1"/>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000"/>
              <a:buFont typeface="Arial"/>
              <a:buNone/>
            </a:pPr>
            <a:r>
              <a:rPr lang="en" sz="1200">
                <a:solidFill>
                  <a:srgbClr val="51A2BD"/>
                </a:solidFill>
                <a:latin typeface="Proxima Nova"/>
                <a:ea typeface="Proxima Nova"/>
                <a:cs typeface="Proxima Nova"/>
                <a:sym typeface="Proxima Nova"/>
              </a:rPr>
              <a:t>Juvenile Longfin Smelt </a:t>
            </a:r>
            <a:r>
              <a:rPr b="1" lang="en" sz="1200">
                <a:solidFill>
                  <a:srgbClr val="999999"/>
                </a:solidFill>
                <a:latin typeface="Proxima Nova"/>
                <a:ea typeface="Proxima Nova"/>
                <a:cs typeface="Proxima Nova"/>
                <a:sym typeface="Proxima Nova"/>
              </a:rPr>
              <a:t>I</a:t>
            </a:r>
            <a:r>
              <a:rPr lang="en" sz="1200">
                <a:solidFill>
                  <a:srgbClr val="51A2BD"/>
                </a:solidFill>
                <a:latin typeface="Proxima Nova"/>
                <a:ea typeface="Proxima Nova"/>
                <a:cs typeface="Proxima Nova"/>
                <a:sym typeface="Proxima Nova"/>
              </a:rPr>
              <a:t> </a:t>
            </a:r>
            <a:r>
              <a:rPr lang="en" sz="1200">
                <a:solidFill>
                  <a:srgbClr val="5AEEEE"/>
                </a:solidFill>
                <a:latin typeface="Proxima Nova"/>
                <a:ea typeface="Proxima Nova"/>
                <a:cs typeface="Proxima Nova"/>
                <a:sym typeface="Proxima Nova"/>
              </a:rPr>
              <a:t>Adult Longfin Smelt</a:t>
            </a:r>
            <a:endParaRPr sz="1200">
              <a:solidFill>
                <a:srgbClr val="5AEEEE"/>
              </a:solidFill>
              <a:latin typeface="Proxima Nova"/>
              <a:ea typeface="Proxima Nova"/>
              <a:cs typeface="Proxima Nova"/>
              <a:sym typeface="Proxima Nova"/>
            </a:endParaRPr>
          </a:p>
          <a:p>
            <a:pPr indent="0" lvl="0" marL="0" rtl="0" algn="l">
              <a:spcBef>
                <a:spcPts val="0"/>
              </a:spcBef>
              <a:spcAft>
                <a:spcPts val="0"/>
              </a:spcAft>
              <a:buClr>
                <a:schemeClr val="dk1"/>
              </a:buClr>
              <a:buSzPts val="1000"/>
              <a:buFont typeface="Arial"/>
              <a:buNone/>
            </a:pPr>
            <a:r>
              <a:rPr lang="en" sz="1200">
                <a:solidFill>
                  <a:srgbClr val="EEA622"/>
                </a:solidFill>
                <a:latin typeface="Proxima Nova"/>
                <a:ea typeface="Proxima Nova"/>
                <a:cs typeface="Proxima Nova"/>
                <a:sym typeface="Proxima Nova"/>
              </a:rPr>
              <a:t>Juvenile Chinook Salmon</a:t>
            </a:r>
            <a:r>
              <a:rPr lang="en" sz="1200">
                <a:solidFill>
                  <a:srgbClr val="F98043"/>
                </a:solidFill>
                <a:latin typeface="Proxima Nova"/>
                <a:ea typeface="Proxima Nova"/>
                <a:cs typeface="Proxima Nova"/>
                <a:sym typeface="Proxima Nova"/>
              </a:rPr>
              <a:t> </a:t>
            </a:r>
            <a:r>
              <a:rPr b="1" lang="en" sz="1200">
                <a:solidFill>
                  <a:srgbClr val="999999"/>
                </a:solidFill>
                <a:latin typeface="Proxima Nova"/>
                <a:ea typeface="Proxima Nova"/>
                <a:cs typeface="Proxima Nova"/>
                <a:sym typeface="Proxima Nova"/>
              </a:rPr>
              <a:t>I</a:t>
            </a:r>
            <a:r>
              <a:rPr lang="en" sz="1200">
                <a:solidFill>
                  <a:srgbClr val="51A2BD"/>
                </a:solidFill>
                <a:latin typeface="Proxima Nova"/>
                <a:ea typeface="Proxima Nova"/>
                <a:cs typeface="Proxima Nova"/>
                <a:sym typeface="Proxima Nova"/>
              </a:rPr>
              <a:t> </a:t>
            </a:r>
            <a:r>
              <a:rPr lang="en" sz="1200">
                <a:solidFill>
                  <a:srgbClr val="7ED957"/>
                </a:solidFill>
                <a:latin typeface="Proxima Nova"/>
                <a:ea typeface="Proxima Nova"/>
                <a:cs typeface="Proxima Nova"/>
                <a:sym typeface="Proxima Nova"/>
              </a:rPr>
              <a:t>Juvenile Striped Bass</a:t>
            </a:r>
            <a:endParaRPr sz="1200">
              <a:solidFill>
                <a:srgbClr val="7ED957"/>
              </a:solidFill>
              <a:latin typeface="Proxima Nova"/>
              <a:ea typeface="Proxima Nova"/>
              <a:cs typeface="Proxima Nova"/>
              <a:sym typeface="Proxima Nova"/>
            </a:endParaRPr>
          </a:p>
          <a:p>
            <a:pPr indent="0" lvl="0" marL="0" rtl="0" algn="l">
              <a:spcBef>
                <a:spcPts val="0"/>
              </a:spcBef>
              <a:spcAft>
                <a:spcPts val="0"/>
              </a:spcAft>
              <a:buClr>
                <a:schemeClr val="dk1"/>
              </a:buClr>
              <a:buSzPts val="1000"/>
              <a:buFont typeface="Arial"/>
              <a:buNone/>
            </a:pPr>
            <a:r>
              <a:t/>
            </a:r>
            <a:endParaRPr sz="1200">
              <a:solidFill>
                <a:srgbClr val="7ED957"/>
              </a:solidFill>
              <a:latin typeface="Proxima Nova"/>
              <a:ea typeface="Proxima Nova"/>
              <a:cs typeface="Proxima Nova"/>
              <a:sym typeface="Proxima Nova"/>
            </a:endParaRPr>
          </a:p>
        </p:txBody>
      </p:sp>
      <p:sp>
        <p:nvSpPr>
          <p:cNvPr id="217" name="Google Shape;217;p39"/>
          <p:cNvSpPr txBox="1"/>
          <p:nvPr/>
        </p:nvSpPr>
        <p:spPr>
          <a:xfrm>
            <a:off x="713075" y="4493300"/>
            <a:ext cx="10971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X </a:t>
            </a:r>
            <a:r>
              <a:rPr i="1" lang="en" sz="1000">
                <a:solidFill>
                  <a:schemeClr val="lt1"/>
                </a:solidFill>
                <a:latin typeface="Proxima Nova"/>
                <a:ea typeface="Proxima Nova"/>
                <a:cs typeface="Proxima Nova"/>
                <a:sym typeface="Proxima Nova"/>
              </a:rPr>
              <a:t>* All Others</a:t>
            </a:r>
            <a:endParaRPr sz="1800">
              <a:solidFill>
                <a:schemeClr val="dk2"/>
              </a:solidFill>
            </a:endParaRPr>
          </a:p>
        </p:txBody>
      </p:sp>
      <p:sp>
        <p:nvSpPr>
          <p:cNvPr id="218" name="Google Shape;218;p39"/>
          <p:cNvSpPr txBox="1"/>
          <p:nvPr/>
        </p:nvSpPr>
        <p:spPr>
          <a:xfrm>
            <a:off x="320050" y="4160520"/>
            <a:ext cx="20145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lt1"/>
                </a:solidFill>
                <a:latin typeface="Proxima Nova"/>
                <a:ea typeface="Proxima Nova"/>
                <a:cs typeface="Proxima Nova"/>
                <a:sym typeface="Proxima Nova"/>
              </a:rPr>
              <a:t>SPECIES OF INTEREST</a:t>
            </a:r>
            <a:endParaRPr sz="1600">
              <a:solidFill>
                <a:schemeClr val="dk2"/>
              </a:solidFill>
            </a:endParaRPr>
          </a:p>
        </p:txBody>
      </p:sp>
      <p:sp>
        <p:nvSpPr>
          <p:cNvPr id="219" name="Google Shape;219;p39"/>
          <p:cNvSpPr txBox="1"/>
          <p:nvPr/>
        </p:nvSpPr>
        <p:spPr>
          <a:xfrm>
            <a:off x="3770275" y="813725"/>
            <a:ext cx="55812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lt2"/>
                </a:solidFill>
                <a:latin typeface="Proxima Nova"/>
                <a:ea typeface="Proxima Nova"/>
                <a:cs typeface="Proxima Nova"/>
                <a:sym typeface="Proxima Nova"/>
              </a:rPr>
              <a:t>Average Streak of Consecutive Suitable Days (2020 ONLY)</a:t>
            </a:r>
            <a:endParaRPr i="1">
              <a:solidFill>
                <a:schemeClr val="lt2"/>
              </a:solidFill>
              <a:latin typeface="Proxima Nova"/>
              <a:ea typeface="Proxima Nova"/>
              <a:cs typeface="Proxima Nova"/>
              <a:sym typeface="Proxima Nova"/>
            </a:endParaRPr>
          </a:p>
        </p:txBody>
      </p:sp>
      <p:sp>
        <p:nvSpPr>
          <p:cNvPr id="220" name="Google Shape;220;p39"/>
          <p:cNvSpPr txBox="1"/>
          <p:nvPr/>
        </p:nvSpPr>
        <p:spPr>
          <a:xfrm>
            <a:off x="5820325" y="4114775"/>
            <a:ext cx="29907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+1 day = decreases by 1 from baseline</a:t>
            </a:r>
            <a:endParaRPr sz="12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-1 day = increases by 1 from baseline</a:t>
            </a:r>
            <a:endParaRPr sz="12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200">
                <a:solidFill>
                  <a:srgbClr val="DEE01E"/>
                </a:solidFill>
                <a:latin typeface="Proxima Nova"/>
                <a:ea typeface="Proxima Nova"/>
                <a:cs typeface="Proxima Nova"/>
                <a:sym typeface="Proxima Nova"/>
              </a:rPr>
              <a:t>Largemouth Bass</a:t>
            </a:r>
            <a:endParaRPr sz="1200">
              <a:solidFill>
                <a:srgbClr val="DEE01E"/>
              </a:solidFill>
              <a:latin typeface="Proxima Nova"/>
              <a:ea typeface="Proxima Nova"/>
              <a:cs typeface="Proxima Nova"/>
              <a:sym typeface="Proxima Nova"/>
            </a:endParaRPr>
          </a:p>
          <a:p>
            <a:pPr indent="0" lvl="0" marL="0" rtl="0" algn="l">
              <a:spcBef>
                <a:spcPts val="0"/>
              </a:spcBef>
              <a:spcAft>
                <a:spcPts val="0"/>
              </a:spcAft>
              <a:buNone/>
            </a:pPr>
            <a:r>
              <a:rPr lang="en" sz="1200">
                <a:solidFill>
                  <a:srgbClr val="FF4C79"/>
                </a:solidFill>
                <a:latin typeface="Proxima Nova"/>
                <a:ea typeface="Proxima Nova"/>
                <a:cs typeface="Proxima Nova"/>
                <a:sym typeface="Proxima Nova"/>
              </a:rPr>
              <a:t>Egeria </a:t>
            </a:r>
            <a:r>
              <a:rPr b="1" lang="en" sz="1200">
                <a:solidFill>
                  <a:srgbClr val="999999"/>
                </a:solidFill>
                <a:latin typeface="Proxima Nova"/>
                <a:ea typeface="Proxima Nova"/>
                <a:cs typeface="Proxima Nova"/>
                <a:sym typeface="Proxima Nova"/>
              </a:rPr>
              <a:t>I</a:t>
            </a:r>
            <a:r>
              <a:rPr lang="en" sz="1200">
                <a:solidFill>
                  <a:srgbClr val="51A2BD"/>
                </a:solidFill>
                <a:latin typeface="Proxima Nova"/>
                <a:ea typeface="Proxima Nova"/>
                <a:cs typeface="Proxima Nova"/>
                <a:sym typeface="Proxima Nova"/>
              </a:rPr>
              <a:t> </a:t>
            </a:r>
            <a:r>
              <a:rPr lang="en" sz="1200">
                <a:solidFill>
                  <a:srgbClr val="E263FF"/>
                </a:solidFill>
                <a:latin typeface="Proxima Nova"/>
                <a:ea typeface="Proxima Nova"/>
                <a:cs typeface="Proxima Nova"/>
                <a:sym typeface="Proxima Nova"/>
              </a:rPr>
              <a:t>Overbite Clam</a:t>
            </a:r>
            <a:endParaRPr sz="1200"/>
          </a:p>
        </p:txBody>
      </p:sp>
      <p:sp>
        <p:nvSpPr>
          <p:cNvPr id="221" name="Google Shape;221;p39"/>
          <p:cNvSpPr txBox="1"/>
          <p:nvPr/>
        </p:nvSpPr>
        <p:spPr>
          <a:xfrm>
            <a:off x="2256625" y="481467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6AA84F"/>
                </a:solidFill>
                <a:latin typeface="Proxima Nova"/>
                <a:ea typeface="Proxima Nova"/>
                <a:cs typeface="Proxima Nova"/>
                <a:sym typeface="Proxima Nova"/>
              </a:rPr>
              <a:t>Adult Striped Bass</a:t>
            </a:r>
            <a:endParaRPr sz="1200">
              <a:solidFill>
                <a:srgbClr val="6AA84F"/>
              </a:solidFill>
              <a:latin typeface="Proxima Nova"/>
              <a:ea typeface="Proxima Nova"/>
              <a:cs typeface="Proxima Nova"/>
              <a:sym typeface="Proxima Nov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225" name="Shape 225"/>
        <p:cNvGrpSpPr/>
        <p:nvPr/>
      </p:nvGrpSpPr>
      <p:grpSpPr>
        <a:xfrm>
          <a:off x="0" y="0"/>
          <a:ext cx="0" cy="0"/>
          <a:chOff x="0" y="0"/>
          <a:chExt cx="0" cy="0"/>
        </a:xfrm>
      </p:grpSpPr>
      <p:sp>
        <p:nvSpPr>
          <p:cNvPr id="226" name="Google Shape;226;p40"/>
          <p:cNvSpPr txBox="1"/>
          <p:nvPr/>
        </p:nvSpPr>
        <p:spPr>
          <a:xfrm>
            <a:off x="320050" y="4434840"/>
            <a:ext cx="8627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t/>
            </a:r>
            <a:endParaRPr i="1" sz="1000">
              <a:solidFill>
                <a:schemeClr val="lt1"/>
              </a:solidFill>
              <a:latin typeface="Proxima Nova"/>
              <a:ea typeface="Proxima Nova"/>
              <a:cs typeface="Proxima Nova"/>
              <a:sym typeface="Proxima Nova"/>
            </a:endParaRPr>
          </a:p>
        </p:txBody>
      </p:sp>
      <p:sp>
        <p:nvSpPr>
          <p:cNvPr id="227" name="Google Shape;227;p40"/>
          <p:cNvSpPr txBox="1"/>
          <p:nvPr/>
        </p:nvSpPr>
        <p:spPr>
          <a:xfrm>
            <a:off x="0" y="0"/>
            <a:ext cx="30000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7ED957"/>
                </a:solidFill>
                <a:latin typeface="Hammersmith One"/>
                <a:ea typeface="Hammersmith One"/>
                <a:cs typeface="Hammersmith One"/>
                <a:sym typeface="Hammersmith One"/>
              </a:rPr>
              <a:t>Raw Data</a:t>
            </a:r>
            <a:r>
              <a:rPr lang="en" sz="4000">
                <a:solidFill>
                  <a:srgbClr val="7ED957"/>
                </a:solidFill>
                <a:latin typeface="Hammersmith One"/>
                <a:ea typeface="Hammersmith One"/>
                <a:cs typeface="Hammersmith One"/>
                <a:sym typeface="Hammersmith One"/>
              </a:rPr>
              <a:t>:</a:t>
            </a:r>
            <a:endParaRPr sz="4000">
              <a:solidFill>
                <a:srgbClr val="7ED957"/>
              </a:solidFill>
              <a:latin typeface="Hammersmith One"/>
              <a:ea typeface="Hammersmith One"/>
              <a:cs typeface="Hammersmith One"/>
              <a:sym typeface="Hammersmith One"/>
            </a:endParaRPr>
          </a:p>
          <a:p>
            <a:pPr indent="0" lvl="0" marL="0" rtl="0" algn="l">
              <a:spcBef>
                <a:spcPts val="0"/>
              </a:spcBef>
              <a:spcAft>
                <a:spcPts val="0"/>
              </a:spcAft>
              <a:buNone/>
            </a:pPr>
            <a:r>
              <a:rPr lang="en" sz="4000">
                <a:solidFill>
                  <a:srgbClr val="7ED957"/>
                </a:solidFill>
                <a:latin typeface="Hammersmith One"/>
                <a:ea typeface="Hammersmith One"/>
                <a:cs typeface="Hammersmith One"/>
                <a:sym typeface="Hammersmith One"/>
              </a:rPr>
              <a:t>Salinity</a:t>
            </a:r>
            <a:endParaRPr sz="4000">
              <a:solidFill>
                <a:srgbClr val="7ED957"/>
              </a:solidFill>
              <a:latin typeface="Hammersmith One"/>
              <a:ea typeface="Hammersmith One"/>
              <a:cs typeface="Hammersmith One"/>
              <a:sym typeface="Hammersmith One"/>
            </a:endParaRPr>
          </a:p>
        </p:txBody>
      </p:sp>
      <p:sp>
        <p:nvSpPr>
          <p:cNvPr id="228" name="Google Shape;228;p40"/>
          <p:cNvSpPr txBox="1"/>
          <p:nvPr/>
        </p:nvSpPr>
        <p:spPr>
          <a:xfrm>
            <a:off x="117225" y="1450725"/>
            <a:ext cx="2625900" cy="35709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Char char="●"/>
            </a:pPr>
            <a:r>
              <a:rPr lang="en" sz="2000">
                <a:solidFill>
                  <a:schemeClr val="lt1"/>
                </a:solidFill>
              </a:rPr>
              <a:t>February through June</a:t>
            </a:r>
            <a:endParaRPr sz="2000">
              <a:solidFill>
                <a:schemeClr val="lt1"/>
              </a:solidFill>
            </a:endParaRPr>
          </a:p>
          <a:p>
            <a:pPr indent="-355600" lvl="0" marL="457200" rtl="0" algn="l">
              <a:spcBef>
                <a:spcPts val="0"/>
              </a:spcBef>
              <a:spcAft>
                <a:spcPts val="0"/>
              </a:spcAft>
              <a:buClr>
                <a:schemeClr val="lt1"/>
              </a:buClr>
              <a:buSzPts val="2000"/>
              <a:buChar char="●"/>
            </a:pPr>
            <a:r>
              <a:rPr lang="en" sz="2000">
                <a:solidFill>
                  <a:schemeClr val="lt1"/>
                </a:solidFill>
              </a:rPr>
              <a:t>Seasonal variation</a:t>
            </a:r>
            <a:endParaRPr sz="2000">
              <a:solidFill>
                <a:schemeClr val="lt1"/>
              </a:solidFill>
            </a:endParaRPr>
          </a:p>
          <a:p>
            <a:pPr indent="-355600" lvl="0" marL="457200" rtl="0" algn="l">
              <a:spcBef>
                <a:spcPts val="0"/>
              </a:spcBef>
              <a:spcAft>
                <a:spcPts val="0"/>
              </a:spcAft>
              <a:buClr>
                <a:schemeClr val="lt1"/>
              </a:buClr>
              <a:buSzPts val="2000"/>
              <a:buChar char="●"/>
            </a:pPr>
            <a:r>
              <a:rPr lang="en" sz="2000">
                <a:solidFill>
                  <a:schemeClr val="lt1"/>
                </a:solidFill>
              </a:rPr>
              <a:t>Calling on Reserves averages saltier in the San Pablo Bay in 2019, and in San Pablo and Suisun in 2020</a:t>
            </a:r>
            <a:endParaRPr sz="2000">
              <a:solidFill>
                <a:schemeClr val="lt1"/>
              </a:solidFill>
            </a:endParaRPr>
          </a:p>
        </p:txBody>
      </p:sp>
      <p:sp>
        <p:nvSpPr>
          <p:cNvPr id="229" name="Google Shape;229;p40"/>
          <p:cNvSpPr txBox="1"/>
          <p:nvPr/>
        </p:nvSpPr>
        <p:spPr>
          <a:xfrm>
            <a:off x="5633175" y="1904175"/>
            <a:ext cx="347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230" name="Google Shape;230;p40"/>
          <p:cNvSpPr/>
          <p:nvPr/>
        </p:nvSpPr>
        <p:spPr>
          <a:xfrm>
            <a:off x="5623250" y="1943850"/>
            <a:ext cx="347100" cy="1200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40"/>
          <p:cNvSpPr/>
          <p:nvPr/>
        </p:nvSpPr>
        <p:spPr>
          <a:xfrm>
            <a:off x="4143038" y="901850"/>
            <a:ext cx="347100" cy="1200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2" name="Google Shape;232;p40" title="salinity_suisunspb.png"/>
          <p:cNvPicPr preferRelativeResize="0"/>
          <p:nvPr/>
        </p:nvPicPr>
        <p:blipFill>
          <a:blip r:embed="rId3">
            <a:alphaModFix/>
          </a:blip>
          <a:stretch>
            <a:fillRect/>
          </a:stretch>
        </p:blipFill>
        <p:spPr>
          <a:xfrm>
            <a:off x="2833025" y="522725"/>
            <a:ext cx="6310973" cy="3787200"/>
          </a:xfrm>
          <a:prstGeom prst="rect">
            <a:avLst/>
          </a:prstGeom>
          <a:noFill/>
          <a:ln>
            <a:noFill/>
          </a:ln>
        </p:spPr>
      </p:pic>
      <p:sp>
        <p:nvSpPr>
          <p:cNvPr id="233" name="Google Shape;233;p40"/>
          <p:cNvSpPr/>
          <p:nvPr/>
        </p:nvSpPr>
        <p:spPr>
          <a:xfrm>
            <a:off x="4143875" y="890575"/>
            <a:ext cx="654300" cy="3144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40"/>
          <p:cNvSpPr/>
          <p:nvPr/>
        </p:nvSpPr>
        <p:spPr>
          <a:xfrm>
            <a:off x="6913475" y="971700"/>
            <a:ext cx="654300" cy="3144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238" name="Shape 238"/>
        <p:cNvGrpSpPr/>
        <p:nvPr/>
      </p:nvGrpSpPr>
      <p:grpSpPr>
        <a:xfrm>
          <a:off x="0" y="0"/>
          <a:ext cx="0" cy="0"/>
          <a:chOff x="0" y="0"/>
          <a:chExt cx="0" cy="0"/>
        </a:xfrm>
      </p:grpSpPr>
      <p:sp>
        <p:nvSpPr>
          <p:cNvPr id="239" name="Google Shape;239;p41"/>
          <p:cNvSpPr txBox="1"/>
          <p:nvPr/>
        </p:nvSpPr>
        <p:spPr>
          <a:xfrm>
            <a:off x="320050" y="4434840"/>
            <a:ext cx="8627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t/>
            </a:r>
            <a:endParaRPr i="1" sz="1000">
              <a:solidFill>
                <a:schemeClr val="lt1"/>
              </a:solidFill>
              <a:latin typeface="Proxima Nova"/>
              <a:ea typeface="Proxima Nova"/>
              <a:cs typeface="Proxima Nova"/>
              <a:sym typeface="Proxima Nova"/>
            </a:endParaRPr>
          </a:p>
        </p:txBody>
      </p:sp>
      <p:pic>
        <p:nvPicPr>
          <p:cNvPr id="240" name="Google Shape;240;p41"/>
          <p:cNvPicPr preferRelativeResize="0"/>
          <p:nvPr/>
        </p:nvPicPr>
        <p:blipFill>
          <a:blip r:embed="rId3">
            <a:alphaModFix/>
          </a:blip>
          <a:stretch>
            <a:fillRect/>
          </a:stretch>
        </p:blipFill>
        <p:spPr>
          <a:xfrm>
            <a:off x="3200400" y="95250"/>
            <a:ext cx="5943600" cy="4953000"/>
          </a:xfrm>
          <a:prstGeom prst="rect">
            <a:avLst/>
          </a:prstGeom>
          <a:noFill/>
          <a:ln>
            <a:noFill/>
          </a:ln>
        </p:spPr>
      </p:pic>
      <p:sp>
        <p:nvSpPr>
          <p:cNvPr id="241" name="Google Shape;241;p41"/>
          <p:cNvSpPr txBox="1"/>
          <p:nvPr/>
        </p:nvSpPr>
        <p:spPr>
          <a:xfrm>
            <a:off x="0" y="0"/>
            <a:ext cx="32004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000">
                <a:solidFill>
                  <a:srgbClr val="7ED957"/>
                </a:solidFill>
                <a:latin typeface="Proxima Nova"/>
                <a:ea typeface="Proxima Nova"/>
                <a:cs typeface="Proxima Nova"/>
                <a:sym typeface="Proxima Nova"/>
              </a:rPr>
              <a:t>Raw Data:</a:t>
            </a:r>
            <a:endParaRPr b="1" sz="4000">
              <a:solidFill>
                <a:srgbClr val="7ED957"/>
              </a:solidFill>
              <a:latin typeface="Proxima Nova"/>
              <a:ea typeface="Proxima Nova"/>
              <a:cs typeface="Proxima Nova"/>
              <a:sym typeface="Proxima Nova"/>
            </a:endParaRPr>
          </a:p>
          <a:p>
            <a:pPr indent="0" lvl="0" marL="0" rtl="0" algn="l">
              <a:spcBef>
                <a:spcPts val="0"/>
              </a:spcBef>
              <a:spcAft>
                <a:spcPts val="0"/>
              </a:spcAft>
              <a:buNone/>
            </a:pPr>
            <a:r>
              <a:rPr b="1" lang="en" sz="4000">
                <a:solidFill>
                  <a:srgbClr val="7ED957"/>
                </a:solidFill>
                <a:latin typeface="Proxima Nova"/>
                <a:ea typeface="Proxima Nova"/>
                <a:cs typeface="Proxima Nova"/>
                <a:sym typeface="Proxima Nova"/>
              </a:rPr>
              <a:t>Temperature</a:t>
            </a:r>
            <a:endParaRPr b="1">
              <a:latin typeface="Proxima Nova"/>
              <a:ea typeface="Proxima Nova"/>
              <a:cs typeface="Proxima Nova"/>
              <a:sym typeface="Proxima Nova"/>
            </a:endParaRPr>
          </a:p>
        </p:txBody>
      </p:sp>
      <p:sp>
        <p:nvSpPr>
          <p:cNvPr id="242" name="Google Shape;242;p41"/>
          <p:cNvSpPr txBox="1"/>
          <p:nvPr/>
        </p:nvSpPr>
        <p:spPr>
          <a:xfrm>
            <a:off x="100200" y="1553300"/>
            <a:ext cx="3000000" cy="28938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lt1"/>
              </a:buClr>
              <a:buSzPts val="2200"/>
              <a:buFont typeface="Proxima Nova Semibold"/>
              <a:buChar char="●"/>
            </a:pPr>
            <a:r>
              <a:rPr lang="en" sz="2200">
                <a:solidFill>
                  <a:schemeClr val="lt1"/>
                </a:solidFill>
                <a:latin typeface="Proxima Nova Semibold"/>
                <a:ea typeface="Proxima Nova Semibold"/>
                <a:cs typeface="Proxima Nova Semibold"/>
                <a:sym typeface="Proxima Nova Semibold"/>
              </a:rPr>
              <a:t>Feb through June</a:t>
            </a:r>
            <a:endParaRPr sz="2200">
              <a:solidFill>
                <a:schemeClr val="lt1"/>
              </a:solidFill>
              <a:latin typeface="Proxima Nova Semibold"/>
              <a:ea typeface="Proxima Nova Semibold"/>
              <a:cs typeface="Proxima Nova Semibold"/>
              <a:sym typeface="Proxima Nova Semibold"/>
            </a:endParaRPr>
          </a:p>
          <a:p>
            <a:pPr indent="-368300" lvl="0" marL="457200" rtl="0" algn="l">
              <a:spcBef>
                <a:spcPts val="0"/>
              </a:spcBef>
              <a:spcAft>
                <a:spcPts val="0"/>
              </a:spcAft>
              <a:buClr>
                <a:schemeClr val="lt1"/>
              </a:buClr>
              <a:buSzPts val="2200"/>
              <a:buFont typeface="Proxima Nova Semibold"/>
              <a:buChar char="●"/>
            </a:pPr>
            <a:r>
              <a:rPr lang="en" sz="2200">
                <a:solidFill>
                  <a:schemeClr val="lt1"/>
                </a:solidFill>
                <a:latin typeface="Proxima Nova Semibold"/>
                <a:ea typeface="Proxima Nova Semibold"/>
                <a:cs typeface="Proxima Nova Semibold"/>
                <a:sym typeface="Proxima Nova Semibold"/>
              </a:rPr>
              <a:t>Seasonal variation</a:t>
            </a:r>
            <a:endParaRPr sz="2200">
              <a:solidFill>
                <a:schemeClr val="lt1"/>
              </a:solidFill>
              <a:latin typeface="Proxima Nova Semibold"/>
              <a:ea typeface="Proxima Nova Semibold"/>
              <a:cs typeface="Proxima Nova Semibold"/>
              <a:sym typeface="Proxima Nova Semibold"/>
            </a:endParaRPr>
          </a:p>
          <a:p>
            <a:pPr indent="-368300" lvl="0" marL="457200" rtl="0" algn="l">
              <a:spcBef>
                <a:spcPts val="0"/>
              </a:spcBef>
              <a:spcAft>
                <a:spcPts val="0"/>
              </a:spcAft>
              <a:buClr>
                <a:schemeClr val="lt1"/>
              </a:buClr>
              <a:buSzPts val="2200"/>
              <a:buFont typeface="Proxima Nova Semibold"/>
              <a:buChar char="●"/>
            </a:pPr>
            <a:r>
              <a:rPr lang="en" sz="2200">
                <a:solidFill>
                  <a:schemeClr val="lt1"/>
                </a:solidFill>
                <a:latin typeface="Proxima Nova Semibold"/>
                <a:ea typeface="Proxima Nova Semibold"/>
                <a:cs typeface="Proxima Nova Semibold"/>
                <a:sym typeface="Proxima Nova Semibold"/>
              </a:rPr>
              <a:t>Median temperatures similar across years, generally higher spread in 2020 (dry year)</a:t>
            </a:r>
            <a:endParaRPr sz="2200">
              <a:latin typeface="Proxima Nova Semibold"/>
              <a:ea typeface="Proxima Nova Semibold"/>
              <a:cs typeface="Proxima Nova Semibold"/>
              <a:sym typeface="Proxima Nova Semibold"/>
            </a:endParaRPr>
          </a:p>
        </p:txBody>
      </p:sp>
      <p:sp>
        <p:nvSpPr>
          <p:cNvPr id="243" name="Google Shape;243;p41"/>
          <p:cNvSpPr/>
          <p:nvPr/>
        </p:nvSpPr>
        <p:spPr>
          <a:xfrm rot="-2699078">
            <a:off x="5997796" y="1735605"/>
            <a:ext cx="1581232" cy="581666"/>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247" name="Shape 247"/>
        <p:cNvGrpSpPr/>
        <p:nvPr/>
      </p:nvGrpSpPr>
      <p:grpSpPr>
        <a:xfrm>
          <a:off x="0" y="0"/>
          <a:ext cx="0" cy="0"/>
          <a:chOff x="0" y="0"/>
          <a:chExt cx="0" cy="0"/>
        </a:xfrm>
      </p:grpSpPr>
      <p:sp>
        <p:nvSpPr>
          <p:cNvPr id="248" name="Google Shape;248;p42"/>
          <p:cNvSpPr txBox="1"/>
          <p:nvPr>
            <p:ph type="ctrTitle"/>
          </p:nvPr>
        </p:nvSpPr>
        <p:spPr>
          <a:xfrm>
            <a:off x="274325" y="320049"/>
            <a:ext cx="8520600" cy="642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 sz="4000">
                <a:solidFill>
                  <a:srgbClr val="7ED957"/>
                </a:solidFill>
                <a:latin typeface="Hammersmith One"/>
                <a:ea typeface="Hammersmith One"/>
                <a:cs typeface="Hammersmith One"/>
                <a:sym typeface="Hammersmith One"/>
              </a:rPr>
              <a:t>PERFORMANCE</a:t>
            </a:r>
            <a:r>
              <a:rPr lang="en" sz="4000">
                <a:solidFill>
                  <a:srgbClr val="7ED957"/>
                </a:solidFill>
                <a:latin typeface="Hammersmith One"/>
                <a:ea typeface="Hammersmith One"/>
                <a:cs typeface="Hammersmith One"/>
                <a:sym typeface="Hammersmith One"/>
              </a:rPr>
              <a:t>: </a:t>
            </a:r>
            <a:r>
              <a:rPr lang="en" sz="3200">
                <a:solidFill>
                  <a:schemeClr val="lt1"/>
                </a:solidFill>
                <a:latin typeface="Proxima Nova"/>
                <a:ea typeface="Proxima Nova"/>
                <a:cs typeface="Proxima Nova"/>
                <a:sym typeface="Proxima Nova"/>
              </a:rPr>
              <a:t>LANDSCAPE</a:t>
            </a:r>
            <a:endParaRPr sz="3200">
              <a:solidFill>
                <a:schemeClr val="lt1"/>
              </a:solidFill>
              <a:latin typeface="Proxima Nova"/>
              <a:ea typeface="Proxima Nova"/>
              <a:cs typeface="Proxima Nova"/>
              <a:sym typeface="Proxima Nova"/>
            </a:endParaRPr>
          </a:p>
        </p:txBody>
      </p:sp>
      <p:graphicFrame>
        <p:nvGraphicFramePr>
          <p:cNvPr id="249" name="Google Shape;249;p42"/>
          <p:cNvGraphicFramePr/>
          <p:nvPr/>
        </p:nvGraphicFramePr>
        <p:xfrm>
          <a:off x="320040" y="1188720"/>
          <a:ext cx="3000000" cy="3000000"/>
        </p:xfrm>
        <a:graphic>
          <a:graphicData uri="http://schemas.openxmlformats.org/drawingml/2006/table">
            <a:tbl>
              <a:tblPr>
                <a:noFill/>
                <a:tableStyleId>{85CED069-D96A-4F69-AB26-FEDBC44AE582}</a:tableStyleId>
              </a:tblPr>
              <a:tblGrid>
                <a:gridCol w="1756825"/>
                <a:gridCol w="552175"/>
                <a:gridCol w="567875"/>
                <a:gridCol w="573350"/>
                <a:gridCol w="588950"/>
                <a:gridCol w="599575"/>
                <a:gridCol w="610100"/>
                <a:gridCol w="641875"/>
                <a:gridCol w="641875"/>
                <a:gridCol w="641875"/>
                <a:gridCol w="641875"/>
                <a:gridCol w="641875"/>
              </a:tblGrid>
              <a:tr h="408450">
                <a:tc>
                  <a:txBody>
                    <a:bodyPr/>
                    <a:lstStyle/>
                    <a:p>
                      <a:pPr indent="0" lvl="0" marL="0" rtl="0" algn="r">
                        <a:spcBef>
                          <a:spcPts val="0"/>
                        </a:spcBef>
                        <a:spcAft>
                          <a:spcPts val="0"/>
                        </a:spcAft>
                        <a:buNone/>
                      </a:pPr>
                      <a:r>
                        <a:rPr lang="en" sz="1200">
                          <a:solidFill>
                            <a:schemeClr val="lt1"/>
                          </a:solidFill>
                          <a:latin typeface="Proxima Nova"/>
                          <a:ea typeface="Proxima Nova"/>
                          <a:cs typeface="Proxima Nova"/>
                          <a:sym typeface="Proxima Nova"/>
                        </a:rPr>
                        <a:t>RANK</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-5</a:t>
                      </a:r>
                      <a:endParaRPr sz="1200">
                        <a:solidFill>
                          <a:schemeClr val="lt1"/>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-4</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-3</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-2</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-1</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0</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1</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2</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3</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4</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5</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r>
              <a:tr h="40845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Business As Usual</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sz="1500">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0845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Eco Machine</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rPr b="1" lang="en">
                          <a:solidFill>
                            <a:schemeClr val="lt1"/>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38225">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New Green Watershed</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0845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Bolster &amp; Fortify</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sz="1500">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45575">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Calling On Reserves</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sz="1500">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0845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A Tunnel</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Clr>
                          <a:schemeClr val="dk1"/>
                        </a:buClr>
                        <a:buSzPts val="1100"/>
                        <a:buFont typeface="Arial"/>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sz="1500">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50" name="Google Shape;250;p42"/>
          <p:cNvSpPr txBox="1"/>
          <p:nvPr/>
        </p:nvSpPr>
        <p:spPr>
          <a:xfrm>
            <a:off x="3849575" y="726925"/>
            <a:ext cx="49287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lt2"/>
                </a:solidFill>
                <a:latin typeface="Proxima Nova"/>
                <a:ea typeface="Proxima Nova"/>
                <a:cs typeface="Proxima Nova"/>
                <a:sym typeface="Proxima Nova"/>
              </a:rPr>
              <a:t>Additional accessible wetland acres</a:t>
            </a:r>
            <a:endParaRPr i="1">
              <a:solidFill>
                <a:schemeClr val="lt2"/>
              </a:solidFill>
              <a:latin typeface="Proxima Nova"/>
              <a:ea typeface="Proxima Nova"/>
              <a:cs typeface="Proxima Nova"/>
              <a:sym typeface="Proxima Nova"/>
            </a:endParaRPr>
          </a:p>
          <a:p>
            <a:pPr indent="0" lvl="0" marL="0" rtl="0" algn="l">
              <a:spcBef>
                <a:spcPts val="0"/>
              </a:spcBef>
              <a:spcAft>
                <a:spcPts val="0"/>
              </a:spcAft>
              <a:buNone/>
            </a:pPr>
            <a:r>
              <a:t/>
            </a:r>
            <a:endParaRPr i="1">
              <a:solidFill>
                <a:schemeClr val="lt2"/>
              </a:solidFill>
              <a:latin typeface="Proxima Nova"/>
              <a:ea typeface="Proxima Nova"/>
              <a:cs typeface="Proxima Nova"/>
              <a:sym typeface="Proxima Nov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254" name="Shape 254"/>
        <p:cNvGrpSpPr/>
        <p:nvPr/>
      </p:nvGrpSpPr>
      <p:grpSpPr>
        <a:xfrm>
          <a:off x="0" y="0"/>
          <a:ext cx="0" cy="0"/>
          <a:chOff x="0" y="0"/>
          <a:chExt cx="0" cy="0"/>
        </a:xfrm>
      </p:grpSpPr>
      <p:sp>
        <p:nvSpPr>
          <p:cNvPr id="255" name="Google Shape;255;p43"/>
          <p:cNvSpPr txBox="1"/>
          <p:nvPr>
            <p:ph type="ctrTitle"/>
          </p:nvPr>
        </p:nvSpPr>
        <p:spPr>
          <a:xfrm>
            <a:off x="256372" y="96949"/>
            <a:ext cx="8520600" cy="34146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27123"/>
              <a:buNone/>
            </a:pPr>
            <a:r>
              <a:rPr b="1" lang="en" sz="4056">
                <a:solidFill>
                  <a:srgbClr val="7ED957"/>
                </a:solidFill>
                <a:latin typeface="Proxima Nova"/>
                <a:ea typeface="Proxima Nova"/>
                <a:cs typeface="Proxima Nova"/>
                <a:sym typeface="Proxima Nova"/>
              </a:rPr>
              <a:t>Results &amp; Scenario Ranking</a:t>
            </a:r>
            <a:endParaRPr b="1" sz="4056">
              <a:solidFill>
                <a:srgbClr val="7ED957"/>
              </a:solidFill>
              <a:latin typeface="Proxima Nova"/>
              <a:ea typeface="Proxima Nova"/>
              <a:cs typeface="Proxima Nova"/>
              <a:sym typeface="Proxima Nova"/>
            </a:endParaRPr>
          </a:p>
          <a:p>
            <a:pPr indent="0" lvl="0" marL="0" rtl="0" algn="l">
              <a:spcBef>
                <a:spcPts val="800"/>
              </a:spcBef>
              <a:spcAft>
                <a:spcPts val="0"/>
              </a:spcAft>
              <a:buSzPct val="27123"/>
              <a:buNone/>
            </a:pPr>
            <a:r>
              <a:rPr b="1" lang="en" sz="4056">
                <a:solidFill>
                  <a:srgbClr val="7ED957"/>
                </a:solidFill>
                <a:latin typeface="Proxima Nova"/>
                <a:ea typeface="Proxima Nova"/>
                <a:cs typeface="Proxima Nova"/>
                <a:sym typeface="Proxima Nova"/>
              </a:rPr>
              <a:t>Food webs -</a:t>
            </a:r>
            <a:endParaRPr b="1" sz="4056">
              <a:solidFill>
                <a:srgbClr val="7ED957"/>
              </a:solidFill>
              <a:latin typeface="Proxima Nova"/>
              <a:ea typeface="Proxima Nova"/>
              <a:cs typeface="Proxima Nova"/>
              <a:sym typeface="Proxima Nova"/>
            </a:endParaRPr>
          </a:p>
          <a:p>
            <a:pPr indent="-360045" lvl="0" marL="457200" rtl="0" algn="l">
              <a:spcBef>
                <a:spcPts val="800"/>
              </a:spcBef>
              <a:spcAft>
                <a:spcPts val="0"/>
              </a:spcAft>
              <a:buClr>
                <a:schemeClr val="lt1"/>
              </a:buClr>
              <a:buSzPct val="100000"/>
              <a:buFont typeface="Proxima Nova"/>
              <a:buChar char="●"/>
            </a:pPr>
            <a:r>
              <a:rPr b="1" lang="en" sz="2300">
                <a:solidFill>
                  <a:schemeClr val="lt1"/>
                </a:solidFill>
                <a:latin typeface="Proxima Nova"/>
                <a:ea typeface="Proxima Nova"/>
                <a:cs typeface="Proxima Nova"/>
                <a:sym typeface="Proxima Nova"/>
              </a:rPr>
              <a:t>Only evaluating Eco-Machine and NGW (landscape changes)</a:t>
            </a:r>
            <a:endParaRPr b="1" sz="2300">
              <a:solidFill>
                <a:schemeClr val="lt1"/>
              </a:solidFill>
              <a:latin typeface="Proxima Nova"/>
              <a:ea typeface="Proxima Nova"/>
              <a:cs typeface="Proxima Nova"/>
              <a:sym typeface="Proxima Nova"/>
            </a:endParaRPr>
          </a:p>
          <a:p>
            <a:pPr indent="0" lvl="0" marL="914400" rtl="0" algn="l">
              <a:lnSpc>
                <a:spcPct val="115000"/>
              </a:lnSpc>
              <a:spcBef>
                <a:spcPts val="800"/>
              </a:spcBef>
              <a:spcAft>
                <a:spcPts val="0"/>
              </a:spcAft>
              <a:buNone/>
            </a:pPr>
            <a:r>
              <a:rPr i="1" lang="en" sz="1650">
                <a:solidFill>
                  <a:schemeClr val="lt1"/>
                </a:solidFill>
                <a:latin typeface="Proxima Nova"/>
                <a:ea typeface="Proxima Nova"/>
                <a:cs typeface="Proxima Nova"/>
                <a:sym typeface="Proxima Nova"/>
              </a:rPr>
              <a:t>Adaptation Scenarios:</a:t>
            </a:r>
            <a:endParaRPr sz="1650">
              <a:solidFill>
                <a:schemeClr val="lt1"/>
              </a:solidFill>
              <a:latin typeface="Proxima Nova"/>
              <a:ea typeface="Proxima Nova"/>
              <a:cs typeface="Proxima Nova"/>
              <a:sym typeface="Proxima Nova"/>
            </a:endParaRPr>
          </a:p>
          <a:p>
            <a:pPr indent="-322898" lvl="0" marL="1371600" rtl="0" algn="l">
              <a:lnSpc>
                <a:spcPct val="115000"/>
              </a:lnSpc>
              <a:spcBef>
                <a:spcPts val="0"/>
              </a:spcBef>
              <a:spcAft>
                <a:spcPts val="0"/>
              </a:spcAft>
              <a:buClr>
                <a:schemeClr val="lt1"/>
              </a:buClr>
              <a:buSzPct val="100000"/>
              <a:buFont typeface="Proxima Nova"/>
              <a:buChar char="●"/>
            </a:pPr>
            <a:r>
              <a:rPr lang="en" sz="1650">
                <a:solidFill>
                  <a:schemeClr val="lt1"/>
                </a:solidFill>
                <a:latin typeface="Proxima Nova"/>
                <a:ea typeface="Proxima Nova"/>
                <a:cs typeface="Proxima Nova"/>
                <a:sym typeface="Proxima Nova"/>
              </a:rPr>
              <a:t>Eco Machine - strategic restoration</a:t>
            </a:r>
            <a:endParaRPr sz="1650">
              <a:solidFill>
                <a:schemeClr val="lt1"/>
              </a:solidFill>
              <a:latin typeface="Proxima Nova"/>
              <a:ea typeface="Proxima Nova"/>
              <a:cs typeface="Proxima Nova"/>
              <a:sym typeface="Proxima Nova"/>
            </a:endParaRPr>
          </a:p>
          <a:p>
            <a:pPr indent="-322898" lvl="0" marL="1371600" rtl="0" algn="l">
              <a:lnSpc>
                <a:spcPct val="115000"/>
              </a:lnSpc>
              <a:spcBef>
                <a:spcPts val="0"/>
              </a:spcBef>
              <a:spcAft>
                <a:spcPts val="0"/>
              </a:spcAft>
              <a:buClr>
                <a:schemeClr val="lt1"/>
              </a:buClr>
              <a:buSzPct val="100000"/>
              <a:buFont typeface="Proxima Nova"/>
              <a:buChar char="●"/>
            </a:pPr>
            <a:r>
              <a:rPr lang="en" sz="1650">
                <a:solidFill>
                  <a:schemeClr val="lt1"/>
                </a:solidFill>
                <a:latin typeface="Proxima Nova"/>
                <a:ea typeface="Proxima Nova"/>
                <a:cs typeface="Proxima Nova"/>
                <a:sym typeface="Proxima Nova"/>
              </a:rPr>
              <a:t>New Green Watershed</a:t>
            </a:r>
            <a:endParaRPr sz="1650">
              <a:solidFill>
                <a:schemeClr val="lt1"/>
              </a:solidFill>
              <a:latin typeface="Proxima Nova"/>
              <a:ea typeface="Proxima Nova"/>
              <a:cs typeface="Proxima Nova"/>
              <a:sym typeface="Proxima Nova"/>
            </a:endParaRPr>
          </a:p>
          <a:p>
            <a:pPr indent="-322898" lvl="1" marL="1828800" rtl="0" algn="l">
              <a:lnSpc>
                <a:spcPct val="115000"/>
              </a:lnSpc>
              <a:spcBef>
                <a:spcPts val="0"/>
              </a:spcBef>
              <a:spcAft>
                <a:spcPts val="0"/>
              </a:spcAft>
              <a:buClr>
                <a:schemeClr val="lt1"/>
              </a:buClr>
              <a:buSzPct val="100000"/>
              <a:buFont typeface="Proxima Nova"/>
              <a:buChar char="○"/>
            </a:pPr>
            <a:r>
              <a:rPr lang="en" sz="1650">
                <a:solidFill>
                  <a:schemeClr val="lt1"/>
                </a:solidFill>
                <a:latin typeface="Proxima Nova"/>
                <a:ea typeface="Proxima Nova"/>
                <a:cs typeface="Proxima Nova"/>
                <a:sym typeface="Proxima Nova"/>
              </a:rPr>
              <a:t>NGW1 - 100% restoration</a:t>
            </a:r>
            <a:endParaRPr sz="1650">
              <a:solidFill>
                <a:schemeClr val="lt1"/>
              </a:solidFill>
              <a:latin typeface="Proxima Nova"/>
              <a:ea typeface="Proxima Nova"/>
              <a:cs typeface="Proxima Nova"/>
              <a:sym typeface="Proxima Nova"/>
            </a:endParaRPr>
          </a:p>
          <a:p>
            <a:pPr indent="-322898" lvl="1" marL="1828800" rtl="0" algn="l">
              <a:lnSpc>
                <a:spcPct val="115000"/>
              </a:lnSpc>
              <a:spcBef>
                <a:spcPts val="0"/>
              </a:spcBef>
              <a:spcAft>
                <a:spcPts val="0"/>
              </a:spcAft>
              <a:buClr>
                <a:schemeClr val="lt1"/>
              </a:buClr>
              <a:buSzPct val="100000"/>
              <a:buFont typeface="Proxima Nova"/>
              <a:buChar char="○"/>
            </a:pPr>
            <a:r>
              <a:rPr lang="en" sz="1650">
                <a:solidFill>
                  <a:schemeClr val="lt1"/>
                </a:solidFill>
                <a:latin typeface="Proxima Nova"/>
                <a:ea typeface="Proxima Nova"/>
                <a:cs typeface="Proxima Nova"/>
                <a:sym typeface="Proxima Nova"/>
              </a:rPr>
              <a:t>NGW2 - 50% restoration, 50% wet soil agriculture</a:t>
            </a:r>
            <a:endParaRPr sz="1650">
              <a:solidFill>
                <a:schemeClr val="lt1"/>
              </a:solidFill>
              <a:latin typeface="Proxima Nova"/>
              <a:ea typeface="Proxima Nova"/>
              <a:cs typeface="Proxima Nova"/>
              <a:sym typeface="Proxima Nova"/>
            </a:endParaRPr>
          </a:p>
          <a:p>
            <a:pPr indent="-322898" lvl="1" marL="1828800" rtl="0" algn="l">
              <a:lnSpc>
                <a:spcPct val="115000"/>
              </a:lnSpc>
              <a:spcBef>
                <a:spcPts val="0"/>
              </a:spcBef>
              <a:spcAft>
                <a:spcPts val="0"/>
              </a:spcAft>
              <a:buClr>
                <a:schemeClr val="lt1"/>
              </a:buClr>
              <a:buSzPct val="100000"/>
              <a:buFont typeface="Proxima Nova"/>
              <a:buChar char="○"/>
            </a:pPr>
            <a:r>
              <a:rPr lang="en" sz="1650">
                <a:solidFill>
                  <a:schemeClr val="lt1"/>
                </a:solidFill>
                <a:latin typeface="Proxima Nova"/>
                <a:ea typeface="Proxima Nova"/>
                <a:cs typeface="Proxima Nova"/>
                <a:sym typeface="Proxima Nova"/>
              </a:rPr>
              <a:t>NGW3 - 25% restoration, 75% wet soil agriculture</a:t>
            </a:r>
            <a:endParaRPr sz="1650">
              <a:solidFill>
                <a:schemeClr val="lt1"/>
              </a:solidFill>
              <a:latin typeface="Proxima Nova"/>
              <a:ea typeface="Proxima Nova"/>
              <a:cs typeface="Proxima Nova"/>
              <a:sym typeface="Proxima Nova"/>
            </a:endParaRPr>
          </a:p>
          <a:p>
            <a:pPr indent="-360045" lvl="0" marL="457200" rtl="0" algn="l">
              <a:spcBef>
                <a:spcPts val="0"/>
              </a:spcBef>
              <a:spcAft>
                <a:spcPts val="0"/>
              </a:spcAft>
              <a:buClr>
                <a:schemeClr val="lt1"/>
              </a:buClr>
              <a:buSzPct val="100000"/>
              <a:buFont typeface="Proxima Nova"/>
              <a:buChar char="●"/>
            </a:pPr>
            <a:r>
              <a:rPr b="1" lang="en" sz="2300">
                <a:solidFill>
                  <a:schemeClr val="lt1"/>
                </a:solidFill>
                <a:latin typeface="Proxima Nova"/>
                <a:ea typeface="Proxima Nova"/>
                <a:cs typeface="Proxima Nova"/>
                <a:sym typeface="Proxima Nova"/>
              </a:rPr>
              <a:t>Assigned relative contributions to land cover - 0.2 for managed wetlands, 0.4 tidal wetlands, 0.1 wet soil ag</a:t>
            </a:r>
            <a:endParaRPr sz="1650">
              <a:solidFill>
                <a:schemeClr val="lt1"/>
              </a:solidFill>
              <a:latin typeface="Proxima Nova"/>
              <a:ea typeface="Proxima Nova"/>
              <a:cs typeface="Proxima Nova"/>
              <a:sym typeface="Proxima Nova"/>
            </a:endParaRPr>
          </a:p>
          <a:p>
            <a:pPr indent="0" lvl="0" marL="0" rtl="0" algn="l">
              <a:lnSpc>
                <a:spcPct val="115000"/>
              </a:lnSpc>
              <a:spcBef>
                <a:spcPts val="800"/>
              </a:spcBef>
              <a:spcAft>
                <a:spcPts val="0"/>
              </a:spcAft>
              <a:buClr>
                <a:schemeClr val="dk1"/>
              </a:buClr>
              <a:buSzPct val="91667"/>
              <a:buFont typeface="Arial"/>
              <a:buNone/>
            </a:pPr>
            <a:r>
              <a:t/>
            </a:r>
            <a:endParaRPr sz="1200">
              <a:latin typeface="Proxima Nova"/>
              <a:ea typeface="Proxima Nova"/>
              <a:cs typeface="Proxima Nova"/>
              <a:sym typeface="Proxima Nova"/>
            </a:endParaRPr>
          </a:p>
          <a:p>
            <a:pPr indent="0" lvl="0" marL="0" rtl="0" algn="l">
              <a:spcBef>
                <a:spcPts val="0"/>
              </a:spcBef>
              <a:spcAft>
                <a:spcPts val="0"/>
              </a:spcAft>
              <a:buClr>
                <a:schemeClr val="dk1"/>
              </a:buClr>
              <a:buSzPct val="55000"/>
              <a:buFont typeface="Arial"/>
              <a:buNone/>
            </a:pPr>
            <a:r>
              <a:rPr i="1" lang="en" sz="2000">
                <a:solidFill>
                  <a:schemeClr val="lt1"/>
                </a:solidFill>
                <a:latin typeface="Proxima Nova"/>
                <a:ea typeface="Proxima Nova"/>
                <a:cs typeface="Proxima Nova"/>
                <a:sym typeface="Proxima Nova"/>
              </a:rPr>
              <a:t>Total baseline managed wetland acres-5100*(0.2) + additional tidal wetland acres*(0.4)+ total wet soil ag acres-17,178*(0.1) = Proxy for food web production</a:t>
            </a:r>
            <a:endParaRPr b="1" sz="2000">
              <a:solidFill>
                <a:schemeClr val="lt1"/>
              </a:solidFill>
              <a:latin typeface="Proxima Nova"/>
              <a:ea typeface="Proxima Nova"/>
              <a:cs typeface="Proxima Nova"/>
              <a:sym typeface="Proxima Nova"/>
            </a:endParaRPr>
          </a:p>
          <a:p>
            <a:pPr indent="0" lvl="0" marL="0" rtl="0" algn="l">
              <a:spcBef>
                <a:spcPts val="0"/>
              </a:spcBef>
              <a:spcAft>
                <a:spcPts val="0"/>
              </a:spcAft>
              <a:buSzPct val="27123"/>
              <a:buNone/>
            </a:pPr>
            <a:r>
              <a:t/>
            </a:r>
            <a:endParaRPr b="1" sz="4056">
              <a:solidFill>
                <a:srgbClr val="7ED957"/>
              </a:solidFill>
              <a:latin typeface="Proxima Nova"/>
              <a:ea typeface="Proxima Nova"/>
              <a:cs typeface="Proxima Nova"/>
              <a:sym typeface="Proxima Nova"/>
            </a:endParaRPr>
          </a:p>
          <a:p>
            <a:pPr indent="0" lvl="0" marL="0" rtl="0" algn="l">
              <a:spcBef>
                <a:spcPts val="800"/>
              </a:spcBef>
              <a:spcAft>
                <a:spcPts val="0"/>
              </a:spcAft>
              <a:buSzPct val="36940"/>
              <a:buNone/>
            </a:pPr>
            <a:r>
              <a:t/>
            </a:r>
            <a:endParaRPr sz="2978">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ct val="100000"/>
              <a:buNone/>
            </a:pPr>
            <a:r>
              <a:t/>
            </a:r>
            <a:endParaRPr>
              <a:solidFill>
                <a:srgbClr val="7ED957"/>
              </a:solidFill>
              <a:latin typeface="Hammersmith One"/>
              <a:ea typeface="Hammersmith One"/>
              <a:cs typeface="Hammersmith One"/>
              <a:sym typeface="Hammersmith On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259" name="Shape 259"/>
        <p:cNvGrpSpPr/>
        <p:nvPr/>
      </p:nvGrpSpPr>
      <p:grpSpPr>
        <a:xfrm>
          <a:off x="0" y="0"/>
          <a:ext cx="0" cy="0"/>
          <a:chOff x="0" y="0"/>
          <a:chExt cx="0" cy="0"/>
        </a:xfrm>
      </p:grpSpPr>
      <p:sp>
        <p:nvSpPr>
          <p:cNvPr id="260" name="Google Shape;260;p44"/>
          <p:cNvSpPr txBox="1"/>
          <p:nvPr>
            <p:ph type="ctrTitle"/>
          </p:nvPr>
        </p:nvSpPr>
        <p:spPr>
          <a:xfrm>
            <a:off x="274325" y="320049"/>
            <a:ext cx="8520600" cy="642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 sz="4000">
                <a:solidFill>
                  <a:srgbClr val="7ED957"/>
                </a:solidFill>
                <a:latin typeface="Hammersmith One"/>
                <a:ea typeface="Hammersmith One"/>
                <a:cs typeface="Hammersmith One"/>
                <a:sym typeface="Hammersmith One"/>
              </a:rPr>
              <a:t>PERFORMANCE</a:t>
            </a:r>
            <a:r>
              <a:rPr lang="en" sz="4000">
                <a:solidFill>
                  <a:srgbClr val="7ED957"/>
                </a:solidFill>
                <a:latin typeface="Hammersmith One"/>
                <a:ea typeface="Hammersmith One"/>
                <a:cs typeface="Hammersmith One"/>
                <a:sym typeface="Hammersmith One"/>
              </a:rPr>
              <a:t>: </a:t>
            </a:r>
            <a:r>
              <a:rPr lang="en" sz="3200">
                <a:solidFill>
                  <a:schemeClr val="lt1"/>
                </a:solidFill>
                <a:latin typeface="Proxima Nova"/>
                <a:ea typeface="Proxima Nova"/>
                <a:cs typeface="Proxima Nova"/>
                <a:sym typeface="Proxima Nova"/>
              </a:rPr>
              <a:t>FOOD WEBS</a:t>
            </a:r>
            <a:endParaRPr sz="3200">
              <a:solidFill>
                <a:schemeClr val="lt1"/>
              </a:solidFill>
              <a:latin typeface="Proxima Nova"/>
              <a:ea typeface="Proxima Nova"/>
              <a:cs typeface="Proxima Nova"/>
              <a:sym typeface="Proxima Nova"/>
            </a:endParaRPr>
          </a:p>
        </p:txBody>
      </p:sp>
      <p:graphicFrame>
        <p:nvGraphicFramePr>
          <p:cNvPr id="261" name="Google Shape;261;p44"/>
          <p:cNvGraphicFramePr/>
          <p:nvPr/>
        </p:nvGraphicFramePr>
        <p:xfrm>
          <a:off x="320040" y="1188720"/>
          <a:ext cx="3000000" cy="3000000"/>
        </p:xfrm>
        <a:graphic>
          <a:graphicData uri="http://schemas.openxmlformats.org/drawingml/2006/table">
            <a:tbl>
              <a:tblPr>
                <a:noFill/>
                <a:tableStyleId>{85CED069-D96A-4F69-AB26-FEDBC44AE582}</a:tableStyleId>
              </a:tblPr>
              <a:tblGrid>
                <a:gridCol w="1756825"/>
                <a:gridCol w="552175"/>
                <a:gridCol w="567875"/>
                <a:gridCol w="573350"/>
                <a:gridCol w="588950"/>
                <a:gridCol w="599575"/>
                <a:gridCol w="610100"/>
                <a:gridCol w="641875"/>
                <a:gridCol w="641875"/>
                <a:gridCol w="641875"/>
                <a:gridCol w="641875"/>
                <a:gridCol w="641875"/>
              </a:tblGrid>
              <a:tr h="408450">
                <a:tc>
                  <a:txBody>
                    <a:bodyPr/>
                    <a:lstStyle/>
                    <a:p>
                      <a:pPr indent="0" lvl="0" marL="0" rtl="0" algn="r">
                        <a:spcBef>
                          <a:spcPts val="0"/>
                        </a:spcBef>
                        <a:spcAft>
                          <a:spcPts val="0"/>
                        </a:spcAft>
                        <a:buNone/>
                      </a:pPr>
                      <a:r>
                        <a:rPr lang="en" sz="1200">
                          <a:solidFill>
                            <a:schemeClr val="lt1"/>
                          </a:solidFill>
                          <a:latin typeface="Proxima Nova"/>
                          <a:ea typeface="Proxima Nova"/>
                          <a:cs typeface="Proxima Nova"/>
                          <a:sym typeface="Proxima Nova"/>
                        </a:rPr>
                        <a:t>RANK</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-5</a:t>
                      </a:r>
                      <a:endParaRPr sz="1200">
                        <a:solidFill>
                          <a:schemeClr val="lt1"/>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-4</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-3</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-2</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-1</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0</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1</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2</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3</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4</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5</a:t>
                      </a:r>
                      <a:endParaRPr>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r>
              <a:tr h="40845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Business As Usual</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sz="1500">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X</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0845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Eco Machine</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lt1"/>
                        </a:solidFill>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rPr>
                        <a:t>X</a:t>
                      </a:r>
                      <a:endParaRPr>
                        <a:solidFill>
                          <a:schemeClr val="lt1"/>
                        </a:solidFill>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38225">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New Green Watershed #1</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08450">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New Green Watershed #2</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sz="1500">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45575">
                <a:tc>
                  <a:txBody>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New Green Watershed #3</a:t>
                      </a:r>
                      <a:endParaRPr sz="1200">
                        <a:solidFill>
                          <a:schemeClr val="lt1"/>
                        </a:solidFill>
                        <a:latin typeface="Proxima Nova"/>
                        <a:ea typeface="Proxima Nova"/>
                        <a:cs typeface="Proxima Nova"/>
                        <a:sym typeface="Proxima Nova"/>
                      </a:endParaRPr>
                    </a:p>
                  </a:txBody>
                  <a:tcPr marT="91425" marB="91425" marR="91425" marL="91425">
                    <a:lnR cap="flat" cmpd="sng" w="38100">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lnL cap="flat" cmpd="sng" w="38100">
                      <a:solidFill>
                        <a:srgbClr val="9E9E9E"/>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t/>
                      </a:r>
                      <a:endParaRPr b="1">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sz="1500">
                        <a:solidFill>
                          <a:schemeClr val="lt2"/>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chemeClr val="lt1"/>
                        </a:solidFill>
                        <a:latin typeface="Proxima Nova"/>
                        <a:ea typeface="Proxima Nova"/>
                        <a:cs typeface="Proxima Nova"/>
                        <a:sym typeface="Proxima Nova"/>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x</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62" name="Google Shape;262;p44"/>
          <p:cNvSpPr txBox="1"/>
          <p:nvPr/>
        </p:nvSpPr>
        <p:spPr>
          <a:xfrm>
            <a:off x="320050" y="4434840"/>
            <a:ext cx="8627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lt1"/>
                </a:solidFill>
                <a:latin typeface="Proxima Nova"/>
                <a:ea typeface="Proxima Nova"/>
                <a:cs typeface="Proxima Nova"/>
                <a:sym typeface="Proxima Nova"/>
              </a:rPr>
              <a:t>* Managed wetland acres (x) + tidal wetland acres (y) + wet soil ag acres (z) </a:t>
            </a:r>
            <a:endParaRPr i="1" sz="1000">
              <a:solidFill>
                <a:schemeClr val="lt1"/>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i="1" lang="en" sz="1000">
                <a:solidFill>
                  <a:schemeClr val="lt1"/>
                </a:solidFill>
                <a:latin typeface="Proxima Nova"/>
                <a:ea typeface="Proxima Nova"/>
                <a:cs typeface="Proxima Nova"/>
                <a:sym typeface="Proxima Nova"/>
              </a:rPr>
              <a:t>  Where x, y, z, and q are constants that represent relative contributions of each landscape type </a:t>
            </a:r>
            <a:endParaRPr i="1" sz="1000">
              <a:solidFill>
                <a:schemeClr val="lt1"/>
              </a:solidFill>
              <a:latin typeface="Proxima Nova"/>
              <a:ea typeface="Proxima Nova"/>
              <a:cs typeface="Proxima Nova"/>
              <a:sym typeface="Proxima Nov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266" name="Shape 266"/>
        <p:cNvGrpSpPr/>
        <p:nvPr/>
      </p:nvGrpSpPr>
      <p:grpSpPr>
        <a:xfrm>
          <a:off x="0" y="0"/>
          <a:ext cx="0" cy="0"/>
          <a:chOff x="0" y="0"/>
          <a:chExt cx="0" cy="0"/>
        </a:xfrm>
      </p:grpSpPr>
      <p:sp>
        <p:nvSpPr>
          <p:cNvPr id="267" name="Google Shape;267;p45"/>
          <p:cNvSpPr txBox="1"/>
          <p:nvPr>
            <p:ph type="ctrTitle"/>
          </p:nvPr>
        </p:nvSpPr>
        <p:spPr>
          <a:xfrm>
            <a:off x="274325" y="366242"/>
            <a:ext cx="8520600" cy="34146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ts val="990"/>
              <a:buNone/>
            </a:pPr>
            <a:r>
              <a:rPr b="1" lang="en" sz="4533">
                <a:solidFill>
                  <a:srgbClr val="7ED957"/>
                </a:solidFill>
                <a:latin typeface="Proxima Nova"/>
                <a:ea typeface="Proxima Nova"/>
                <a:cs typeface="Proxima Nova"/>
                <a:sym typeface="Proxima Nova"/>
              </a:rPr>
              <a:t>ENVIRONMENTAL</a:t>
            </a:r>
            <a:r>
              <a:rPr b="1" lang="en" sz="4533">
                <a:solidFill>
                  <a:srgbClr val="7ED957"/>
                </a:solidFill>
                <a:latin typeface="Proxima Nova"/>
                <a:ea typeface="Proxima Nova"/>
                <a:cs typeface="Proxima Nova"/>
                <a:sym typeface="Proxima Nova"/>
              </a:rPr>
              <a:t> JUSTICE &amp; VULNERABLE COMMUNITIES</a:t>
            </a:r>
            <a:endParaRPr b="1" sz="4533">
              <a:solidFill>
                <a:srgbClr val="7ED957"/>
              </a:solidFill>
              <a:latin typeface="Proxima Nova"/>
              <a:ea typeface="Proxima Nova"/>
              <a:cs typeface="Proxima Nova"/>
              <a:sym typeface="Proxima Nova"/>
            </a:endParaRPr>
          </a:p>
          <a:p>
            <a:pPr indent="0" lvl="0" marL="0" rtl="0" algn="l">
              <a:spcBef>
                <a:spcPts val="800"/>
              </a:spcBef>
              <a:spcAft>
                <a:spcPts val="0"/>
              </a:spcAft>
              <a:buClr>
                <a:schemeClr val="dk1"/>
              </a:buClr>
              <a:buSzPct val="36940"/>
              <a:buFont typeface="Arial"/>
              <a:buNone/>
            </a:pPr>
            <a:r>
              <a:rPr i="1" lang="en" sz="2978">
                <a:solidFill>
                  <a:srgbClr val="7ED957"/>
                </a:solidFill>
                <a:latin typeface="Proxima Nova"/>
                <a:ea typeface="Proxima Nova"/>
                <a:cs typeface="Proxima Nova"/>
                <a:sym typeface="Proxima Nova"/>
              </a:rPr>
              <a:t>Comparing Delta Adaptation Scenarios through Environmental Justice, Ecocultural Restoration and Tribal Sovereignty Criteria</a:t>
            </a:r>
            <a:endParaRPr i="1" sz="2978">
              <a:solidFill>
                <a:srgbClr val="7ED957"/>
              </a:solidFill>
              <a:latin typeface="Proxima Nova"/>
              <a:ea typeface="Proxima Nova"/>
              <a:cs typeface="Proxima Nova"/>
              <a:sym typeface="Proxima Nova"/>
            </a:endParaRPr>
          </a:p>
          <a:p>
            <a:pPr indent="0" lvl="0" marL="0" rtl="0" algn="ctr">
              <a:lnSpc>
                <a:spcPct val="100000"/>
              </a:lnSpc>
              <a:spcBef>
                <a:spcPts val="800"/>
              </a:spcBef>
              <a:spcAft>
                <a:spcPts val="0"/>
              </a:spcAft>
              <a:buClr>
                <a:srgbClr val="000000"/>
              </a:buClr>
              <a:buSzPct val="100000"/>
              <a:buFont typeface="Arial"/>
              <a:buNone/>
            </a:pPr>
            <a:r>
              <a:t/>
            </a:r>
            <a:endParaRPr>
              <a:solidFill>
                <a:srgbClr val="7ED957"/>
              </a:solidFill>
              <a:latin typeface="Hammersmith One"/>
              <a:ea typeface="Hammersmith One"/>
              <a:cs typeface="Hammersmith One"/>
              <a:sym typeface="Hammersmith One"/>
            </a:endParaRPr>
          </a:p>
        </p:txBody>
      </p:sp>
      <p:sp>
        <p:nvSpPr>
          <p:cNvPr id="268" name="Google Shape;268;p45"/>
          <p:cNvSpPr txBox="1"/>
          <p:nvPr/>
        </p:nvSpPr>
        <p:spPr>
          <a:xfrm>
            <a:off x="600850" y="3668325"/>
            <a:ext cx="53064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lang="en" sz="2500">
                <a:solidFill>
                  <a:srgbClr val="51A2BD"/>
                </a:solidFill>
                <a:latin typeface="Proxima Nova"/>
                <a:ea typeface="Proxima Nova"/>
                <a:cs typeface="Proxima Nova"/>
                <a:sym typeface="Proxima Nova"/>
              </a:rPr>
              <a:t>Ashley N. DePew &amp; Brett Milligan</a:t>
            </a:r>
            <a:endParaRPr b="0" i="0" sz="2500" u="none" cap="none" strike="noStrike">
              <a:solidFill>
                <a:srgbClr val="51A2BD"/>
              </a:solidFill>
              <a:latin typeface="Proxima Nova"/>
              <a:ea typeface="Proxima Nova"/>
              <a:cs typeface="Proxima Nova"/>
              <a:sym typeface="Proxima Nov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272" name="Shape 272"/>
        <p:cNvGrpSpPr/>
        <p:nvPr/>
      </p:nvGrpSpPr>
      <p:grpSpPr>
        <a:xfrm>
          <a:off x="0" y="0"/>
          <a:ext cx="0" cy="0"/>
          <a:chOff x="0" y="0"/>
          <a:chExt cx="0" cy="0"/>
        </a:xfrm>
      </p:grpSpPr>
      <p:sp>
        <p:nvSpPr>
          <p:cNvPr id="273" name="Google Shape;273;p46"/>
          <p:cNvSpPr txBox="1"/>
          <p:nvPr>
            <p:ph type="ctrTitle"/>
          </p:nvPr>
        </p:nvSpPr>
        <p:spPr>
          <a:xfrm>
            <a:off x="274325" y="212275"/>
            <a:ext cx="8520600" cy="47514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27123"/>
              <a:buNone/>
            </a:pPr>
            <a:r>
              <a:rPr b="1" lang="en" sz="4056">
                <a:solidFill>
                  <a:srgbClr val="7ED957"/>
                </a:solidFill>
                <a:latin typeface="Proxima Nova"/>
                <a:ea typeface="Proxima Nova"/>
                <a:cs typeface="Proxima Nova"/>
                <a:sym typeface="Proxima Nova"/>
              </a:rPr>
              <a:t>Criterion </a:t>
            </a:r>
            <a:r>
              <a:rPr b="1" lang="en" sz="4056">
                <a:solidFill>
                  <a:srgbClr val="7ED957"/>
                </a:solidFill>
                <a:latin typeface="Proxima Nova"/>
                <a:ea typeface="Proxima Nova"/>
                <a:cs typeface="Proxima Nova"/>
                <a:sym typeface="Proxima Nova"/>
              </a:rPr>
              <a:t>Definition</a:t>
            </a:r>
            <a:endParaRPr baseline="30000" sz="1778">
              <a:solidFill>
                <a:schemeClr val="lt1"/>
              </a:solidFill>
              <a:latin typeface="Proxima Nova"/>
              <a:ea typeface="Proxima Nova"/>
              <a:cs typeface="Proxima Nova"/>
              <a:sym typeface="Proxima Nova"/>
            </a:endParaRPr>
          </a:p>
          <a:p>
            <a:pPr indent="0" lvl="0" marL="0" rtl="0" algn="l">
              <a:spcBef>
                <a:spcPts val="800"/>
              </a:spcBef>
              <a:spcAft>
                <a:spcPts val="0"/>
              </a:spcAft>
              <a:buClr>
                <a:schemeClr val="dk1"/>
              </a:buClr>
              <a:buSzPct val="100000"/>
              <a:buFont typeface="Arial"/>
              <a:buNone/>
            </a:pPr>
            <a:r>
              <a:t/>
            </a:r>
            <a:endParaRPr sz="1100">
              <a:solidFill>
                <a:schemeClr val="lt1"/>
              </a:solidFill>
              <a:latin typeface="Proxima Nova"/>
              <a:ea typeface="Proxima Nova"/>
              <a:cs typeface="Proxima Nova"/>
              <a:sym typeface="Proxima Nova"/>
            </a:endParaRPr>
          </a:p>
          <a:p>
            <a:pPr indent="0" lvl="0" marL="0" rtl="0" algn="l">
              <a:spcBef>
                <a:spcPts val="800"/>
              </a:spcBef>
              <a:spcAft>
                <a:spcPts val="0"/>
              </a:spcAft>
              <a:buSzPct val="39919"/>
              <a:buNone/>
            </a:pPr>
            <a:r>
              <a:rPr b="1" lang="en" sz="2756">
                <a:solidFill>
                  <a:schemeClr val="lt1"/>
                </a:solidFill>
                <a:latin typeface="Proxima Nova"/>
                <a:ea typeface="Proxima Nova"/>
                <a:cs typeface="Proxima Nova"/>
                <a:sym typeface="Proxima Nova"/>
              </a:rPr>
              <a:t>Environmental Justice (EJ):</a:t>
            </a:r>
            <a:r>
              <a:rPr lang="en" sz="2756">
                <a:solidFill>
                  <a:schemeClr val="lt1"/>
                </a:solidFill>
                <a:latin typeface="Proxima Nova"/>
                <a:ea typeface="Proxima Nova"/>
                <a:cs typeface="Proxima Nova"/>
                <a:sym typeface="Proxima Nova"/>
              </a:rPr>
              <a:t> </a:t>
            </a:r>
            <a:r>
              <a:rPr lang="en" sz="1778">
                <a:solidFill>
                  <a:schemeClr val="lt1"/>
                </a:solidFill>
                <a:latin typeface="Proxima Nova"/>
                <a:ea typeface="Proxima Nova"/>
                <a:cs typeface="Proxima Nova"/>
                <a:sym typeface="Proxima Nova"/>
              </a:rPr>
              <a:t>"The fair treatment and meaningful involvement of all people, regardless of race, culture, national origin, or income, in the development, adoption, implementation, and enforcement of environmental laws, regulations, and policies."</a:t>
            </a:r>
            <a:r>
              <a:rPr baseline="30000" lang="en" sz="1778">
                <a:solidFill>
                  <a:schemeClr val="lt1"/>
                </a:solidFill>
                <a:latin typeface="Proxima Nova"/>
                <a:ea typeface="Proxima Nova"/>
                <a:cs typeface="Proxima Nova"/>
                <a:sym typeface="Proxima Nova"/>
              </a:rPr>
              <a:t>1</a:t>
            </a:r>
            <a:endParaRPr baseline="30000" sz="1778">
              <a:solidFill>
                <a:schemeClr val="lt1"/>
              </a:solidFill>
              <a:latin typeface="Proxima Nova"/>
              <a:ea typeface="Proxima Nova"/>
              <a:cs typeface="Proxima Nova"/>
              <a:sym typeface="Proxima Nova"/>
            </a:endParaRPr>
          </a:p>
          <a:p>
            <a:pPr indent="-330200" lvl="0" marL="457200" rtl="0" algn="l">
              <a:spcBef>
                <a:spcPts val="800"/>
              </a:spcBef>
              <a:spcAft>
                <a:spcPts val="0"/>
              </a:spcAft>
              <a:buClr>
                <a:srgbClr val="7ED957"/>
              </a:buClr>
              <a:buSzPct val="100000"/>
              <a:buFont typeface="Proxima Nova"/>
              <a:buChar char="●"/>
            </a:pPr>
            <a:r>
              <a:rPr lang="en" sz="1778">
                <a:solidFill>
                  <a:srgbClr val="7ED957"/>
                </a:solidFill>
                <a:latin typeface="Proxima Nova"/>
                <a:ea typeface="Proxima Nova"/>
                <a:cs typeface="Proxima Nova"/>
                <a:sym typeface="Proxima Nova"/>
              </a:rPr>
              <a:t>Focus on in-Delta Communities</a:t>
            </a:r>
            <a:endParaRPr baseline="30000" sz="1778">
              <a:solidFill>
                <a:srgbClr val="7ED957"/>
              </a:solidFill>
              <a:latin typeface="Proxima Nova"/>
              <a:ea typeface="Proxima Nova"/>
              <a:cs typeface="Proxima Nova"/>
              <a:sym typeface="Proxima Nova"/>
            </a:endParaRPr>
          </a:p>
          <a:p>
            <a:pPr indent="0" lvl="0" marL="0" rtl="0" algn="l">
              <a:spcBef>
                <a:spcPts val="800"/>
              </a:spcBef>
              <a:spcAft>
                <a:spcPts val="0"/>
              </a:spcAft>
              <a:buSzPct val="100000"/>
              <a:buNone/>
            </a:pPr>
            <a:r>
              <a:t/>
            </a:r>
            <a:endParaRPr sz="1100">
              <a:solidFill>
                <a:schemeClr val="lt1"/>
              </a:solidFill>
              <a:latin typeface="Proxima Nova"/>
              <a:ea typeface="Proxima Nova"/>
              <a:cs typeface="Proxima Nova"/>
              <a:sym typeface="Proxima Nova"/>
            </a:endParaRPr>
          </a:p>
          <a:p>
            <a:pPr indent="0" lvl="0" marL="0" rtl="0" algn="l">
              <a:spcBef>
                <a:spcPts val="800"/>
              </a:spcBef>
              <a:spcAft>
                <a:spcPts val="0"/>
              </a:spcAft>
              <a:buSzPct val="39919"/>
              <a:buNone/>
            </a:pPr>
            <a:r>
              <a:rPr b="1" lang="en" sz="2756">
                <a:solidFill>
                  <a:schemeClr val="lt1"/>
                </a:solidFill>
                <a:latin typeface="Proxima Nova"/>
                <a:ea typeface="Proxima Nova"/>
                <a:cs typeface="Proxima Nova"/>
                <a:sym typeface="Proxima Nova"/>
              </a:rPr>
              <a:t>Vulnerability:</a:t>
            </a:r>
            <a:r>
              <a:rPr lang="en" sz="2756">
                <a:solidFill>
                  <a:schemeClr val="lt1"/>
                </a:solidFill>
                <a:latin typeface="Proxima Nova"/>
                <a:ea typeface="Proxima Nova"/>
                <a:cs typeface="Proxima Nova"/>
                <a:sym typeface="Proxima Nova"/>
              </a:rPr>
              <a:t> </a:t>
            </a:r>
            <a:r>
              <a:rPr lang="en" sz="1778">
                <a:solidFill>
                  <a:schemeClr val="lt1"/>
                </a:solidFill>
                <a:latin typeface="Proxima Nova"/>
                <a:ea typeface="Proxima Nova"/>
                <a:cs typeface="Proxima Nova"/>
                <a:sym typeface="Proxima Nova"/>
              </a:rPr>
              <a:t>"The intersection of </a:t>
            </a:r>
            <a:r>
              <a:rPr b="1" lang="en" sz="1778">
                <a:solidFill>
                  <a:schemeClr val="lt1"/>
                </a:solidFill>
                <a:latin typeface="Proxima Nova"/>
                <a:ea typeface="Proxima Nova"/>
                <a:cs typeface="Proxima Nova"/>
                <a:sym typeface="Proxima Nova"/>
              </a:rPr>
              <a:t>exposure</a:t>
            </a:r>
            <a:r>
              <a:rPr lang="en" sz="1778">
                <a:solidFill>
                  <a:schemeClr val="lt1"/>
                </a:solidFill>
                <a:latin typeface="Proxima Nova"/>
                <a:ea typeface="Proxima Nova"/>
                <a:cs typeface="Proxima Nova"/>
                <a:sym typeface="Proxima Nova"/>
              </a:rPr>
              <a:t> to climate hazards, </a:t>
            </a:r>
            <a:r>
              <a:rPr b="1" lang="en" sz="1778">
                <a:solidFill>
                  <a:schemeClr val="lt1"/>
                </a:solidFill>
                <a:latin typeface="Proxima Nova"/>
                <a:ea typeface="Proxima Nova"/>
                <a:cs typeface="Proxima Nova"/>
                <a:sym typeface="Proxima Nova"/>
              </a:rPr>
              <a:t>sensitivity</a:t>
            </a:r>
            <a:r>
              <a:rPr lang="en" sz="1778">
                <a:solidFill>
                  <a:schemeClr val="lt1"/>
                </a:solidFill>
                <a:latin typeface="Proxima Nova"/>
                <a:ea typeface="Proxima Nova"/>
                <a:cs typeface="Proxima Nova"/>
                <a:sym typeface="Proxima Nova"/>
              </a:rPr>
              <a:t> to those hazards, and </a:t>
            </a:r>
            <a:r>
              <a:rPr b="1" lang="en" sz="1778">
                <a:solidFill>
                  <a:schemeClr val="lt1"/>
                </a:solidFill>
                <a:latin typeface="Proxima Nova"/>
                <a:ea typeface="Proxima Nova"/>
                <a:cs typeface="Proxima Nova"/>
                <a:sym typeface="Proxima Nova"/>
              </a:rPr>
              <a:t>adaptive capacity</a:t>
            </a:r>
            <a:r>
              <a:rPr lang="en" sz="1778">
                <a:solidFill>
                  <a:schemeClr val="lt1"/>
                </a:solidFill>
                <a:latin typeface="Proxima Nova"/>
                <a:ea typeface="Proxima Nova"/>
                <a:cs typeface="Proxima Nova"/>
                <a:sym typeface="Proxima Nova"/>
              </a:rPr>
              <a:t>, or the ability to recover from and adapt to climate hazards."</a:t>
            </a:r>
            <a:r>
              <a:rPr baseline="30000" lang="en" sz="1778">
                <a:solidFill>
                  <a:schemeClr val="lt1"/>
                </a:solidFill>
                <a:latin typeface="Proxima Nova"/>
                <a:ea typeface="Proxima Nova"/>
                <a:cs typeface="Proxima Nova"/>
                <a:sym typeface="Proxima Nova"/>
              </a:rPr>
              <a:t>2</a:t>
            </a:r>
            <a:endParaRPr sz="1778">
              <a:solidFill>
                <a:srgbClr val="7ED957"/>
              </a:solidFill>
              <a:latin typeface="Proxima Nova"/>
              <a:ea typeface="Proxima Nova"/>
              <a:cs typeface="Proxima Nova"/>
              <a:sym typeface="Proxima Nova"/>
            </a:endParaRPr>
          </a:p>
          <a:p>
            <a:pPr indent="0" lvl="0" marL="0" rtl="0" algn="l">
              <a:spcBef>
                <a:spcPts val="800"/>
              </a:spcBef>
              <a:spcAft>
                <a:spcPts val="0"/>
              </a:spcAft>
              <a:buNone/>
            </a:pPr>
            <a:r>
              <a:t/>
            </a:r>
            <a:endParaRPr sz="1778">
              <a:solidFill>
                <a:srgbClr val="7ED957"/>
              </a:solidFill>
              <a:latin typeface="Proxima Nova"/>
              <a:ea typeface="Proxima Nova"/>
              <a:cs typeface="Proxima Nova"/>
              <a:sym typeface="Proxima Nova"/>
            </a:endParaRPr>
          </a:p>
          <a:p>
            <a:pPr indent="0" lvl="0" marL="0" rtl="0" algn="l">
              <a:spcBef>
                <a:spcPts val="0"/>
              </a:spcBef>
              <a:spcAft>
                <a:spcPts val="0"/>
              </a:spcAft>
              <a:buNone/>
            </a:pPr>
            <a:r>
              <a:t/>
            </a:r>
            <a:endParaRPr sz="1778">
              <a:solidFill>
                <a:srgbClr val="7ED957"/>
              </a:solidFill>
              <a:latin typeface="Proxima Nova"/>
              <a:ea typeface="Proxima Nova"/>
              <a:cs typeface="Proxima Nova"/>
              <a:sym typeface="Proxima Nova"/>
            </a:endParaRPr>
          </a:p>
          <a:p>
            <a:pPr indent="0" lvl="0" marL="0" rtl="0" algn="l">
              <a:spcBef>
                <a:spcPts val="0"/>
              </a:spcBef>
              <a:spcAft>
                <a:spcPts val="0"/>
              </a:spcAft>
              <a:buNone/>
            </a:pPr>
            <a:r>
              <a:t/>
            </a:r>
            <a:endParaRPr sz="1778">
              <a:solidFill>
                <a:srgbClr val="7ED957"/>
              </a:solidFill>
              <a:latin typeface="Proxima Nova"/>
              <a:ea typeface="Proxima Nova"/>
              <a:cs typeface="Proxima Nova"/>
              <a:sym typeface="Proxima Nova"/>
            </a:endParaRPr>
          </a:p>
          <a:p>
            <a:pPr indent="-457200" lvl="0" marL="457200" rtl="0" algn="l">
              <a:lnSpc>
                <a:spcPct val="100000"/>
              </a:lnSpc>
              <a:spcBef>
                <a:spcPts val="0"/>
              </a:spcBef>
              <a:spcAft>
                <a:spcPts val="0"/>
              </a:spcAft>
              <a:buSzPct val="112500"/>
              <a:buNone/>
            </a:pPr>
            <a:r>
              <a:t/>
            </a:r>
            <a:endParaRPr sz="978">
              <a:solidFill>
                <a:schemeClr val="lt1"/>
              </a:solidFill>
              <a:latin typeface="Proxima Nova"/>
              <a:ea typeface="Proxima Nova"/>
              <a:cs typeface="Proxima Nova"/>
              <a:sym typeface="Proxima Nova"/>
            </a:endParaRPr>
          </a:p>
          <a:p>
            <a:pPr indent="-457200" lvl="0" marL="457200" rtl="0" algn="l">
              <a:lnSpc>
                <a:spcPct val="100000"/>
              </a:lnSpc>
              <a:spcBef>
                <a:spcPts val="0"/>
              </a:spcBef>
              <a:spcAft>
                <a:spcPts val="0"/>
              </a:spcAft>
              <a:buSzPct val="112500"/>
              <a:buNone/>
            </a:pPr>
            <a:r>
              <a:rPr baseline="30000" lang="en" sz="978">
                <a:solidFill>
                  <a:schemeClr val="lt1"/>
                </a:solidFill>
                <a:latin typeface="Proxima Nova"/>
                <a:ea typeface="Proxima Nova"/>
                <a:cs typeface="Proxima Nova"/>
                <a:sym typeface="Proxima Nova"/>
              </a:rPr>
              <a:t>1 </a:t>
            </a:r>
            <a:r>
              <a:rPr lang="en" sz="1200" u="sng">
                <a:solidFill>
                  <a:schemeClr val="hlink"/>
                </a:solidFill>
                <a:latin typeface="Proxima Nova"/>
                <a:ea typeface="Proxima Nova"/>
                <a:cs typeface="Proxima Nova"/>
                <a:sym typeface="Proxima Nova"/>
                <a:hlinkClick r:id="rId3"/>
              </a:rPr>
              <a:t>Delta Stewardship Council. (n.d.)</a:t>
            </a:r>
            <a:endParaRPr sz="1200">
              <a:solidFill>
                <a:schemeClr val="lt1"/>
              </a:solidFill>
              <a:latin typeface="Proxima Nova"/>
              <a:ea typeface="Proxima Nova"/>
              <a:cs typeface="Proxima Nova"/>
              <a:sym typeface="Proxima Nova"/>
            </a:endParaRPr>
          </a:p>
          <a:p>
            <a:pPr indent="-457200" lvl="0" marL="457200" rtl="0" algn="l">
              <a:lnSpc>
                <a:spcPct val="100000"/>
              </a:lnSpc>
              <a:spcBef>
                <a:spcPts val="0"/>
              </a:spcBef>
              <a:spcAft>
                <a:spcPts val="0"/>
              </a:spcAft>
              <a:buSzPct val="112500"/>
              <a:buNone/>
            </a:pPr>
            <a:r>
              <a:rPr baseline="30000" lang="en" sz="978">
                <a:solidFill>
                  <a:schemeClr val="lt1"/>
                </a:solidFill>
                <a:latin typeface="Proxima Nova"/>
                <a:ea typeface="Proxima Nova"/>
                <a:cs typeface="Proxima Nova"/>
                <a:sym typeface="Proxima Nova"/>
              </a:rPr>
              <a:t>2</a:t>
            </a:r>
            <a:r>
              <a:rPr baseline="30000" lang="en" sz="1200" u="sng">
                <a:solidFill>
                  <a:schemeClr val="hlink"/>
                </a:solidFill>
                <a:latin typeface="Proxima Nova"/>
                <a:ea typeface="Proxima Nova"/>
                <a:cs typeface="Proxima Nova"/>
                <a:sym typeface="Proxima Nova"/>
                <a:hlinkClick r:id="rId4"/>
              </a:rPr>
              <a:t> </a:t>
            </a:r>
            <a:r>
              <a:rPr lang="en" sz="1200" u="sng">
                <a:solidFill>
                  <a:schemeClr val="hlink"/>
                </a:solidFill>
                <a:latin typeface="Proxima Nova"/>
                <a:ea typeface="Proxima Nova"/>
                <a:cs typeface="Proxima Nova"/>
                <a:sym typeface="Proxima Nova"/>
                <a:hlinkClick r:id="rId5"/>
              </a:rPr>
              <a:t>Delta Stewardship Council. (2021, p.xi)</a:t>
            </a:r>
            <a:endParaRPr sz="1200">
              <a:solidFill>
                <a:schemeClr val="lt1"/>
              </a:solidFill>
              <a:latin typeface="Proxima Nova"/>
              <a:ea typeface="Proxima Nova"/>
              <a:cs typeface="Proxima Nova"/>
              <a:sym typeface="Proxima Nova"/>
            </a:endParaRPr>
          </a:p>
          <a:p>
            <a:pPr indent="-457200" lvl="0" marL="457200" rtl="0" algn="l">
              <a:spcBef>
                <a:spcPts val="0"/>
              </a:spcBef>
              <a:spcAft>
                <a:spcPts val="0"/>
              </a:spcAft>
              <a:buClr>
                <a:schemeClr val="dk1"/>
              </a:buClr>
              <a:buSzPct val="91667"/>
              <a:buFont typeface="Arial"/>
              <a:buNone/>
            </a:pPr>
            <a:r>
              <a:t/>
            </a:r>
            <a:endParaRPr sz="1200">
              <a:solidFill>
                <a:schemeClr val="lt1"/>
              </a:solidFill>
              <a:latin typeface="Proxima Nova"/>
              <a:ea typeface="Proxima Nova"/>
              <a:cs typeface="Proxima Nova"/>
              <a:sym typeface="Proxima Nova"/>
            </a:endParaRPr>
          </a:p>
          <a:p>
            <a:pPr indent="0" lvl="0" marL="0" rtl="0" algn="l">
              <a:spcBef>
                <a:spcPts val="1200"/>
              </a:spcBef>
              <a:spcAft>
                <a:spcPts val="0"/>
              </a:spcAft>
              <a:buSzPct val="55000"/>
              <a:buNone/>
            </a:pPr>
            <a:r>
              <a:t/>
            </a:r>
            <a:endParaRPr sz="2000">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Clr>
                <a:srgbClr val="000000"/>
              </a:buClr>
              <a:buSzPct val="100000"/>
              <a:buFont typeface="Arial"/>
              <a:buNone/>
            </a:pPr>
            <a:r>
              <a:t/>
            </a:r>
            <a:endParaRPr>
              <a:solidFill>
                <a:srgbClr val="7ED957"/>
              </a:solidFill>
              <a:latin typeface="Hammersmith One"/>
              <a:ea typeface="Hammersmith One"/>
              <a:cs typeface="Hammersmith One"/>
              <a:sym typeface="Hammersmith On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277" name="Shape 277"/>
        <p:cNvGrpSpPr/>
        <p:nvPr/>
      </p:nvGrpSpPr>
      <p:grpSpPr>
        <a:xfrm>
          <a:off x="0" y="0"/>
          <a:ext cx="0" cy="0"/>
          <a:chOff x="0" y="0"/>
          <a:chExt cx="0" cy="0"/>
        </a:xfrm>
      </p:grpSpPr>
      <p:sp>
        <p:nvSpPr>
          <p:cNvPr id="278" name="Google Shape;278;p47"/>
          <p:cNvSpPr txBox="1"/>
          <p:nvPr>
            <p:ph type="ctrTitle"/>
          </p:nvPr>
        </p:nvSpPr>
        <p:spPr>
          <a:xfrm>
            <a:off x="256375" y="206600"/>
            <a:ext cx="4215600" cy="12090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27123"/>
              <a:buNone/>
            </a:pPr>
            <a:r>
              <a:rPr b="1" lang="en" sz="4056">
                <a:solidFill>
                  <a:srgbClr val="7ED957"/>
                </a:solidFill>
                <a:latin typeface="Proxima Nova"/>
                <a:ea typeface="Proxima Nova"/>
                <a:cs typeface="Proxima Nova"/>
                <a:sym typeface="Proxima Nova"/>
              </a:rPr>
              <a:t>Delta </a:t>
            </a:r>
            <a:r>
              <a:rPr b="1" lang="en" sz="4056">
                <a:solidFill>
                  <a:srgbClr val="7ED957"/>
                </a:solidFill>
                <a:latin typeface="Proxima Nova"/>
                <a:ea typeface="Proxima Nova"/>
                <a:cs typeface="Proxima Nova"/>
                <a:sym typeface="Proxima Nova"/>
              </a:rPr>
              <a:t>Sub-regional</a:t>
            </a:r>
            <a:r>
              <a:rPr b="1" lang="en" sz="4056">
                <a:solidFill>
                  <a:srgbClr val="7ED957"/>
                </a:solidFill>
                <a:latin typeface="Proxima Nova"/>
                <a:ea typeface="Proxima Nova"/>
                <a:cs typeface="Proxima Nova"/>
                <a:sym typeface="Proxima Nova"/>
              </a:rPr>
              <a:t> Map</a:t>
            </a:r>
            <a:endParaRPr b="1" sz="4056">
              <a:solidFill>
                <a:srgbClr val="7ED957"/>
              </a:solidFill>
              <a:latin typeface="Proxima Nova"/>
              <a:ea typeface="Proxima Nova"/>
              <a:cs typeface="Proxima Nova"/>
              <a:sym typeface="Proxima Nova"/>
            </a:endParaRPr>
          </a:p>
          <a:p>
            <a:pPr indent="0" lvl="0" marL="0" rtl="0" algn="l">
              <a:lnSpc>
                <a:spcPct val="100000"/>
              </a:lnSpc>
              <a:spcBef>
                <a:spcPts val="800"/>
              </a:spcBef>
              <a:spcAft>
                <a:spcPts val="0"/>
              </a:spcAft>
              <a:buSzPct val="27123"/>
              <a:buNone/>
            </a:pPr>
            <a:r>
              <a:t/>
            </a:r>
            <a:endParaRPr b="1" sz="4056">
              <a:solidFill>
                <a:srgbClr val="7ED957"/>
              </a:solidFill>
              <a:latin typeface="Proxima Nova"/>
              <a:ea typeface="Proxima Nova"/>
              <a:cs typeface="Proxima Nova"/>
              <a:sym typeface="Proxima Nova"/>
            </a:endParaRPr>
          </a:p>
          <a:p>
            <a:pPr indent="0" lvl="0" marL="0" rtl="0" algn="l">
              <a:spcBef>
                <a:spcPts val="800"/>
              </a:spcBef>
              <a:spcAft>
                <a:spcPts val="0"/>
              </a:spcAft>
              <a:buSzPct val="36940"/>
              <a:buNone/>
            </a:pPr>
            <a:r>
              <a:t/>
            </a:r>
            <a:endParaRPr sz="2978">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ct val="100000"/>
              <a:buNone/>
            </a:pPr>
            <a:r>
              <a:t/>
            </a:r>
            <a:endParaRPr>
              <a:solidFill>
                <a:srgbClr val="7ED957"/>
              </a:solidFill>
              <a:latin typeface="Hammersmith One"/>
              <a:ea typeface="Hammersmith One"/>
              <a:cs typeface="Hammersmith One"/>
              <a:sym typeface="Hammersmith One"/>
            </a:endParaRPr>
          </a:p>
        </p:txBody>
      </p:sp>
      <p:sp>
        <p:nvSpPr>
          <p:cNvPr id="279" name="Google Shape;279;p47"/>
          <p:cNvSpPr txBox="1"/>
          <p:nvPr/>
        </p:nvSpPr>
        <p:spPr>
          <a:xfrm>
            <a:off x="330175" y="1561938"/>
            <a:ext cx="4068000" cy="1852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lt1"/>
                </a:solidFill>
                <a:latin typeface="Proxima Nova"/>
                <a:ea typeface="Proxima Nova"/>
                <a:cs typeface="Proxima Nova"/>
                <a:sym typeface="Proxima Nova"/>
              </a:rPr>
              <a:t>Delta Stewardship Council (2020) Vulnerability Index</a:t>
            </a:r>
            <a:endParaRPr sz="1900">
              <a:solidFill>
                <a:schemeClr val="lt1"/>
              </a:solidFill>
              <a:latin typeface="Proxima Nova"/>
              <a:ea typeface="Proxima Nova"/>
              <a:cs typeface="Proxima Nova"/>
              <a:sym typeface="Proxima Nova"/>
            </a:endParaRPr>
          </a:p>
          <a:p>
            <a:pPr indent="0" lvl="0" marL="0" rtl="0" algn="l">
              <a:spcBef>
                <a:spcPts val="800"/>
              </a:spcBef>
              <a:spcAft>
                <a:spcPts val="0"/>
              </a:spcAft>
              <a:buNone/>
            </a:pPr>
            <a:r>
              <a:t/>
            </a:r>
            <a:endParaRPr sz="1900">
              <a:solidFill>
                <a:schemeClr val="lt1"/>
              </a:solidFill>
              <a:latin typeface="Proxima Nova"/>
              <a:ea typeface="Proxima Nova"/>
              <a:cs typeface="Proxima Nova"/>
              <a:sym typeface="Proxima Nova"/>
            </a:endParaRPr>
          </a:p>
          <a:p>
            <a:pPr indent="0" lvl="0" marL="0" rtl="0" algn="l">
              <a:spcBef>
                <a:spcPts val="800"/>
              </a:spcBef>
              <a:spcAft>
                <a:spcPts val="800"/>
              </a:spcAft>
              <a:buNone/>
            </a:pPr>
            <a:r>
              <a:rPr lang="en" sz="1900">
                <a:solidFill>
                  <a:schemeClr val="lt1"/>
                </a:solidFill>
                <a:latin typeface="Proxima Nova"/>
                <a:ea typeface="Proxima Nova"/>
                <a:cs typeface="Proxima Nova"/>
                <a:sym typeface="Proxima Nova"/>
              </a:rPr>
              <a:t>14 socioeconomic indicators yield classifications:</a:t>
            </a:r>
            <a:endParaRPr sz="1900">
              <a:solidFill>
                <a:schemeClr val="lt1"/>
              </a:solidFill>
              <a:latin typeface="Proxima Nova"/>
              <a:ea typeface="Proxima Nova"/>
              <a:cs typeface="Proxima Nova"/>
              <a:sym typeface="Proxima Nova"/>
            </a:endParaRPr>
          </a:p>
        </p:txBody>
      </p:sp>
      <p:pic>
        <p:nvPicPr>
          <p:cNvPr id="280" name="Google Shape;280;p47" title="Screenshot 2026-05-05 at 12.29.10 PM.png"/>
          <p:cNvPicPr preferRelativeResize="0"/>
          <p:nvPr/>
        </p:nvPicPr>
        <p:blipFill rotWithShape="1">
          <a:blip r:embed="rId3">
            <a:alphaModFix/>
          </a:blip>
          <a:srcRect b="0" l="46153" r="0" t="0"/>
          <a:stretch/>
        </p:blipFill>
        <p:spPr>
          <a:xfrm>
            <a:off x="4583025" y="0"/>
            <a:ext cx="4959475" cy="5143500"/>
          </a:xfrm>
          <a:prstGeom prst="rect">
            <a:avLst/>
          </a:prstGeom>
          <a:noFill/>
          <a:ln>
            <a:noFill/>
          </a:ln>
        </p:spPr>
      </p:pic>
      <p:sp>
        <p:nvSpPr>
          <p:cNvPr id="281" name="Google Shape;281;p47"/>
          <p:cNvSpPr/>
          <p:nvPr/>
        </p:nvSpPr>
        <p:spPr>
          <a:xfrm>
            <a:off x="403925" y="3329050"/>
            <a:ext cx="1244100" cy="976200"/>
          </a:xfrm>
          <a:prstGeom prst="rect">
            <a:avLst/>
          </a:prstGeom>
          <a:solidFill>
            <a:srgbClr val="2F444B"/>
          </a:solidFill>
          <a:ln>
            <a:noFill/>
          </a:ln>
        </p:spPr>
        <p:txBody>
          <a:bodyPr anchorCtr="0" anchor="ctr" bIns="25600" lIns="51225" spcFirstLastPara="1" rIns="51225" wrap="square" tIns="25600">
            <a:noAutofit/>
          </a:bodyPr>
          <a:lstStyle/>
          <a:p>
            <a:pPr indent="0" lvl="0" marL="0" marR="0" rtl="0" algn="ctr">
              <a:lnSpc>
                <a:spcPct val="100000"/>
              </a:lnSpc>
              <a:spcBef>
                <a:spcPts val="0"/>
              </a:spcBef>
              <a:spcAft>
                <a:spcPts val="0"/>
              </a:spcAft>
              <a:buNone/>
            </a:pPr>
            <a:r>
              <a:t/>
            </a:r>
            <a:endParaRPr b="0" i="0" sz="784" u="none" cap="none" strike="noStrike">
              <a:solidFill>
                <a:srgbClr val="000000"/>
              </a:solidFill>
              <a:latin typeface="Arial"/>
              <a:ea typeface="Arial"/>
              <a:cs typeface="Arial"/>
              <a:sym typeface="Arial"/>
            </a:endParaRPr>
          </a:p>
        </p:txBody>
      </p:sp>
      <p:sp>
        <p:nvSpPr>
          <p:cNvPr id="282" name="Google Shape;282;p47"/>
          <p:cNvSpPr txBox="1"/>
          <p:nvPr/>
        </p:nvSpPr>
        <p:spPr>
          <a:xfrm>
            <a:off x="403925" y="3560500"/>
            <a:ext cx="1244100" cy="513300"/>
          </a:xfrm>
          <a:prstGeom prst="rect">
            <a:avLst/>
          </a:prstGeom>
          <a:noFill/>
          <a:ln>
            <a:noFill/>
          </a:ln>
        </p:spPr>
        <p:txBody>
          <a:bodyPr anchorCtr="0" anchor="t" bIns="15375" lIns="25600" spcFirstLastPara="1" rIns="25600" wrap="square" tIns="15375">
            <a:spAutoFit/>
          </a:bodyPr>
          <a:lstStyle/>
          <a:p>
            <a:pPr indent="0" lvl="0" marL="0" marR="0" rtl="0" algn="ctr">
              <a:lnSpc>
                <a:spcPct val="100000"/>
              </a:lnSpc>
              <a:spcBef>
                <a:spcPts val="0"/>
              </a:spcBef>
              <a:spcAft>
                <a:spcPts val="0"/>
              </a:spcAft>
              <a:buNone/>
            </a:pPr>
            <a:r>
              <a:rPr b="1" lang="en" sz="1681">
                <a:solidFill>
                  <a:srgbClr val="7ED957"/>
                </a:solidFill>
                <a:latin typeface="Proxima Nova"/>
                <a:ea typeface="Proxima Nova"/>
                <a:cs typeface="Proxima Nova"/>
                <a:sym typeface="Proxima Nova"/>
              </a:rPr>
              <a:t>Moderate</a:t>
            </a:r>
            <a:endParaRPr sz="784"/>
          </a:p>
          <a:p>
            <a:pPr indent="0" lvl="0" marL="0" marR="0" rtl="0" algn="ctr">
              <a:lnSpc>
                <a:spcPct val="100000"/>
              </a:lnSpc>
              <a:spcBef>
                <a:spcPts val="336"/>
              </a:spcBef>
              <a:spcAft>
                <a:spcPts val="0"/>
              </a:spcAft>
              <a:buNone/>
            </a:pPr>
            <a:r>
              <a:rPr lang="en" sz="1172">
                <a:solidFill>
                  <a:srgbClr val="FFFFFF"/>
                </a:solidFill>
                <a:latin typeface="Proxima Nova"/>
                <a:ea typeface="Proxima Nova"/>
                <a:cs typeface="Proxima Nova"/>
                <a:sym typeface="Proxima Nova"/>
              </a:rPr>
              <a:t>Vulnerability</a:t>
            </a:r>
            <a:endParaRPr sz="1284"/>
          </a:p>
        </p:txBody>
      </p:sp>
      <p:sp>
        <p:nvSpPr>
          <p:cNvPr id="283" name="Google Shape;283;p47"/>
          <p:cNvSpPr/>
          <p:nvPr/>
        </p:nvSpPr>
        <p:spPr>
          <a:xfrm>
            <a:off x="1742125" y="3329050"/>
            <a:ext cx="1244100" cy="976200"/>
          </a:xfrm>
          <a:prstGeom prst="rect">
            <a:avLst/>
          </a:prstGeom>
          <a:solidFill>
            <a:srgbClr val="2F444B"/>
          </a:solidFill>
          <a:ln>
            <a:noFill/>
          </a:ln>
        </p:spPr>
        <p:txBody>
          <a:bodyPr anchorCtr="0" anchor="ctr" bIns="25600" lIns="51225" spcFirstLastPara="1" rIns="51225" wrap="square" tIns="25600">
            <a:noAutofit/>
          </a:bodyPr>
          <a:lstStyle/>
          <a:p>
            <a:pPr indent="0" lvl="0" marL="0" marR="0" rtl="0" algn="ctr">
              <a:lnSpc>
                <a:spcPct val="100000"/>
              </a:lnSpc>
              <a:spcBef>
                <a:spcPts val="0"/>
              </a:spcBef>
              <a:spcAft>
                <a:spcPts val="0"/>
              </a:spcAft>
              <a:buNone/>
            </a:pPr>
            <a:r>
              <a:t/>
            </a:r>
            <a:endParaRPr b="0" i="0" sz="784" u="none" cap="none" strike="noStrike">
              <a:solidFill>
                <a:srgbClr val="000000"/>
              </a:solidFill>
              <a:latin typeface="Arial"/>
              <a:ea typeface="Arial"/>
              <a:cs typeface="Arial"/>
              <a:sym typeface="Arial"/>
            </a:endParaRPr>
          </a:p>
        </p:txBody>
      </p:sp>
      <p:sp>
        <p:nvSpPr>
          <p:cNvPr id="284" name="Google Shape;284;p47"/>
          <p:cNvSpPr/>
          <p:nvPr/>
        </p:nvSpPr>
        <p:spPr>
          <a:xfrm>
            <a:off x="3080325" y="3329050"/>
            <a:ext cx="1244100" cy="976200"/>
          </a:xfrm>
          <a:prstGeom prst="rect">
            <a:avLst/>
          </a:prstGeom>
          <a:solidFill>
            <a:srgbClr val="2F444B"/>
          </a:solidFill>
          <a:ln>
            <a:noFill/>
          </a:ln>
        </p:spPr>
        <p:txBody>
          <a:bodyPr anchorCtr="0" anchor="ctr" bIns="25600" lIns="51225" spcFirstLastPara="1" rIns="51225" wrap="square" tIns="25600">
            <a:noAutofit/>
          </a:bodyPr>
          <a:lstStyle/>
          <a:p>
            <a:pPr indent="0" lvl="0" marL="0" marR="0" rtl="0" algn="ctr">
              <a:lnSpc>
                <a:spcPct val="100000"/>
              </a:lnSpc>
              <a:spcBef>
                <a:spcPts val="0"/>
              </a:spcBef>
              <a:spcAft>
                <a:spcPts val="0"/>
              </a:spcAft>
              <a:buNone/>
            </a:pPr>
            <a:r>
              <a:t/>
            </a:r>
            <a:endParaRPr b="0" i="0" sz="784" u="none" cap="none" strike="noStrike">
              <a:solidFill>
                <a:srgbClr val="000000"/>
              </a:solidFill>
              <a:latin typeface="Arial"/>
              <a:ea typeface="Arial"/>
              <a:cs typeface="Arial"/>
              <a:sym typeface="Arial"/>
            </a:endParaRPr>
          </a:p>
        </p:txBody>
      </p:sp>
      <p:sp>
        <p:nvSpPr>
          <p:cNvPr id="285" name="Google Shape;285;p47"/>
          <p:cNvSpPr txBox="1"/>
          <p:nvPr/>
        </p:nvSpPr>
        <p:spPr>
          <a:xfrm>
            <a:off x="1742125" y="3560500"/>
            <a:ext cx="1244100" cy="513300"/>
          </a:xfrm>
          <a:prstGeom prst="rect">
            <a:avLst/>
          </a:prstGeom>
          <a:noFill/>
          <a:ln>
            <a:noFill/>
          </a:ln>
        </p:spPr>
        <p:txBody>
          <a:bodyPr anchorCtr="0" anchor="t" bIns="15375" lIns="25600" spcFirstLastPara="1" rIns="25600" wrap="square" tIns="15375">
            <a:spAutoFit/>
          </a:bodyPr>
          <a:lstStyle/>
          <a:p>
            <a:pPr indent="0" lvl="0" marL="0" marR="0" rtl="0" algn="ctr">
              <a:lnSpc>
                <a:spcPct val="100000"/>
              </a:lnSpc>
              <a:spcBef>
                <a:spcPts val="0"/>
              </a:spcBef>
              <a:spcAft>
                <a:spcPts val="0"/>
              </a:spcAft>
              <a:buNone/>
            </a:pPr>
            <a:r>
              <a:rPr b="1" lang="en" sz="1681">
                <a:solidFill>
                  <a:srgbClr val="7ED957"/>
                </a:solidFill>
                <a:latin typeface="Proxima Nova"/>
                <a:ea typeface="Proxima Nova"/>
                <a:cs typeface="Proxima Nova"/>
                <a:sym typeface="Proxima Nova"/>
              </a:rPr>
              <a:t>High</a:t>
            </a:r>
            <a:endParaRPr sz="784"/>
          </a:p>
          <a:p>
            <a:pPr indent="0" lvl="0" marL="0" marR="0" rtl="0" algn="ctr">
              <a:lnSpc>
                <a:spcPct val="100000"/>
              </a:lnSpc>
              <a:spcBef>
                <a:spcPts val="336"/>
              </a:spcBef>
              <a:spcAft>
                <a:spcPts val="0"/>
              </a:spcAft>
              <a:buNone/>
            </a:pPr>
            <a:r>
              <a:rPr lang="en" sz="1172">
                <a:solidFill>
                  <a:srgbClr val="FFFFFF"/>
                </a:solidFill>
                <a:latin typeface="Proxima Nova"/>
                <a:ea typeface="Proxima Nova"/>
                <a:cs typeface="Proxima Nova"/>
                <a:sym typeface="Proxima Nova"/>
              </a:rPr>
              <a:t>Vulnerability</a:t>
            </a:r>
            <a:endParaRPr sz="1284"/>
          </a:p>
        </p:txBody>
      </p:sp>
      <p:sp>
        <p:nvSpPr>
          <p:cNvPr id="286" name="Google Shape;286;p47"/>
          <p:cNvSpPr txBox="1"/>
          <p:nvPr/>
        </p:nvSpPr>
        <p:spPr>
          <a:xfrm>
            <a:off x="3080325" y="3560500"/>
            <a:ext cx="1244100" cy="513300"/>
          </a:xfrm>
          <a:prstGeom prst="rect">
            <a:avLst/>
          </a:prstGeom>
          <a:noFill/>
          <a:ln>
            <a:noFill/>
          </a:ln>
        </p:spPr>
        <p:txBody>
          <a:bodyPr anchorCtr="0" anchor="t" bIns="15375" lIns="25600" spcFirstLastPara="1" rIns="25600" wrap="square" tIns="15375">
            <a:spAutoFit/>
          </a:bodyPr>
          <a:lstStyle/>
          <a:p>
            <a:pPr indent="0" lvl="0" marL="0" marR="0" rtl="0" algn="ctr">
              <a:lnSpc>
                <a:spcPct val="100000"/>
              </a:lnSpc>
              <a:spcBef>
                <a:spcPts val="0"/>
              </a:spcBef>
              <a:spcAft>
                <a:spcPts val="0"/>
              </a:spcAft>
              <a:buNone/>
            </a:pPr>
            <a:r>
              <a:rPr b="1" lang="en" sz="1681">
                <a:solidFill>
                  <a:srgbClr val="7ED957"/>
                </a:solidFill>
                <a:latin typeface="Proxima Nova"/>
                <a:ea typeface="Proxima Nova"/>
                <a:cs typeface="Proxima Nova"/>
                <a:sym typeface="Proxima Nova"/>
              </a:rPr>
              <a:t>Highest</a:t>
            </a:r>
            <a:endParaRPr sz="784"/>
          </a:p>
          <a:p>
            <a:pPr indent="0" lvl="0" marL="0" marR="0" rtl="0" algn="ctr">
              <a:lnSpc>
                <a:spcPct val="100000"/>
              </a:lnSpc>
              <a:spcBef>
                <a:spcPts val="336"/>
              </a:spcBef>
              <a:spcAft>
                <a:spcPts val="0"/>
              </a:spcAft>
              <a:buNone/>
            </a:pPr>
            <a:r>
              <a:rPr lang="en" sz="1172">
                <a:solidFill>
                  <a:srgbClr val="FFFFFF"/>
                </a:solidFill>
                <a:latin typeface="Proxima Nova"/>
                <a:ea typeface="Proxima Nova"/>
                <a:cs typeface="Proxima Nova"/>
                <a:sym typeface="Proxima Nova"/>
              </a:rPr>
              <a:t>Vulnerability</a:t>
            </a:r>
            <a:endParaRPr sz="1284"/>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290" name="Shape 290"/>
        <p:cNvGrpSpPr/>
        <p:nvPr/>
      </p:nvGrpSpPr>
      <p:grpSpPr>
        <a:xfrm>
          <a:off x="0" y="0"/>
          <a:ext cx="0" cy="0"/>
          <a:chOff x="0" y="0"/>
          <a:chExt cx="0" cy="0"/>
        </a:xfrm>
      </p:grpSpPr>
      <p:sp>
        <p:nvSpPr>
          <p:cNvPr id="291" name="Google Shape;291;p48"/>
          <p:cNvSpPr txBox="1"/>
          <p:nvPr>
            <p:ph type="ctrTitle"/>
          </p:nvPr>
        </p:nvSpPr>
        <p:spPr>
          <a:xfrm>
            <a:off x="274325" y="212275"/>
            <a:ext cx="8520600" cy="48240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27123"/>
              <a:buNone/>
            </a:pPr>
            <a:r>
              <a:rPr b="1" lang="en" sz="4056">
                <a:solidFill>
                  <a:srgbClr val="7ED957"/>
                </a:solidFill>
                <a:latin typeface="Proxima Nova"/>
                <a:ea typeface="Proxima Nova"/>
                <a:cs typeface="Proxima Nova"/>
                <a:sym typeface="Proxima Nova"/>
              </a:rPr>
              <a:t>Why this criterion matters</a:t>
            </a:r>
            <a:endParaRPr sz="2122">
              <a:solidFill>
                <a:schemeClr val="lt1"/>
              </a:solidFill>
              <a:latin typeface="Proxima Nova"/>
              <a:ea typeface="Proxima Nova"/>
              <a:cs typeface="Proxima Nova"/>
              <a:sym typeface="Proxima Nova"/>
            </a:endParaRPr>
          </a:p>
          <a:p>
            <a:pPr indent="0" lvl="0" marL="0" rtl="0" algn="l">
              <a:lnSpc>
                <a:spcPct val="100000"/>
              </a:lnSpc>
              <a:spcBef>
                <a:spcPts val="800"/>
              </a:spcBef>
              <a:spcAft>
                <a:spcPts val="0"/>
              </a:spcAft>
              <a:buSzPct val="245026"/>
              <a:buNone/>
            </a:pPr>
            <a:r>
              <a:t/>
            </a:r>
            <a:endParaRPr sz="2122">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SzPct val="245026"/>
              <a:buNone/>
            </a:pPr>
            <a:r>
              <a:t/>
            </a:r>
            <a:endParaRPr sz="2122">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SzPct val="245026"/>
              <a:buNone/>
            </a:pPr>
            <a:r>
              <a:t/>
            </a:r>
            <a:endParaRPr sz="2122">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SzPct val="245026"/>
              <a:buNone/>
            </a:pPr>
            <a:r>
              <a:t/>
            </a:r>
            <a:endParaRPr sz="2122">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SzPct val="245026"/>
              <a:buNone/>
            </a:pPr>
            <a:r>
              <a:t/>
            </a:r>
            <a:endParaRPr sz="2122">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SzPct val="245026"/>
              <a:buNone/>
            </a:pPr>
            <a:r>
              <a:t/>
            </a:r>
            <a:endParaRPr sz="2122">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SzPct val="245026"/>
              <a:buNone/>
            </a:pPr>
            <a:r>
              <a:t/>
            </a:r>
            <a:endParaRPr sz="2122">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SzPct val="245026"/>
              <a:buNone/>
            </a:pPr>
            <a:r>
              <a:t/>
            </a:r>
            <a:endParaRPr sz="2122">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SzPct val="245026"/>
              <a:buNone/>
            </a:pPr>
            <a:r>
              <a:t/>
            </a:r>
            <a:endParaRPr sz="2122">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SzPct val="285366"/>
              <a:buNone/>
            </a:pPr>
            <a:r>
              <a:t/>
            </a:r>
            <a:endParaRPr sz="1822">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SzPct val="285366"/>
              <a:buNone/>
            </a:pPr>
            <a:r>
              <a:t/>
            </a:r>
            <a:endParaRPr sz="1822">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SzPct val="254348"/>
              <a:buNone/>
            </a:pPr>
            <a:r>
              <a:rPr lang="en" sz="2044">
                <a:solidFill>
                  <a:schemeClr val="lt1"/>
                </a:solidFill>
                <a:latin typeface="Proxima Nova"/>
                <a:ea typeface="Proxima Nova"/>
                <a:cs typeface="Proxima Nova"/>
                <a:sym typeface="Proxima Nova"/>
              </a:rPr>
              <a:t>Understanding where and how negative impacts may manifest can inform decision-makers to intervene or choose alternative strategies to avoid these burdens coming to fruition.</a:t>
            </a:r>
            <a:endParaRPr sz="2044">
              <a:solidFill>
                <a:schemeClr val="lt1"/>
              </a:solidFill>
              <a:latin typeface="Proxima Nova"/>
              <a:ea typeface="Proxima Nova"/>
              <a:cs typeface="Proxima Nova"/>
              <a:sym typeface="Proxima Nova"/>
            </a:endParaRPr>
          </a:p>
        </p:txBody>
      </p:sp>
      <p:sp>
        <p:nvSpPr>
          <p:cNvPr id="292" name="Google Shape;292;p48"/>
          <p:cNvSpPr/>
          <p:nvPr/>
        </p:nvSpPr>
        <p:spPr>
          <a:xfrm>
            <a:off x="724200" y="923975"/>
            <a:ext cx="7695600" cy="911400"/>
          </a:xfrm>
          <a:prstGeom prst="rect">
            <a:avLst/>
          </a:prstGeom>
          <a:solidFill>
            <a:srgbClr val="2F444B"/>
          </a:solidFill>
          <a:ln>
            <a:noFill/>
          </a:ln>
        </p:spPr>
        <p:txBody>
          <a:bodyPr anchorCtr="0" anchor="ctr" bIns="45450" lIns="90975" spcFirstLastPara="1" rIns="90975" wrap="square" tIns="45450">
            <a:noAutofit/>
          </a:bodyPr>
          <a:lstStyle/>
          <a:p>
            <a:pPr indent="0" lvl="0" marL="0" marR="0" rtl="0" algn="ctr">
              <a:lnSpc>
                <a:spcPct val="100000"/>
              </a:lnSpc>
              <a:spcBef>
                <a:spcPts val="0"/>
              </a:spcBef>
              <a:spcAft>
                <a:spcPts val="0"/>
              </a:spcAft>
              <a:buNone/>
            </a:pPr>
            <a:r>
              <a:t/>
            </a:r>
            <a:endParaRPr b="0" i="0" sz="1393" u="none" cap="none" strike="noStrike">
              <a:solidFill>
                <a:srgbClr val="000000"/>
              </a:solidFill>
              <a:latin typeface="Arial"/>
              <a:ea typeface="Arial"/>
              <a:cs typeface="Arial"/>
              <a:sym typeface="Arial"/>
            </a:endParaRPr>
          </a:p>
        </p:txBody>
      </p:sp>
      <p:sp>
        <p:nvSpPr>
          <p:cNvPr id="293" name="Google Shape;293;p48"/>
          <p:cNvSpPr txBox="1"/>
          <p:nvPr/>
        </p:nvSpPr>
        <p:spPr>
          <a:xfrm>
            <a:off x="724200" y="982925"/>
            <a:ext cx="7695600" cy="747300"/>
          </a:xfrm>
          <a:prstGeom prst="rect">
            <a:avLst/>
          </a:prstGeom>
          <a:noFill/>
          <a:ln>
            <a:noFill/>
          </a:ln>
        </p:spPr>
        <p:txBody>
          <a:bodyPr anchorCtr="0" anchor="t" bIns="27300" lIns="45450" spcFirstLastPara="1" rIns="45450" wrap="square" tIns="27300">
            <a:spAutoFit/>
          </a:bodyPr>
          <a:lstStyle/>
          <a:p>
            <a:pPr indent="0" lvl="0" marL="0" marR="0" rtl="0" algn="ctr">
              <a:lnSpc>
                <a:spcPct val="100000"/>
              </a:lnSpc>
              <a:spcBef>
                <a:spcPts val="0"/>
              </a:spcBef>
              <a:spcAft>
                <a:spcPts val="0"/>
              </a:spcAft>
              <a:buNone/>
            </a:pPr>
            <a:r>
              <a:rPr b="1" lang="en" sz="2200">
                <a:solidFill>
                  <a:srgbClr val="7ED957"/>
                </a:solidFill>
                <a:latin typeface="Proxima Nova"/>
                <a:ea typeface="Proxima Nova"/>
                <a:cs typeface="Proxima Nova"/>
                <a:sym typeface="Proxima Nova"/>
              </a:rPr>
              <a:t>Redress Past Inequalities</a:t>
            </a:r>
            <a:endParaRPr sz="2200"/>
          </a:p>
          <a:p>
            <a:pPr indent="0" lvl="0" marL="0" marR="0" rtl="0" algn="ctr">
              <a:lnSpc>
                <a:spcPct val="100000"/>
              </a:lnSpc>
              <a:spcBef>
                <a:spcPts val="597"/>
              </a:spcBef>
              <a:spcAft>
                <a:spcPts val="0"/>
              </a:spcAft>
              <a:buNone/>
            </a:pPr>
            <a:r>
              <a:rPr lang="en" sz="1800">
                <a:solidFill>
                  <a:srgbClr val="FFFFFF"/>
                </a:solidFill>
                <a:latin typeface="Proxima Nova"/>
                <a:ea typeface="Proxima Nova"/>
                <a:cs typeface="Proxima Nova"/>
                <a:sym typeface="Proxima Nova"/>
              </a:rPr>
              <a:t>Historic underrepresentation and exclusion in Delta planning </a:t>
            </a:r>
            <a:endParaRPr sz="1800"/>
          </a:p>
        </p:txBody>
      </p:sp>
      <p:sp>
        <p:nvSpPr>
          <p:cNvPr id="294" name="Google Shape;294;p48"/>
          <p:cNvSpPr/>
          <p:nvPr/>
        </p:nvSpPr>
        <p:spPr>
          <a:xfrm>
            <a:off x="724200" y="1958275"/>
            <a:ext cx="7695600" cy="911400"/>
          </a:xfrm>
          <a:prstGeom prst="rect">
            <a:avLst/>
          </a:prstGeom>
          <a:solidFill>
            <a:srgbClr val="2F444B"/>
          </a:solidFill>
          <a:ln>
            <a:noFill/>
          </a:ln>
        </p:spPr>
        <p:txBody>
          <a:bodyPr anchorCtr="0" anchor="ctr" bIns="45450" lIns="90975" spcFirstLastPara="1" rIns="90975" wrap="square" tIns="45450">
            <a:noAutofit/>
          </a:bodyPr>
          <a:lstStyle/>
          <a:p>
            <a:pPr indent="0" lvl="0" marL="0" marR="0" rtl="0" algn="ctr">
              <a:lnSpc>
                <a:spcPct val="100000"/>
              </a:lnSpc>
              <a:spcBef>
                <a:spcPts val="0"/>
              </a:spcBef>
              <a:spcAft>
                <a:spcPts val="0"/>
              </a:spcAft>
              <a:buNone/>
            </a:pPr>
            <a:r>
              <a:t/>
            </a:r>
            <a:endParaRPr b="0" i="0" sz="1393" u="none" cap="none" strike="noStrike">
              <a:solidFill>
                <a:srgbClr val="000000"/>
              </a:solidFill>
              <a:latin typeface="Arial"/>
              <a:ea typeface="Arial"/>
              <a:cs typeface="Arial"/>
              <a:sym typeface="Arial"/>
            </a:endParaRPr>
          </a:p>
        </p:txBody>
      </p:sp>
      <p:sp>
        <p:nvSpPr>
          <p:cNvPr id="295" name="Google Shape;295;p48"/>
          <p:cNvSpPr txBox="1"/>
          <p:nvPr/>
        </p:nvSpPr>
        <p:spPr>
          <a:xfrm>
            <a:off x="724200" y="2017225"/>
            <a:ext cx="7695600" cy="747300"/>
          </a:xfrm>
          <a:prstGeom prst="rect">
            <a:avLst/>
          </a:prstGeom>
          <a:noFill/>
          <a:ln>
            <a:noFill/>
          </a:ln>
        </p:spPr>
        <p:txBody>
          <a:bodyPr anchorCtr="0" anchor="t" bIns="27300" lIns="45450" spcFirstLastPara="1" rIns="45450" wrap="square" tIns="27300">
            <a:spAutoFit/>
          </a:bodyPr>
          <a:lstStyle/>
          <a:p>
            <a:pPr indent="0" lvl="0" marL="0" marR="0" rtl="0" algn="ctr">
              <a:lnSpc>
                <a:spcPct val="100000"/>
              </a:lnSpc>
              <a:spcBef>
                <a:spcPts val="0"/>
              </a:spcBef>
              <a:spcAft>
                <a:spcPts val="0"/>
              </a:spcAft>
              <a:buNone/>
            </a:pPr>
            <a:r>
              <a:rPr b="1" lang="en" sz="2200">
                <a:solidFill>
                  <a:srgbClr val="7ED957"/>
                </a:solidFill>
                <a:latin typeface="Proxima Nova"/>
                <a:ea typeface="Proxima Nova"/>
                <a:cs typeface="Proxima Nova"/>
                <a:sym typeface="Proxima Nova"/>
              </a:rPr>
              <a:t>Explore &amp; Assess</a:t>
            </a:r>
            <a:endParaRPr sz="2200"/>
          </a:p>
          <a:p>
            <a:pPr indent="0" lvl="0" marL="0" marR="0" rtl="0" algn="ctr">
              <a:lnSpc>
                <a:spcPct val="100000"/>
              </a:lnSpc>
              <a:spcBef>
                <a:spcPts val="597"/>
              </a:spcBef>
              <a:spcAft>
                <a:spcPts val="0"/>
              </a:spcAft>
              <a:buNone/>
            </a:pPr>
            <a:r>
              <a:rPr lang="en" sz="1800">
                <a:solidFill>
                  <a:srgbClr val="FFFFFF"/>
                </a:solidFill>
                <a:latin typeface="Proxima Nova"/>
                <a:ea typeface="Proxima Nova"/>
                <a:cs typeface="Proxima Nova"/>
                <a:sym typeface="Proxima Nova"/>
              </a:rPr>
              <a:t>Specific concerns &amp; interests identified by in-Delta communities  </a:t>
            </a:r>
            <a:endParaRPr sz="1800"/>
          </a:p>
        </p:txBody>
      </p:sp>
      <p:sp>
        <p:nvSpPr>
          <p:cNvPr id="296" name="Google Shape;296;p48"/>
          <p:cNvSpPr/>
          <p:nvPr/>
        </p:nvSpPr>
        <p:spPr>
          <a:xfrm>
            <a:off x="724200" y="2992575"/>
            <a:ext cx="7695600" cy="911400"/>
          </a:xfrm>
          <a:prstGeom prst="rect">
            <a:avLst/>
          </a:prstGeom>
          <a:solidFill>
            <a:srgbClr val="2F444B"/>
          </a:solidFill>
          <a:ln>
            <a:noFill/>
          </a:ln>
        </p:spPr>
        <p:txBody>
          <a:bodyPr anchorCtr="0" anchor="ctr" bIns="45450" lIns="90975" spcFirstLastPara="1" rIns="90975" wrap="square" tIns="45450">
            <a:noAutofit/>
          </a:bodyPr>
          <a:lstStyle/>
          <a:p>
            <a:pPr indent="0" lvl="0" marL="0" marR="0" rtl="0" algn="ctr">
              <a:lnSpc>
                <a:spcPct val="100000"/>
              </a:lnSpc>
              <a:spcBef>
                <a:spcPts val="0"/>
              </a:spcBef>
              <a:spcAft>
                <a:spcPts val="0"/>
              </a:spcAft>
              <a:buNone/>
            </a:pPr>
            <a:r>
              <a:t/>
            </a:r>
            <a:endParaRPr b="0" i="0" sz="1393" u="none" cap="none" strike="noStrike">
              <a:solidFill>
                <a:srgbClr val="000000"/>
              </a:solidFill>
              <a:latin typeface="Arial"/>
              <a:ea typeface="Arial"/>
              <a:cs typeface="Arial"/>
              <a:sym typeface="Arial"/>
            </a:endParaRPr>
          </a:p>
        </p:txBody>
      </p:sp>
      <p:sp>
        <p:nvSpPr>
          <p:cNvPr id="297" name="Google Shape;297;p48"/>
          <p:cNvSpPr txBox="1"/>
          <p:nvPr/>
        </p:nvSpPr>
        <p:spPr>
          <a:xfrm>
            <a:off x="724200" y="3051525"/>
            <a:ext cx="7695600" cy="670800"/>
          </a:xfrm>
          <a:prstGeom prst="rect">
            <a:avLst/>
          </a:prstGeom>
          <a:noFill/>
          <a:ln>
            <a:noFill/>
          </a:ln>
        </p:spPr>
        <p:txBody>
          <a:bodyPr anchorCtr="0" anchor="t" bIns="27300" lIns="45450" spcFirstLastPara="1" rIns="45450" wrap="square" tIns="27300">
            <a:spAutoFit/>
          </a:bodyPr>
          <a:lstStyle/>
          <a:p>
            <a:pPr indent="0" lvl="0" marL="0" marR="0" rtl="0" algn="ctr">
              <a:lnSpc>
                <a:spcPct val="100000"/>
              </a:lnSpc>
              <a:spcBef>
                <a:spcPts val="0"/>
              </a:spcBef>
              <a:spcAft>
                <a:spcPts val="0"/>
              </a:spcAft>
              <a:buNone/>
            </a:pPr>
            <a:r>
              <a:rPr b="1" lang="en" sz="2200">
                <a:solidFill>
                  <a:srgbClr val="7ED957"/>
                </a:solidFill>
                <a:latin typeface="Proxima Nova"/>
                <a:ea typeface="Proxima Nova"/>
                <a:cs typeface="Proxima Nova"/>
                <a:sym typeface="Proxima Nova"/>
              </a:rPr>
              <a:t>Minimize Undue Burdens</a:t>
            </a:r>
            <a:endParaRPr sz="2200"/>
          </a:p>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D</a:t>
            </a:r>
            <a:r>
              <a:rPr lang="en" sz="1800">
                <a:solidFill>
                  <a:schemeClr val="lt1"/>
                </a:solidFill>
                <a:latin typeface="Proxima Nova"/>
                <a:ea typeface="Proxima Nova"/>
                <a:cs typeface="Proxima Nova"/>
                <a:sym typeface="Proxima Nova"/>
              </a:rPr>
              <a:t>isproportionate negative impacts incurred by different groups of people</a:t>
            </a:r>
            <a:endParaRPr sz="1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301" name="Shape 301"/>
        <p:cNvGrpSpPr/>
        <p:nvPr/>
      </p:nvGrpSpPr>
      <p:grpSpPr>
        <a:xfrm>
          <a:off x="0" y="0"/>
          <a:ext cx="0" cy="0"/>
          <a:chOff x="0" y="0"/>
          <a:chExt cx="0" cy="0"/>
        </a:xfrm>
      </p:grpSpPr>
      <p:sp>
        <p:nvSpPr>
          <p:cNvPr id="302" name="Google Shape;302;p49"/>
          <p:cNvSpPr txBox="1"/>
          <p:nvPr>
            <p:ph type="ctrTitle"/>
          </p:nvPr>
        </p:nvSpPr>
        <p:spPr>
          <a:xfrm>
            <a:off x="274325" y="114300"/>
            <a:ext cx="8685000" cy="138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100"/>
              <a:buNone/>
            </a:pPr>
            <a:r>
              <a:rPr b="1" lang="en" sz="4056">
                <a:solidFill>
                  <a:srgbClr val="7ED957"/>
                </a:solidFill>
                <a:latin typeface="Proxima Nova"/>
                <a:ea typeface="Proxima Nova"/>
                <a:cs typeface="Proxima Nova"/>
                <a:sym typeface="Proxima Nova"/>
              </a:rPr>
              <a:t>How the criterion was developed</a:t>
            </a:r>
            <a:endParaRPr b="1" sz="4056">
              <a:solidFill>
                <a:srgbClr val="7ED957"/>
              </a:solidFill>
              <a:latin typeface="Proxima Nova"/>
              <a:ea typeface="Proxima Nova"/>
              <a:cs typeface="Proxima Nova"/>
              <a:sym typeface="Proxima Nova"/>
            </a:endParaRPr>
          </a:p>
          <a:p>
            <a:pPr indent="0" lvl="0" marL="0" rtl="0" algn="l">
              <a:spcBef>
                <a:spcPts val="800"/>
              </a:spcBef>
              <a:spcAft>
                <a:spcPts val="800"/>
              </a:spcAft>
              <a:buNone/>
            </a:pPr>
            <a:r>
              <a:rPr lang="en" sz="2400">
                <a:solidFill>
                  <a:schemeClr val="lt1"/>
                </a:solidFill>
                <a:latin typeface="Proxima Nova"/>
                <a:ea typeface="Proxima Nova"/>
                <a:cs typeface="Proxima Nova"/>
                <a:sym typeface="Proxima Nova"/>
              </a:rPr>
              <a:t>Extensive public engagement over the course of several years:</a:t>
            </a:r>
            <a:endParaRPr sz="2400">
              <a:solidFill>
                <a:schemeClr val="lt1"/>
              </a:solidFill>
              <a:latin typeface="Proxima Nova"/>
              <a:ea typeface="Proxima Nova"/>
              <a:cs typeface="Proxima Nova"/>
              <a:sym typeface="Proxima Nova"/>
            </a:endParaRPr>
          </a:p>
        </p:txBody>
      </p:sp>
      <p:sp>
        <p:nvSpPr>
          <p:cNvPr id="303" name="Google Shape;303;p49"/>
          <p:cNvSpPr/>
          <p:nvPr/>
        </p:nvSpPr>
        <p:spPr>
          <a:xfrm>
            <a:off x="476600" y="1816750"/>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304" name="Google Shape;304;p49"/>
          <p:cNvSpPr txBox="1"/>
          <p:nvPr/>
        </p:nvSpPr>
        <p:spPr>
          <a:xfrm>
            <a:off x="476600" y="1848575"/>
            <a:ext cx="1693200" cy="10995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2288">
                <a:solidFill>
                  <a:srgbClr val="7ED957"/>
                </a:solidFill>
                <a:latin typeface="Proxima Nova"/>
                <a:ea typeface="Proxima Nova"/>
                <a:cs typeface="Proxima Nova"/>
                <a:sym typeface="Proxima Nova"/>
              </a:rPr>
              <a:t>Interviews</a:t>
            </a:r>
            <a:endParaRPr sz="1068"/>
          </a:p>
          <a:p>
            <a:pPr indent="0" lvl="0" marL="0" marR="0" rtl="0" algn="ctr">
              <a:lnSpc>
                <a:spcPct val="100000"/>
              </a:lnSpc>
              <a:spcBef>
                <a:spcPts val="458"/>
              </a:spcBef>
              <a:spcAft>
                <a:spcPts val="0"/>
              </a:spcAft>
              <a:buNone/>
            </a:pPr>
            <a:r>
              <a:rPr lang="en">
                <a:solidFill>
                  <a:srgbClr val="FFFFFF"/>
                </a:solidFill>
                <a:latin typeface="Proxima Nova"/>
                <a:ea typeface="Proxima Nova"/>
                <a:cs typeface="Proxima Nova"/>
                <a:sym typeface="Proxima Nova"/>
              </a:rPr>
              <a:t>EJ community members &amp; advocates</a:t>
            </a:r>
            <a:endParaRPr/>
          </a:p>
        </p:txBody>
      </p:sp>
      <p:sp>
        <p:nvSpPr>
          <p:cNvPr id="305" name="Google Shape;305;p49"/>
          <p:cNvSpPr/>
          <p:nvPr/>
        </p:nvSpPr>
        <p:spPr>
          <a:xfrm>
            <a:off x="3725400" y="1816750"/>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306" name="Google Shape;306;p49"/>
          <p:cNvSpPr txBox="1"/>
          <p:nvPr/>
        </p:nvSpPr>
        <p:spPr>
          <a:xfrm>
            <a:off x="3725400" y="1799975"/>
            <a:ext cx="1693200" cy="10509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2288">
                <a:solidFill>
                  <a:srgbClr val="7ED957"/>
                </a:solidFill>
                <a:latin typeface="Proxima Nova"/>
                <a:ea typeface="Proxima Nova"/>
                <a:cs typeface="Proxima Nova"/>
                <a:sym typeface="Proxima Nova"/>
              </a:rPr>
              <a:t>2 Public Workshops</a:t>
            </a:r>
            <a:endParaRPr sz="1068"/>
          </a:p>
          <a:p>
            <a:pPr indent="0" lvl="0" marL="0" marR="0" rtl="0" algn="ctr">
              <a:lnSpc>
                <a:spcPct val="100000"/>
              </a:lnSpc>
              <a:spcBef>
                <a:spcPts val="458"/>
              </a:spcBef>
              <a:spcAft>
                <a:spcPts val="0"/>
              </a:spcAft>
              <a:buNone/>
            </a:pPr>
            <a:r>
              <a:rPr lang="en" sz="1596">
                <a:solidFill>
                  <a:srgbClr val="FFFFFF"/>
                </a:solidFill>
                <a:latin typeface="Proxima Nova"/>
                <a:ea typeface="Proxima Nova"/>
                <a:cs typeface="Proxima Nova"/>
                <a:sym typeface="Proxima Nova"/>
              </a:rPr>
              <a:t>2024, 2025</a:t>
            </a:r>
            <a:endParaRPr sz="1748"/>
          </a:p>
        </p:txBody>
      </p:sp>
      <p:sp>
        <p:nvSpPr>
          <p:cNvPr id="307" name="Google Shape;307;p49"/>
          <p:cNvSpPr/>
          <p:nvPr/>
        </p:nvSpPr>
        <p:spPr>
          <a:xfrm>
            <a:off x="6974200" y="1816775"/>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308" name="Google Shape;308;p49"/>
          <p:cNvSpPr txBox="1"/>
          <p:nvPr/>
        </p:nvSpPr>
        <p:spPr>
          <a:xfrm>
            <a:off x="6974200" y="1848575"/>
            <a:ext cx="1693200" cy="10509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2288">
                <a:solidFill>
                  <a:srgbClr val="7ED957"/>
                </a:solidFill>
                <a:latin typeface="Proxima Nova"/>
                <a:ea typeface="Proxima Nova"/>
                <a:cs typeface="Proxima Nova"/>
                <a:sym typeface="Proxima Nova"/>
              </a:rPr>
              <a:t>1 EJ Workshop</a:t>
            </a:r>
            <a:endParaRPr sz="1068"/>
          </a:p>
          <a:p>
            <a:pPr indent="0" lvl="0" marL="0" marR="0" rtl="0" algn="ctr">
              <a:lnSpc>
                <a:spcPct val="100000"/>
              </a:lnSpc>
              <a:spcBef>
                <a:spcPts val="458"/>
              </a:spcBef>
              <a:spcAft>
                <a:spcPts val="0"/>
              </a:spcAft>
              <a:buNone/>
            </a:pPr>
            <a:r>
              <a:rPr lang="en" sz="1596">
                <a:solidFill>
                  <a:srgbClr val="FFFFFF"/>
                </a:solidFill>
                <a:latin typeface="Proxima Nova"/>
                <a:ea typeface="Proxima Nova"/>
                <a:cs typeface="Proxima Nova"/>
                <a:sym typeface="Proxima Nova"/>
              </a:rPr>
              <a:t>Vulnerability</a:t>
            </a:r>
            <a:endParaRPr sz="1748"/>
          </a:p>
        </p:txBody>
      </p:sp>
      <p:sp>
        <p:nvSpPr>
          <p:cNvPr id="309" name="Google Shape;309;p49"/>
          <p:cNvSpPr/>
          <p:nvPr/>
        </p:nvSpPr>
        <p:spPr>
          <a:xfrm>
            <a:off x="1142650" y="3515600"/>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310" name="Google Shape;310;p49"/>
          <p:cNvSpPr txBox="1"/>
          <p:nvPr/>
        </p:nvSpPr>
        <p:spPr>
          <a:xfrm>
            <a:off x="1142650" y="3465200"/>
            <a:ext cx="1693200" cy="14508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2288">
                <a:solidFill>
                  <a:srgbClr val="7ED957"/>
                </a:solidFill>
                <a:latin typeface="Proxima Nova"/>
                <a:ea typeface="Proxima Nova"/>
                <a:cs typeface="Proxima Nova"/>
                <a:sym typeface="Proxima Nova"/>
              </a:rPr>
              <a:t>EJ Workshop Findings Report</a:t>
            </a:r>
            <a:endParaRPr sz="1748"/>
          </a:p>
        </p:txBody>
      </p:sp>
      <p:sp>
        <p:nvSpPr>
          <p:cNvPr id="311" name="Google Shape;311;p49"/>
          <p:cNvSpPr/>
          <p:nvPr/>
        </p:nvSpPr>
        <p:spPr>
          <a:xfrm>
            <a:off x="3725400" y="3515625"/>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312" name="Google Shape;312;p49"/>
          <p:cNvSpPr txBox="1"/>
          <p:nvPr/>
        </p:nvSpPr>
        <p:spPr>
          <a:xfrm>
            <a:off x="3725400" y="3498850"/>
            <a:ext cx="1693200" cy="12963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2288">
                <a:solidFill>
                  <a:srgbClr val="7ED957"/>
                </a:solidFill>
                <a:latin typeface="Proxima Nova"/>
                <a:ea typeface="Proxima Nova"/>
                <a:cs typeface="Proxima Nova"/>
                <a:sym typeface="Proxima Nova"/>
              </a:rPr>
              <a:t>Advisory Committee</a:t>
            </a:r>
            <a:endParaRPr sz="1068"/>
          </a:p>
          <a:p>
            <a:pPr indent="0" lvl="0" marL="0" marR="0" rtl="0" algn="ctr">
              <a:lnSpc>
                <a:spcPct val="100000"/>
              </a:lnSpc>
              <a:spcBef>
                <a:spcPts val="458"/>
              </a:spcBef>
              <a:spcAft>
                <a:spcPts val="0"/>
              </a:spcAft>
              <a:buNone/>
            </a:pPr>
            <a:r>
              <a:rPr lang="en" sz="1596">
                <a:solidFill>
                  <a:srgbClr val="FFFFFF"/>
                </a:solidFill>
                <a:latin typeface="Proxima Nova"/>
                <a:ea typeface="Proxima Nova"/>
                <a:cs typeface="Proxima Nova"/>
                <a:sym typeface="Proxima Nova"/>
              </a:rPr>
              <a:t>Periodic check-in &amp; review</a:t>
            </a:r>
            <a:endParaRPr sz="1748"/>
          </a:p>
        </p:txBody>
      </p:sp>
      <p:sp>
        <p:nvSpPr>
          <p:cNvPr id="313" name="Google Shape;313;p49"/>
          <p:cNvSpPr/>
          <p:nvPr/>
        </p:nvSpPr>
        <p:spPr>
          <a:xfrm>
            <a:off x="6308150" y="3515650"/>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314" name="Google Shape;314;p49"/>
          <p:cNvSpPr txBox="1"/>
          <p:nvPr/>
        </p:nvSpPr>
        <p:spPr>
          <a:xfrm>
            <a:off x="6308150" y="3697100"/>
            <a:ext cx="1693200" cy="9657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2000">
                <a:solidFill>
                  <a:srgbClr val="7ED957"/>
                </a:solidFill>
                <a:latin typeface="Proxima Nova"/>
                <a:ea typeface="Proxima Nova"/>
                <a:cs typeface="Proxima Nova"/>
                <a:sym typeface="Proxima Nova"/>
              </a:rPr>
              <a:t>Follow-up Expert Consultations</a:t>
            </a:r>
            <a:endParaRPr sz="2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318" name="Shape 318"/>
        <p:cNvGrpSpPr/>
        <p:nvPr/>
      </p:nvGrpSpPr>
      <p:grpSpPr>
        <a:xfrm>
          <a:off x="0" y="0"/>
          <a:ext cx="0" cy="0"/>
          <a:chOff x="0" y="0"/>
          <a:chExt cx="0" cy="0"/>
        </a:xfrm>
      </p:grpSpPr>
      <p:pic>
        <p:nvPicPr>
          <p:cNvPr id="319" name="Google Shape;319;p50"/>
          <p:cNvPicPr preferRelativeResize="0"/>
          <p:nvPr/>
        </p:nvPicPr>
        <p:blipFill>
          <a:blip r:embed="rId3">
            <a:alphaModFix/>
          </a:blip>
          <a:stretch>
            <a:fillRect/>
          </a:stretch>
        </p:blipFill>
        <p:spPr>
          <a:xfrm>
            <a:off x="0" y="0"/>
            <a:ext cx="3327698" cy="5143501"/>
          </a:xfrm>
          <a:prstGeom prst="rect">
            <a:avLst/>
          </a:prstGeom>
          <a:noFill/>
          <a:ln>
            <a:noFill/>
          </a:ln>
        </p:spPr>
      </p:pic>
      <p:pic>
        <p:nvPicPr>
          <p:cNvPr id="320" name="Google Shape;320;p50" title="IMG_2202.JPG"/>
          <p:cNvPicPr preferRelativeResize="0"/>
          <p:nvPr/>
        </p:nvPicPr>
        <p:blipFill>
          <a:blip r:embed="rId4">
            <a:alphaModFix/>
          </a:blip>
          <a:stretch>
            <a:fillRect/>
          </a:stretch>
        </p:blipFill>
        <p:spPr>
          <a:xfrm>
            <a:off x="3327700" y="390638"/>
            <a:ext cx="5816300" cy="436221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324" name="Shape 324"/>
        <p:cNvGrpSpPr/>
        <p:nvPr/>
      </p:nvGrpSpPr>
      <p:grpSpPr>
        <a:xfrm>
          <a:off x="0" y="0"/>
          <a:ext cx="0" cy="0"/>
          <a:chOff x="0" y="0"/>
          <a:chExt cx="0" cy="0"/>
        </a:xfrm>
      </p:grpSpPr>
      <p:pic>
        <p:nvPicPr>
          <p:cNvPr id="325" name="Google Shape;325;p51" title="IMG_2207.JPG"/>
          <p:cNvPicPr preferRelativeResize="0"/>
          <p:nvPr/>
        </p:nvPicPr>
        <p:blipFill>
          <a:blip r:embed="rId3">
            <a:alphaModFix/>
          </a:blip>
          <a:stretch>
            <a:fillRect/>
          </a:stretch>
        </p:blipFill>
        <p:spPr>
          <a:xfrm>
            <a:off x="4716025" y="993002"/>
            <a:ext cx="4209981" cy="3157501"/>
          </a:xfrm>
          <a:prstGeom prst="rect">
            <a:avLst/>
          </a:prstGeom>
          <a:noFill/>
          <a:ln>
            <a:noFill/>
          </a:ln>
        </p:spPr>
      </p:pic>
      <p:pic>
        <p:nvPicPr>
          <p:cNvPr id="326" name="Google Shape;326;p51" title="IMG_2199.JPG"/>
          <p:cNvPicPr preferRelativeResize="0"/>
          <p:nvPr/>
        </p:nvPicPr>
        <p:blipFill>
          <a:blip r:embed="rId4">
            <a:alphaModFix/>
          </a:blip>
          <a:stretch>
            <a:fillRect/>
          </a:stretch>
        </p:blipFill>
        <p:spPr>
          <a:xfrm>
            <a:off x="152400" y="993000"/>
            <a:ext cx="4210002" cy="31575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330" name="Shape 330"/>
        <p:cNvGrpSpPr/>
        <p:nvPr/>
      </p:nvGrpSpPr>
      <p:grpSpPr>
        <a:xfrm>
          <a:off x="0" y="0"/>
          <a:ext cx="0" cy="0"/>
          <a:chOff x="0" y="0"/>
          <a:chExt cx="0" cy="0"/>
        </a:xfrm>
      </p:grpSpPr>
      <p:sp>
        <p:nvSpPr>
          <p:cNvPr id="331" name="Google Shape;331;p52"/>
          <p:cNvSpPr txBox="1"/>
          <p:nvPr>
            <p:ph type="ctrTitle"/>
          </p:nvPr>
        </p:nvSpPr>
        <p:spPr>
          <a:xfrm>
            <a:off x="256375" y="96950"/>
            <a:ext cx="4204800" cy="8895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800"/>
              </a:spcAft>
              <a:buSzPts val="1100"/>
              <a:buNone/>
            </a:pPr>
            <a:r>
              <a:rPr b="1" lang="en" sz="4056">
                <a:solidFill>
                  <a:srgbClr val="7ED957"/>
                </a:solidFill>
                <a:latin typeface="Proxima Nova"/>
                <a:ea typeface="Proxima Nova"/>
                <a:cs typeface="Proxima Nova"/>
                <a:sym typeface="Proxima Nova"/>
              </a:rPr>
              <a:t>EJ Metrics</a:t>
            </a:r>
            <a:endParaRPr sz="2322">
              <a:solidFill>
                <a:schemeClr val="lt1"/>
              </a:solidFill>
              <a:latin typeface="Proxima Nova"/>
              <a:ea typeface="Proxima Nova"/>
              <a:cs typeface="Proxima Nova"/>
              <a:sym typeface="Proxima Nova"/>
            </a:endParaRPr>
          </a:p>
        </p:txBody>
      </p:sp>
      <p:pic>
        <p:nvPicPr>
          <p:cNvPr id="332" name="Google Shape;332;p52"/>
          <p:cNvPicPr preferRelativeResize="0"/>
          <p:nvPr/>
        </p:nvPicPr>
        <p:blipFill rotWithShape="1">
          <a:blip r:embed="rId3">
            <a:alphaModFix/>
          </a:blip>
          <a:srcRect b="0" l="1935" r="2270" t="0"/>
          <a:stretch/>
        </p:blipFill>
        <p:spPr>
          <a:xfrm>
            <a:off x="4461075" y="212932"/>
            <a:ext cx="4682926" cy="4771423"/>
          </a:xfrm>
          <a:prstGeom prst="rect">
            <a:avLst/>
          </a:prstGeom>
          <a:noFill/>
          <a:ln>
            <a:noFill/>
          </a:ln>
        </p:spPr>
      </p:pic>
      <p:sp>
        <p:nvSpPr>
          <p:cNvPr id="333" name="Google Shape;333;p52"/>
          <p:cNvSpPr/>
          <p:nvPr/>
        </p:nvSpPr>
        <p:spPr>
          <a:xfrm>
            <a:off x="256375" y="830400"/>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334" name="Google Shape;334;p52"/>
          <p:cNvSpPr txBox="1"/>
          <p:nvPr/>
        </p:nvSpPr>
        <p:spPr>
          <a:xfrm>
            <a:off x="256375" y="945450"/>
            <a:ext cx="1693200" cy="10986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2288">
                <a:solidFill>
                  <a:srgbClr val="7ED957"/>
                </a:solidFill>
                <a:latin typeface="Proxima Nova"/>
                <a:ea typeface="Proxima Nova"/>
                <a:cs typeface="Proxima Nova"/>
                <a:sym typeface="Proxima Nova"/>
              </a:rPr>
              <a:t>Water Quality &amp; Quantity</a:t>
            </a:r>
            <a:endParaRPr/>
          </a:p>
        </p:txBody>
      </p:sp>
      <p:sp>
        <p:nvSpPr>
          <p:cNvPr id="335" name="Google Shape;335;p52"/>
          <p:cNvSpPr/>
          <p:nvPr/>
        </p:nvSpPr>
        <p:spPr>
          <a:xfrm>
            <a:off x="256375" y="2230738"/>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336" name="Google Shape;336;p52"/>
          <p:cNvSpPr txBox="1"/>
          <p:nvPr/>
        </p:nvSpPr>
        <p:spPr>
          <a:xfrm>
            <a:off x="256375" y="2755363"/>
            <a:ext cx="1693200" cy="3945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2288">
                <a:solidFill>
                  <a:srgbClr val="7ED957"/>
                </a:solidFill>
                <a:latin typeface="Proxima Nova"/>
                <a:ea typeface="Proxima Nova"/>
                <a:cs typeface="Proxima Nova"/>
                <a:sym typeface="Proxima Nova"/>
              </a:rPr>
              <a:t>Flood Risk</a:t>
            </a:r>
            <a:endParaRPr/>
          </a:p>
        </p:txBody>
      </p:sp>
      <p:sp>
        <p:nvSpPr>
          <p:cNvPr id="337" name="Google Shape;337;p52"/>
          <p:cNvSpPr/>
          <p:nvPr/>
        </p:nvSpPr>
        <p:spPr>
          <a:xfrm>
            <a:off x="256375" y="3631100"/>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338" name="Google Shape;338;p52"/>
          <p:cNvSpPr txBox="1"/>
          <p:nvPr/>
        </p:nvSpPr>
        <p:spPr>
          <a:xfrm>
            <a:off x="256375" y="3746150"/>
            <a:ext cx="1693200" cy="10986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2288">
                <a:solidFill>
                  <a:schemeClr val="lt1"/>
                </a:solidFill>
                <a:latin typeface="Proxima Nova"/>
                <a:ea typeface="Proxima Nova"/>
                <a:cs typeface="Proxima Nova"/>
                <a:sym typeface="Proxima Nova"/>
              </a:rPr>
              <a:t>Ecological Restoration &amp; Recovery</a:t>
            </a:r>
            <a:endParaRPr>
              <a:solidFill>
                <a:schemeClr val="lt1"/>
              </a:solidFill>
            </a:endParaRPr>
          </a:p>
        </p:txBody>
      </p:sp>
      <p:sp>
        <p:nvSpPr>
          <p:cNvPr id="339" name="Google Shape;339;p52"/>
          <p:cNvSpPr/>
          <p:nvPr/>
        </p:nvSpPr>
        <p:spPr>
          <a:xfrm>
            <a:off x="2219025" y="830400"/>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340" name="Google Shape;340;p52"/>
          <p:cNvSpPr txBox="1"/>
          <p:nvPr/>
        </p:nvSpPr>
        <p:spPr>
          <a:xfrm>
            <a:off x="2219025" y="830400"/>
            <a:ext cx="1693200" cy="13275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2088">
                <a:solidFill>
                  <a:schemeClr val="lt1"/>
                </a:solidFill>
                <a:latin typeface="Proxima Nova"/>
                <a:ea typeface="Proxima Nova"/>
                <a:cs typeface="Proxima Nova"/>
                <a:sym typeface="Proxima Nova"/>
              </a:rPr>
              <a:t>Ecocultural</a:t>
            </a:r>
            <a:r>
              <a:rPr b="1" lang="en" sz="2088">
                <a:solidFill>
                  <a:schemeClr val="lt1"/>
                </a:solidFill>
                <a:latin typeface="Proxima Nova"/>
                <a:ea typeface="Proxima Nova"/>
                <a:cs typeface="Proxima Nova"/>
                <a:sym typeface="Proxima Nova"/>
              </a:rPr>
              <a:t> Restoration &amp; Indigenous Sovereignty</a:t>
            </a:r>
            <a:endParaRPr sz="1200">
              <a:solidFill>
                <a:schemeClr val="lt1"/>
              </a:solidFill>
            </a:endParaRPr>
          </a:p>
        </p:txBody>
      </p:sp>
      <p:sp>
        <p:nvSpPr>
          <p:cNvPr id="341" name="Google Shape;341;p52"/>
          <p:cNvSpPr/>
          <p:nvPr/>
        </p:nvSpPr>
        <p:spPr>
          <a:xfrm>
            <a:off x="2219025" y="2230738"/>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342" name="Google Shape;342;p52"/>
          <p:cNvSpPr txBox="1"/>
          <p:nvPr/>
        </p:nvSpPr>
        <p:spPr>
          <a:xfrm>
            <a:off x="2219025" y="2345788"/>
            <a:ext cx="1693200" cy="10986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2288">
                <a:solidFill>
                  <a:schemeClr val="lt1"/>
                </a:solidFill>
                <a:latin typeface="Proxima Nova"/>
                <a:ea typeface="Proxima Nova"/>
                <a:cs typeface="Proxima Nova"/>
                <a:sym typeface="Proxima Nova"/>
              </a:rPr>
              <a:t>Community &amp; Recreation</a:t>
            </a:r>
            <a:endParaRPr>
              <a:solidFill>
                <a:schemeClr val="lt1"/>
              </a:solidFill>
            </a:endParaRPr>
          </a:p>
        </p:txBody>
      </p:sp>
      <p:sp>
        <p:nvSpPr>
          <p:cNvPr id="343" name="Google Shape;343;p52"/>
          <p:cNvSpPr/>
          <p:nvPr/>
        </p:nvSpPr>
        <p:spPr>
          <a:xfrm>
            <a:off x="2219025" y="3631100"/>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344" name="Google Shape;344;p52"/>
          <p:cNvSpPr txBox="1"/>
          <p:nvPr/>
        </p:nvSpPr>
        <p:spPr>
          <a:xfrm>
            <a:off x="2219025" y="3631100"/>
            <a:ext cx="1693200" cy="13893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2188">
                <a:solidFill>
                  <a:schemeClr val="lt1"/>
                </a:solidFill>
                <a:latin typeface="Proxima Nova"/>
                <a:ea typeface="Proxima Nova"/>
                <a:cs typeface="Proxima Nova"/>
                <a:sym typeface="Proxima Nova"/>
              </a:rPr>
              <a:t>Sustainable Economy &amp; Economic Transitions</a:t>
            </a:r>
            <a:endParaRPr sz="1300">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348" name="Shape 348"/>
        <p:cNvGrpSpPr/>
        <p:nvPr/>
      </p:nvGrpSpPr>
      <p:grpSpPr>
        <a:xfrm>
          <a:off x="0" y="0"/>
          <a:ext cx="0" cy="0"/>
          <a:chOff x="0" y="0"/>
          <a:chExt cx="0" cy="0"/>
        </a:xfrm>
      </p:grpSpPr>
      <p:sp>
        <p:nvSpPr>
          <p:cNvPr id="349" name="Google Shape;349;p53"/>
          <p:cNvSpPr txBox="1"/>
          <p:nvPr>
            <p:ph type="ctrTitle"/>
          </p:nvPr>
        </p:nvSpPr>
        <p:spPr>
          <a:xfrm>
            <a:off x="256372" y="96949"/>
            <a:ext cx="8520600" cy="3414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100"/>
              <a:buNone/>
            </a:pPr>
            <a:r>
              <a:rPr b="1" lang="en" sz="4056">
                <a:solidFill>
                  <a:srgbClr val="7ED957"/>
                </a:solidFill>
                <a:latin typeface="Proxima Nova"/>
                <a:ea typeface="Proxima Nova"/>
                <a:cs typeface="Proxima Nova"/>
                <a:sym typeface="Proxima Nova"/>
              </a:rPr>
              <a:t>EJ Metrics</a:t>
            </a:r>
            <a:endParaRPr b="1" sz="4056">
              <a:solidFill>
                <a:srgbClr val="7ED957"/>
              </a:solidFill>
              <a:latin typeface="Proxima Nova"/>
              <a:ea typeface="Proxima Nova"/>
              <a:cs typeface="Proxima Nova"/>
              <a:sym typeface="Proxima Nova"/>
            </a:endParaRPr>
          </a:p>
          <a:p>
            <a:pPr indent="0" lvl="0" marL="0" rtl="0" algn="l">
              <a:spcBef>
                <a:spcPts val="800"/>
              </a:spcBef>
              <a:spcAft>
                <a:spcPts val="0"/>
              </a:spcAft>
              <a:buSzPts val="1100"/>
              <a:buNone/>
            </a:pPr>
            <a:r>
              <a:t/>
            </a:r>
            <a:endParaRPr sz="2978">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ts val="5200"/>
              <a:buNone/>
            </a:pPr>
            <a:r>
              <a:t/>
            </a:r>
            <a:endParaRPr>
              <a:solidFill>
                <a:srgbClr val="7ED957"/>
              </a:solidFill>
              <a:latin typeface="Hammersmith One"/>
              <a:ea typeface="Hammersmith One"/>
              <a:cs typeface="Hammersmith One"/>
              <a:sym typeface="Hammersmith One"/>
            </a:endParaRPr>
          </a:p>
        </p:txBody>
      </p:sp>
      <p:graphicFrame>
        <p:nvGraphicFramePr>
          <p:cNvPr id="350" name="Google Shape;350;p53"/>
          <p:cNvGraphicFramePr/>
          <p:nvPr/>
        </p:nvGraphicFramePr>
        <p:xfrm>
          <a:off x="342890" y="928404"/>
          <a:ext cx="3000000" cy="3000000"/>
        </p:xfrm>
        <a:graphic>
          <a:graphicData uri="http://schemas.openxmlformats.org/drawingml/2006/table">
            <a:tbl>
              <a:tblPr>
                <a:noFill/>
                <a:tableStyleId>{85CED069-D96A-4F69-AB26-FEDBC44AE582}</a:tableStyleId>
              </a:tblPr>
              <a:tblGrid>
                <a:gridCol w="1296650"/>
                <a:gridCol w="4510000"/>
                <a:gridCol w="2651550"/>
              </a:tblGrid>
              <a:tr h="524300">
                <a:tc>
                  <a:txBody>
                    <a:bodyPr/>
                    <a:lstStyle/>
                    <a:p>
                      <a:pPr indent="0" lvl="0" marL="0" rtl="0" algn="l">
                        <a:spcBef>
                          <a:spcPts val="0"/>
                        </a:spcBef>
                        <a:spcAft>
                          <a:spcPts val="0"/>
                        </a:spcAft>
                        <a:buClr>
                          <a:schemeClr val="dk1"/>
                        </a:buClr>
                        <a:buSzPts val="2800"/>
                        <a:buFont typeface="Arial"/>
                        <a:buNone/>
                      </a:pPr>
                      <a:r>
                        <a:rPr b="1" lang="en" sz="2000">
                          <a:solidFill>
                            <a:schemeClr val="lt1"/>
                          </a:solidFill>
                          <a:latin typeface="Proxima Nova"/>
                          <a:ea typeface="Proxima Nova"/>
                          <a:cs typeface="Proxima Nova"/>
                          <a:sym typeface="Proxima Nova"/>
                        </a:rPr>
                        <a:t>Metric</a:t>
                      </a:r>
                      <a:endParaRPr b="1" sz="600"/>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2000">
                          <a:solidFill>
                            <a:schemeClr val="lt1"/>
                          </a:solidFill>
                          <a:latin typeface="Proxima Nova"/>
                          <a:ea typeface="Proxima Nova"/>
                          <a:cs typeface="Proxima Nova"/>
                          <a:sym typeface="Proxima Nova"/>
                        </a:rPr>
                        <a:t>Definition</a:t>
                      </a:r>
                      <a:endParaRPr b="1" sz="2000">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2000">
                          <a:solidFill>
                            <a:schemeClr val="lt1"/>
                          </a:solidFill>
                          <a:latin typeface="Proxima Nova"/>
                          <a:ea typeface="Proxima Nova"/>
                          <a:cs typeface="Proxima Nova"/>
                          <a:sym typeface="Proxima Nova"/>
                        </a:rPr>
                        <a:t>Measurement</a:t>
                      </a:r>
                      <a:endParaRPr b="1" sz="2000">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r>
              <a:tr h="1343550">
                <a:tc>
                  <a:txBody>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Salinity Impacts to in-Delta Drinking Water</a:t>
                      </a:r>
                      <a:endParaRPr b="1">
                        <a:latin typeface="Proxima Nova"/>
                        <a:ea typeface="Proxima Nova"/>
                        <a:cs typeface="Proxima Nova"/>
                        <a:sym typeface="Proxima Nova"/>
                      </a:endParaRPr>
                    </a:p>
                  </a:txBody>
                  <a:tcPr marT="91425" marB="91425" marR="91425" marL="91425" anchor="ctr">
                    <a:lnT cap="flat" cmpd="sng" w="38100">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Assessment of salinity changes on in-Delta drinking water systems' ability to meet safe drinking water standards, with special attention to impact to communities of variable vulnerability (classified in accordance with the Delta Vulnerability Index).</a:t>
                      </a:r>
                      <a:endParaRPr b="1">
                        <a:solidFill>
                          <a:schemeClr val="lt1"/>
                        </a:solidFill>
                        <a:latin typeface="Proxima Nova"/>
                        <a:ea typeface="Proxima Nova"/>
                        <a:cs typeface="Proxima Nova"/>
                        <a:sym typeface="Proxima Nova"/>
                      </a:endParaRPr>
                    </a:p>
                  </a:txBody>
                  <a:tcPr marT="91425" marB="91425" marR="91425" marL="91425" anchor="ctr">
                    <a:lnT cap="flat" cmpd="sng" w="38100">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Percentage of run exceeding the salinity drinking water threshold of 1,050 microsiemens per centimeter (𝝁/cm)</a:t>
                      </a:r>
                      <a:endParaRPr b="1">
                        <a:solidFill>
                          <a:schemeClr val="lt1"/>
                        </a:solidFill>
                        <a:latin typeface="Proxima Nova"/>
                        <a:ea typeface="Proxima Nova"/>
                        <a:cs typeface="Proxima Nova"/>
                        <a:sym typeface="Proxima Nova"/>
                      </a:endParaRPr>
                    </a:p>
                  </a:txBody>
                  <a:tcPr marT="91425" marB="91425" marR="91425" marL="91425" anchor="ctr">
                    <a:lnT cap="flat" cmpd="sng" w="38100">
                      <a:solidFill>
                        <a:srgbClr val="9E9E9E"/>
                      </a:solidFill>
                      <a:prstDash val="solid"/>
                      <a:round/>
                      <a:headEnd len="sm" w="sm" type="none"/>
                      <a:tailEnd len="sm" w="sm" type="none"/>
                    </a:lnT>
                  </a:tcPr>
                </a:tc>
              </a:tr>
              <a:tr h="485900">
                <a:tc>
                  <a:txBody>
                    <a:bodyPr/>
                    <a:lstStyle/>
                    <a:p>
                      <a:pPr indent="0" lvl="0" marL="0" rtl="0" algn="l">
                        <a:spcBef>
                          <a:spcPts val="0"/>
                        </a:spcBef>
                        <a:spcAft>
                          <a:spcPts val="0"/>
                        </a:spcAft>
                        <a:buClr>
                          <a:schemeClr val="dk1"/>
                        </a:buClr>
                        <a:buSzPts val="2800"/>
                        <a:buFont typeface="Arial"/>
                        <a:buNone/>
                      </a:pPr>
                      <a:r>
                        <a:rPr b="1" lang="en">
                          <a:solidFill>
                            <a:schemeClr val="lt1"/>
                          </a:solidFill>
                          <a:latin typeface="Proxima Nova"/>
                          <a:ea typeface="Proxima Nova"/>
                          <a:cs typeface="Proxima Nova"/>
                          <a:sym typeface="Proxima Nova"/>
                        </a:rPr>
                        <a:t>Flood Risk Attenuation</a:t>
                      </a:r>
                      <a:endParaRPr b="1">
                        <a:latin typeface="Proxima Nova"/>
                        <a:ea typeface="Proxima Nova"/>
                        <a:cs typeface="Proxima Nova"/>
                        <a:sym typeface="Proxima Nova"/>
                      </a:endParaRPr>
                    </a:p>
                  </a:txBody>
                  <a:tcPr marT="91425" marB="91425" marR="91425" marL="91425" anchor="ctr"/>
                </a:tc>
                <a:tc>
                  <a:txBody>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Identification of inundation likelihood across the Delta.</a:t>
                      </a:r>
                      <a:endParaRPr b="1">
                        <a:solidFill>
                          <a:schemeClr val="lt1"/>
                        </a:solidFill>
                        <a:latin typeface="Proxima Nova"/>
                        <a:ea typeface="Proxima Nova"/>
                        <a:cs typeface="Proxima Nova"/>
                        <a:sym typeface="Proxima Nova"/>
                      </a:endParaRPr>
                    </a:p>
                  </a:txBody>
                  <a:tcPr marT="91425" marB="91425" marR="91425" marL="91425" anchor="ctr"/>
                </a:tc>
                <a:tc>
                  <a:txBody>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Qualitative assessment of in-Delta inundation risk, given green and gray infrastructure solutions included in the scenario narratives</a:t>
                      </a:r>
                      <a:endParaRPr b="1">
                        <a:solidFill>
                          <a:schemeClr val="lt1"/>
                        </a:solidFill>
                        <a:latin typeface="Proxima Nova"/>
                        <a:ea typeface="Proxima Nova"/>
                        <a:cs typeface="Proxima Nova"/>
                        <a:sym typeface="Proxima Nova"/>
                      </a:endParaRPr>
                    </a:p>
                  </a:txBody>
                  <a:tcPr marT="91425" marB="91425" marR="91425" marL="91425" anchor="ctr"/>
                </a:tc>
              </a:tr>
              <a:tr h="846625">
                <a:tc>
                  <a:txBody>
                    <a:bodyPr/>
                    <a:lstStyle/>
                    <a:p>
                      <a:pPr indent="0" lvl="0" marL="0" rtl="0" algn="l">
                        <a:spcBef>
                          <a:spcPts val="0"/>
                        </a:spcBef>
                        <a:spcAft>
                          <a:spcPts val="0"/>
                        </a:spcAft>
                        <a:buClr>
                          <a:schemeClr val="dk1"/>
                        </a:buClr>
                        <a:buSzPts val="2800"/>
                        <a:buFont typeface="Arial"/>
                        <a:buNone/>
                      </a:pPr>
                      <a:r>
                        <a:rPr b="1" lang="en">
                          <a:solidFill>
                            <a:schemeClr val="lt1"/>
                          </a:solidFill>
                          <a:latin typeface="Proxima Nova"/>
                          <a:ea typeface="Proxima Nova"/>
                          <a:cs typeface="Proxima Nova"/>
                          <a:sym typeface="Proxima Nova"/>
                        </a:rPr>
                        <a:t>Water Age + Temperature</a:t>
                      </a:r>
                      <a:endParaRPr b="1">
                        <a:latin typeface="Proxima Nova"/>
                        <a:ea typeface="Proxima Nova"/>
                        <a:cs typeface="Proxima Nova"/>
                        <a:sym typeface="Proxima Nova"/>
                      </a:endParaRPr>
                    </a:p>
                  </a:txBody>
                  <a:tcPr marT="91425" marB="91425" marR="91425" marL="91425" anchor="ctr"/>
                </a:tc>
                <a:tc>
                  <a:txBody>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Proxy for conditions favorable for harmful algal bloom (HABs) formation</a:t>
                      </a:r>
                      <a:endParaRPr b="1">
                        <a:solidFill>
                          <a:schemeClr val="lt1"/>
                        </a:solidFill>
                        <a:latin typeface="Proxima Nova"/>
                        <a:ea typeface="Proxima Nova"/>
                        <a:cs typeface="Proxima Nova"/>
                        <a:sym typeface="Proxima Nova"/>
                      </a:endParaRPr>
                    </a:p>
                  </a:txBody>
                  <a:tcPr marT="91425" marB="91425" marR="91425" marL="91425" anchor="ctr"/>
                </a:tc>
                <a:tc>
                  <a:txBody>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Change in water age during timeframes with water temperature above 19°C</a:t>
                      </a:r>
                      <a:endParaRPr b="1">
                        <a:solidFill>
                          <a:schemeClr val="lt1"/>
                        </a:solidFill>
                        <a:latin typeface="Proxima Nova"/>
                        <a:ea typeface="Proxima Nova"/>
                        <a:cs typeface="Proxima Nova"/>
                        <a:sym typeface="Proxima Nova"/>
                      </a:endParaRPr>
                    </a:p>
                  </a:txBody>
                  <a:tcPr marT="91425" marB="91425" marR="91425" marL="91425" anchor="ct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354" name="Shape 354"/>
        <p:cNvGrpSpPr/>
        <p:nvPr/>
      </p:nvGrpSpPr>
      <p:grpSpPr>
        <a:xfrm>
          <a:off x="0" y="0"/>
          <a:ext cx="0" cy="0"/>
          <a:chOff x="0" y="0"/>
          <a:chExt cx="0" cy="0"/>
        </a:xfrm>
      </p:grpSpPr>
      <p:sp>
        <p:nvSpPr>
          <p:cNvPr id="355" name="Google Shape;355;p54"/>
          <p:cNvSpPr txBox="1"/>
          <p:nvPr>
            <p:ph type="ctrTitle"/>
          </p:nvPr>
        </p:nvSpPr>
        <p:spPr>
          <a:xfrm>
            <a:off x="256375" y="96950"/>
            <a:ext cx="8520600" cy="48135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SzPts val="1100"/>
              <a:buNone/>
            </a:pPr>
            <a:r>
              <a:rPr b="1" lang="en" sz="4056">
                <a:solidFill>
                  <a:srgbClr val="7ED957"/>
                </a:solidFill>
                <a:latin typeface="Proxima Nova"/>
                <a:ea typeface="Proxima Nova"/>
                <a:cs typeface="Proxima Nova"/>
                <a:sym typeface="Proxima Nova"/>
              </a:rPr>
              <a:t>Results &amp; Scenario Ranking:</a:t>
            </a:r>
            <a:endParaRPr b="1" sz="4056">
              <a:solidFill>
                <a:srgbClr val="7ED957"/>
              </a:solidFill>
              <a:latin typeface="Proxima Nova"/>
              <a:ea typeface="Proxima Nova"/>
              <a:cs typeface="Proxima Nova"/>
              <a:sym typeface="Proxima Nova"/>
            </a:endParaRPr>
          </a:p>
          <a:p>
            <a:pPr indent="0" lvl="0" marL="0" rtl="0" algn="ctr">
              <a:spcBef>
                <a:spcPts val="800"/>
              </a:spcBef>
              <a:spcAft>
                <a:spcPts val="800"/>
              </a:spcAft>
              <a:buSzPts val="1100"/>
              <a:buNone/>
            </a:pPr>
            <a:r>
              <a:rPr b="1" lang="en" sz="4056">
                <a:solidFill>
                  <a:srgbClr val="7ED957"/>
                </a:solidFill>
                <a:latin typeface="Proxima Nova"/>
                <a:ea typeface="Proxima Nova"/>
                <a:cs typeface="Proxima Nova"/>
                <a:sym typeface="Proxima Nova"/>
              </a:rPr>
              <a:t>Salinity Impacts to in-Delta Drinking Water</a:t>
            </a:r>
            <a:endParaRPr b="1" sz="4056">
              <a:solidFill>
                <a:srgbClr val="7ED957"/>
              </a:solidFill>
              <a:latin typeface="Proxima Nova"/>
              <a:ea typeface="Proxima Nova"/>
              <a:cs typeface="Proxima Nova"/>
              <a:sym typeface="Proxima Nov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359" name="Shape 359"/>
        <p:cNvGrpSpPr/>
        <p:nvPr/>
      </p:nvGrpSpPr>
      <p:grpSpPr>
        <a:xfrm>
          <a:off x="0" y="0"/>
          <a:ext cx="0" cy="0"/>
          <a:chOff x="0" y="0"/>
          <a:chExt cx="0" cy="0"/>
        </a:xfrm>
      </p:grpSpPr>
      <p:sp>
        <p:nvSpPr>
          <p:cNvPr id="360" name="Google Shape;360;p55"/>
          <p:cNvSpPr txBox="1"/>
          <p:nvPr>
            <p:ph type="ctrTitle"/>
          </p:nvPr>
        </p:nvSpPr>
        <p:spPr>
          <a:xfrm>
            <a:off x="256375" y="179925"/>
            <a:ext cx="8520600" cy="8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800"/>
              </a:spcAft>
              <a:buClr>
                <a:schemeClr val="dk1"/>
              </a:buClr>
              <a:buSzPts val="990"/>
              <a:buFont typeface="Arial"/>
              <a:buNone/>
            </a:pPr>
            <a:r>
              <a:rPr b="1" lang="en" sz="2700">
                <a:solidFill>
                  <a:srgbClr val="7ED957"/>
                </a:solidFill>
                <a:latin typeface="Proxima Nova"/>
                <a:ea typeface="Proxima Nova"/>
                <a:cs typeface="Proxima Nova"/>
                <a:sym typeface="Proxima Nova"/>
              </a:rPr>
              <a:t>Overall Drinking Water Results Summary</a:t>
            </a:r>
            <a:endParaRPr b="1" sz="2700">
              <a:solidFill>
                <a:srgbClr val="7ED957"/>
              </a:solidFill>
              <a:latin typeface="Proxima Nova"/>
              <a:ea typeface="Proxima Nova"/>
              <a:cs typeface="Proxima Nova"/>
              <a:sym typeface="Proxima Nova"/>
            </a:endParaRPr>
          </a:p>
        </p:txBody>
      </p:sp>
      <p:sp>
        <p:nvSpPr>
          <p:cNvPr id="361" name="Google Shape;361;p55"/>
          <p:cNvSpPr txBox="1"/>
          <p:nvPr/>
        </p:nvSpPr>
        <p:spPr>
          <a:xfrm>
            <a:off x="403925" y="645575"/>
            <a:ext cx="7873200" cy="4545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Increased outflows significantly improve water quality (more than most of the adaptation scenarios).</a:t>
            </a:r>
            <a:endParaRPr sz="1800">
              <a:solidFill>
                <a:schemeClr val="lt1"/>
              </a:solidFill>
              <a:latin typeface="Proxima Nova"/>
              <a:ea typeface="Proxima Nova"/>
              <a:cs typeface="Proxima Nova"/>
              <a:sym typeface="Proxima Nova"/>
            </a:endParaRPr>
          </a:p>
          <a:p>
            <a:pPr indent="0" lvl="0" marL="0" rtl="0" algn="l">
              <a:spcBef>
                <a:spcPts val="800"/>
              </a:spcBef>
              <a:spcAft>
                <a:spcPts val="0"/>
              </a:spcAft>
              <a:buNone/>
            </a:pPr>
            <a:r>
              <a:t/>
            </a:r>
            <a:endParaRPr sz="800">
              <a:solidFill>
                <a:schemeClr val="lt1"/>
              </a:solidFill>
              <a:latin typeface="Proxima Nova"/>
              <a:ea typeface="Proxima Nova"/>
              <a:cs typeface="Proxima Nova"/>
              <a:sym typeface="Proxima Nova"/>
            </a:endParaRPr>
          </a:p>
          <a:p>
            <a:pPr indent="-342900" lvl="0" marL="457200" rtl="0" algn="l">
              <a:spcBef>
                <a:spcPts val="80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Combining physical adaptations with increased outflows would likely produce the best results.</a:t>
            </a:r>
            <a:endParaRPr sz="1800">
              <a:solidFill>
                <a:schemeClr val="lt1"/>
              </a:solidFill>
              <a:latin typeface="Proxima Nova"/>
              <a:ea typeface="Proxima Nova"/>
              <a:cs typeface="Proxima Nova"/>
              <a:sym typeface="Proxima Nova"/>
            </a:endParaRPr>
          </a:p>
          <a:p>
            <a:pPr indent="0" lvl="0" marL="0" rtl="0" algn="l">
              <a:spcBef>
                <a:spcPts val="800"/>
              </a:spcBef>
              <a:spcAft>
                <a:spcPts val="0"/>
              </a:spcAft>
              <a:buNone/>
            </a:pPr>
            <a:r>
              <a:t/>
            </a:r>
            <a:endParaRPr sz="800">
              <a:solidFill>
                <a:schemeClr val="lt1"/>
              </a:solidFill>
              <a:latin typeface="Proxima Nova"/>
              <a:ea typeface="Proxima Nova"/>
              <a:cs typeface="Proxima Nova"/>
              <a:sym typeface="Proxima Nova"/>
            </a:endParaRPr>
          </a:p>
          <a:p>
            <a:pPr indent="-342900" lvl="0" marL="457200" rtl="0" algn="l">
              <a:spcBef>
                <a:spcPts val="80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Exceedance percentages in the highest vulnerability zone were alway 0%, across all scenarios.</a:t>
            </a:r>
            <a:endParaRPr sz="1800">
              <a:solidFill>
                <a:schemeClr val="lt1"/>
              </a:solidFill>
              <a:latin typeface="Proxima Nova"/>
              <a:ea typeface="Proxima Nova"/>
              <a:cs typeface="Proxima Nova"/>
              <a:sym typeface="Proxima Nova"/>
            </a:endParaRPr>
          </a:p>
          <a:p>
            <a:pPr indent="0" lvl="0" marL="0" rtl="0" algn="l">
              <a:spcBef>
                <a:spcPts val="800"/>
              </a:spcBef>
              <a:spcAft>
                <a:spcPts val="0"/>
              </a:spcAft>
              <a:buNone/>
            </a:pPr>
            <a:r>
              <a:t/>
            </a:r>
            <a:endParaRPr sz="800">
              <a:solidFill>
                <a:schemeClr val="lt1"/>
              </a:solidFill>
              <a:latin typeface="Proxima Nova"/>
              <a:ea typeface="Proxima Nova"/>
              <a:cs typeface="Proxima Nova"/>
              <a:sym typeface="Proxima Nova"/>
            </a:endParaRPr>
          </a:p>
          <a:p>
            <a:pPr indent="-342900" lvl="0" marL="457200" rtl="0" algn="l">
              <a:spcBef>
                <a:spcPts val="80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Pairs of scenario performance:</a:t>
            </a:r>
            <a:endParaRPr sz="1800">
              <a:solidFill>
                <a:schemeClr val="lt1"/>
              </a:solidFill>
              <a:latin typeface="Proxima Nova"/>
              <a:ea typeface="Proxima Nova"/>
              <a:cs typeface="Proxima Nova"/>
              <a:sym typeface="Proxima Nova"/>
            </a:endParaRPr>
          </a:p>
          <a:p>
            <a:pPr indent="-342900" lvl="1" marL="9144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Bolster and Fortify &amp; Business As Usual</a:t>
            </a:r>
            <a:endParaRPr sz="1800">
              <a:solidFill>
                <a:schemeClr val="lt1"/>
              </a:solidFill>
              <a:latin typeface="Proxima Nova"/>
              <a:ea typeface="Proxima Nova"/>
              <a:cs typeface="Proxima Nova"/>
              <a:sym typeface="Proxima Nova"/>
            </a:endParaRPr>
          </a:p>
          <a:p>
            <a:pPr indent="-342900" lvl="1" marL="9144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Eco Machine &amp; New Green Watershed</a:t>
            </a:r>
            <a:endParaRPr sz="1800">
              <a:solidFill>
                <a:schemeClr val="lt1"/>
              </a:solidFill>
              <a:latin typeface="Proxima Nova"/>
              <a:ea typeface="Proxima Nova"/>
              <a:cs typeface="Proxima Nova"/>
              <a:sym typeface="Proxima Nova"/>
            </a:endParaRPr>
          </a:p>
          <a:p>
            <a:pPr indent="0" lvl="0" marL="0" rtl="0" algn="l">
              <a:spcBef>
                <a:spcPts val="800"/>
              </a:spcBef>
              <a:spcAft>
                <a:spcPts val="0"/>
              </a:spcAft>
              <a:buNone/>
            </a:pPr>
            <a:r>
              <a:t/>
            </a:r>
            <a:endParaRPr sz="800">
              <a:solidFill>
                <a:schemeClr val="lt1"/>
              </a:solidFill>
              <a:latin typeface="Proxima Nova"/>
              <a:ea typeface="Proxima Nova"/>
              <a:cs typeface="Proxima Nova"/>
              <a:sym typeface="Proxima Nova"/>
            </a:endParaRPr>
          </a:p>
          <a:p>
            <a:pPr indent="-342900" lvl="0" marL="457200" rtl="0" algn="l">
              <a:spcBef>
                <a:spcPts val="80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More observed variation in tiered outflow scenarios than adaptation scenarios.</a:t>
            </a:r>
            <a:endParaRPr sz="1800">
              <a:solidFill>
                <a:schemeClr val="lt1"/>
              </a:solidFill>
              <a:latin typeface="Proxima Nova"/>
              <a:ea typeface="Proxima Nova"/>
              <a:cs typeface="Proxima Nova"/>
              <a:sym typeface="Proxima Nov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365" name="Shape 365"/>
        <p:cNvGrpSpPr/>
        <p:nvPr/>
      </p:nvGrpSpPr>
      <p:grpSpPr>
        <a:xfrm>
          <a:off x="0" y="0"/>
          <a:ext cx="0" cy="0"/>
          <a:chOff x="0" y="0"/>
          <a:chExt cx="0" cy="0"/>
        </a:xfrm>
      </p:grpSpPr>
      <p:sp>
        <p:nvSpPr>
          <p:cNvPr id="366" name="Google Shape;366;p56"/>
          <p:cNvSpPr txBox="1"/>
          <p:nvPr>
            <p:ph type="ctrTitle"/>
          </p:nvPr>
        </p:nvSpPr>
        <p:spPr>
          <a:xfrm>
            <a:off x="256375" y="63500"/>
            <a:ext cx="8520600" cy="48468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800"/>
              </a:spcAft>
              <a:buSzPts val="1100"/>
              <a:buNone/>
            </a:pPr>
            <a:r>
              <a:rPr b="1" lang="en" sz="2700">
                <a:solidFill>
                  <a:srgbClr val="7ED957"/>
                </a:solidFill>
                <a:latin typeface="Proxima Nova"/>
                <a:ea typeface="Proxima Nova"/>
                <a:cs typeface="Proxima Nova"/>
                <a:sym typeface="Proxima Nova"/>
              </a:rPr>
              <a:t>Tiered Outflow Scenario Results</a:t>
            </a:r>
            <a:endParaRPr b="1" sz="2700">
              <a:solidFill>
                <a:srgbClr val="7ED957"/>
              </a:solidFill>
              <a:latin typeface="Proxima Nova"/>
              <a:ea typeface="Proxima Nova"/>
              <a:cs typeface="Proxima Nova"/>
              <a:sym typeface="Proxima Nova"/>
            </a:endParaRPr>
          </a:p>
        </p:txBody>
      </p:sp>
      <p:pic>
        <p:nvPicPr>
          <p:cNvPr id="367" name="Google Shape;367;p56" title="Chart"/>
          <p:cNvPicPr preferRelativeResize="0"/>
          <p:nvPr/>
        </p:nvPicPr>
        <p:blipFill>
          <a:blip r:embed="rId3">
            <a:alphaModFix/>
          </a:blip>
          <a:stretch>
            <a:fillRect/>
          </a:stretch>
        </p:blipFill>
        <p:spPr>
          <a:xfrm>
            <a:off x="1018548" y="516000"/>
            <a:ext cx="7106901" cy="4394425"/>
          </a:xfrm>
          <a:prstGeom prst="rect">
            <a:avLst/>
          </a:prstGeom>
          <a:noFill/>
          <a:ln>
            <a:noFill/>
          </a:ln>
        </p:spPr>
      </p:pic>
      <p:sp>
        <p:nvSpPr>
          <p:cNvPr id="368" name="Google Shape;368;p56"/>
          <p:cNvSpPr txBox="1"/>
          <p:nvPr/>
        </p:nvSpPr>
        <p:spPr>
          <a:xfrm>
            <a:off x="1897650" y="4732825"/>
            <a:ext cx="5348700" cy="30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Total run: October 1, 2020 - January 1, 2022</a:t>
            </a:r>
            <a:endParaRPr sz="1500">
              <a:solidFill>
                <a:schemeClr val="lt1"/>
              </a:solidFill>
              <a:latin typeface="Proxima Nova"/>
              <a:ea typeface="Proxima Nova"/>
              <a:cs typeface="Proxima Nova"/>
              <a:sym typeface="Proxima Nova"/>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372" name="Shape 372"/>
        <p:cNvGrpSpPr/>
        <p:nvPr/>
      </p:nvGrpSpPr>
      <p:grpSpPr>
        <a:xfrm>
          <a:off x="0" y="0"/>
          <a:ext cx="0" cy="0"/>
          <a:chOff x="0" y="0"/>
          <a:chExt cx="0" cy="0"/>
        </a:xfrm>
      </p:grpSpPr>
      <p:sp>
        <p:nvSpPr>
          <p:cNvPr id="373" name="Google Shape;373;p57"/>
          <p:cNvSpPr txBox="1"/>
          <p:nvPr>
            <p:ph type="ctrTitle"/>
          </p:nvPr>
        </p:nvSpPr>
        <p:spPr>
          <a:xfrm>
            <a:off x="256375" y="52925"/>
            <a:ext cx="8520600" cy="4857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100"/>
              <a:buNone/>
            </a:pPr>
            <a:r>
              <a:rPr b="1" lang="en" sz="2700">
                <a:solidFill>
                  <a:srgbClr val="7ED957"/>
                </a:solidFill>
                <a:latin typeface="Proxima Nova"/>
                <a:ea typeface="Proxima Nova"/>
                <a:cs typeface="Proxima Nova"/>
                <a:sym typeface="Proxima Nova"/>
              </a:rPr>
              <a:t>Tiered Outflow Scenario Results </a:t>
            </a:r>
            <a:endParaRPr sz="2700">
              <a:solidFill>
                <a:schemeClr val="lt1"/>
              </a:solidFill>
              <a:latin typeface="Proxima Nova"/>
              <a:ea typeface="Proxima Nova"/>
              <a:cs typeface="Proxima Nova"/>
              <a:sym typeface="Proxima Nova"/>
            </a:endParaRPr>
          </a:p>
          <a:p>
            <a:pPr indent="0" lvl="0" marL="0" rtl="0" algn="l">
              <a:spcBef>
                <a:spcPts val="800"/>
              </a:spcBef>
              <a:spcAft>
                <a:spcPts val="0"/>
              </a:spcAft>
              <a:buNone/>
            </a:pPr>
            <a:r>
              <a:t/>
            </a:r>
            <a:endParaRPr sz="2400">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ts val="5200"/>
              <a:buNone/>
            </a:pPr>
            <a:r>
              <a:t/>
            </a:r>
            <a:endParaRPr>
              <a:solidFill>
                <a:srgbClr val="7ED957"/>
              </a:solidFill>
              <a:latin typeface="Hammersmith One"/>
              <a:ea typeface="Hammersmith One"/>
              <a:cs typeface="Hammersmith One"/>
              <a:sym typeface="Hammersmith One"/>
            </a:endParaRPr>
          </a:p>
        </p:txBody>
      </p:sp>
      <p:pic>
        <p:nvPicPr>
          <p:cNvPr id="374" name="Google Shape;374;p57" title="Chart"/>
          <p:cNvPicPr preferRelativeResize="0"/>
          <p:nvPr/>
        </p:nvPicPr>
        <p:blipFill>
          <a:blip r:embed="rId3">
            <a:alphaModFix/>
          </a:blip>
          <a:stretch>
            <a:fillRect/>
          </a:stretch>
        </p:blipFill>
        <p:spPr>
          <a:xfrm>
            <a:off x="993325" y="484773"/>
            <a:ext cx="7157349" cy="4425627"/>
          </a:xfrm>
          <a:prstGeom prst="rect">
            <a:avLst/>
          </a:prstGeom>
          <a:noFill/>
          <a:ln>
            <a:noFill/>
          </a:ln>
        </p:spPr>
      </p:pic>
      <p:sp>
        <p:nvSpPr>
          <p:cNvPr id="375" name="Google Shape;375;p57"/>
          <p:cNvSpPr txBox="1"/>
          <p:nvPr/>
        </p:nvSpPr>
        <p:spPr>
          <a:xfrm>
            <a:off x="1897650" y="4732825"/>
            <a:ext cx="5348700" cy="30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Typical Dry Period: June 1, 2021 - October 31, 2021</a:t>
            </a:r>
            <a:endParaRPr sz="1500">
              <a:solidFill>
                <a:schemeClr val="lt1"/>
              </a:solidFill>
              <a:latin typeface="Proxima Nova"/>
              <a:ea typeface="Proxima Nova"/>
              <a:cs typeface="Proxima Nova"/>
              <a:sym typeface="Proxima Nov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379" name="Shape 379"/>
        <p:cNvGrpSpPr/>
        <p:nvPr/>
      </p:nvGrpSpPr>
      <p:grpSpPr>
        <a:xfrm>
          <a:off x="0" y="0"/>
          <a:ext cx="0" cy="0"/>
          <a:chOff x="0" y="0"/>
          <a:chExt cx="0" cy="0"/>
        </a:xfrm>
      </p:grpSpPr>
      <p:sp>
        <p:nvSpPr>
          <p:cNvPr id="380" name="Google Shape;380;p58"/>
          <p:cNvSpPr txBox="1"/>
          <p:nvPr>
            <p:ph type="ctrTitle"/>
          </p:nvPr>
        </p:nvSpPr>
        <p:spPr>
          <a:xfrm>
            <a:off x="256375" y="0"/>
            <a:ext cx="8520600" cy="49104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800"/>
              </a:spcAft>
              <a:buSzPts val="1100"/>
              <a:buNone/>
            </a:pPr>
            <a:r>
              <a:rPr b="1" lang="en" sz="2700">
                <a:solidFill>
                  <a:srgbClr val="7ED957"/>
                </a:solidFill>
                <a:latin typeface="Proxima Nova"/>
                <a:ea typeface="Proxima Nova"/>
                <a:cs typeface="Proxima Nova"/>
                <a:sym typeface="Proxima Nova"/>
              </a:rPr>
              <a:t>Adaptation Scenario Results</a:t>
            </a:r>
            <a:endParaRPr b="1" sz="2700">
              <a:solidFill>
                <a:srgbClr val="7ED957"/>
              </a:solidFill>
              <a:latin typeface="Proxima Nova"/>
              <a:ea typeface="Proxima Nova"/>
              <a:cs typeface="Proxima Nova"/>
              <a:sym typeface="Proxima Nova"/>
            </a:endParaRPr>
          </a:p>
        </p:txBody>
      </p:sp>
      <p:pic>
        <p:nvPicPr>
          <p:cNvPr id="381" name="Google Shape;381;p58" title="Chart"/>
          <p:cNvPicPr preferRelativeResize="0"/>
          <p:nvPr/>
        </p:nvPicPr>
        <p:blipFill>
          <a:blip r:embed="rId3">
            <a:alphaModFix/>
          </a:blip>
          <a:stretch>
            <a:fillRect/>
          </a:stretch>
        </p:blipFill>
        <p:spPr>
          <a:xfrm>
            <a:off x="858700" y="469200"/>
            <a:ext cx="7426599" cy="4592101"/>
          </a:xfrm>
          <a:prstGeom prst="rect">
            <a:avLst/>
          </a:prstGeom>
          <a:noFill/>
          <a:ln>
            <a:noFill/>
          </a:ln>
        </p:spPr>
      </p:pic>
      <p:sp>
        <p:nvSpPr>
          <p:cNvPr id="382" name="Google Shape;382;p58"/>
          <p:cNvSpPr txBox="1"/>
          <p:nvPr/>
        </p:nvSpPr>
        <p:spPr>
          <a:xfrm>
            <a:off x="1897650" y="4835400"/>
            <a:ext cx="5348700" cy="30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Total Run: October 1, 2018 - December 1, 2020</a:t>
            </a:r>
            <a:endParaRPr sz="1500">
              <a:solidFill>
                <a:schemeClr val="lt1"/>
              </a:solidFill>
              <a:latin typeface="Proxima Nova"/>
              <a:ea typeface="Proxima Nova"/>
              <a:cs typeface="Proxima Nova"/>
              <a:sym typeface="Proxima Nov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386" name="Shape 386"/>
        <p:cNvGrpSpPr/>
        <p:nvPr/>
      </p:nvGrpSpPr>
      <p:grpSpPr>
        <a:xfrm>
          <a:off x="0" y="0"/>
          <a:ext cx="0" cy="0"/>
          <a:chOff x="0" y="0"/>
          <a:chExt cx="0" cy="0"/>
        </a:xfrm>
      </p:grpSpPr>
      <p:sp>
        <p:nvSpPr>
          <p:cNvPr id="387" name="Google Shape;387;p59"/>
          <p:cNvSpPr txBox="1"/>
          <p:nvPr>
            <p:ph type="ctrTitle"/>
          </p:nvPr>
        </p:nvSpPr>
        <p:spPr>
          <a:xfrm>
            <a:off x="256375" y="96950"/>
            <a:ext cx="8520600" cy="48135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SzPts val="1100"/>
              <a:buNone/>
            </a:pPr>
            <a:r>
              <a:rPr b="1" lang="en" sz="4056">
                <a:solidFill>
                  <a:srgbClr val="7ED957"/>
                </a:solidFill>
                <a:latin typeface="Proxima Nova"/>
                <a:ea typeface="Proxima Nova"/>
                <a:cs typeface="Proxima Nova"/>
                <a:sym typeface="Proxima Nova"/>
              </a:rPr>
              <a:t>Results &amp; Scenario Ranking:</a:t>
            </a:r>
            <a:endParaRPr b="1" sz="4056">
              <a:solidFill>
                <a:srgbClr val="7ED957"/>
              </a:solidFill>
              <a:latin typeface="Proxima Nova"/>
              <a:ea typeface="Proxima Nova"/>
              <a:cs typeface="Proxima Nova"/>
              <a:sym typeface="Proxima Nova"/>
            </a:endParaRPr>
          </a:p>
          <a:p>
            <a:pPr indent="0" lvl="0" marL="0" rtl="0" algn="ctr">
              <a:spcBef>
                <a:spcPts val="800"/>
              </a:spcBef>
              <a:spcAft>
                <a:spcPts val="0"/>
              </a:spcAft>
              <a:buSzPts val="1100"/>
              <a:buNone/>
            </a:pPr>
            <a:r>
              <a:rPr b="1" lang="en" sz="4056">
                <a:solidFill>
                  <a:srgbClr val="7ED957"/>
                </a:solidFill>
                <a:latin typeface="Proxima Nova"/>
                <a:ea typeface="Proxima Nova"/>
                <a:cs typeface="Proxima Nova"/>
                <a:sym typeface="Proxima Nova"/>
              </a:rPr>
              <a:t>Water Age + Temperature</a:t>
            </a:r>
            <a:endParaRPr b="1" sz="4056">
              <a:solidFill>
                <a:srgbClr val="7ED957"/>
              </a:solidFill>
              <a:latin typeface="Proxima Nova"/>
              <a:ea typeface="Proxima Nova"/>
              <a:cs typeface="Proxima Nova"/>
              <a:sym typeface="Proxima Nova"/>
            </a:endParaRPr>
          </a:p>
          <a:p>
            <a:pPr indent="0" lvl="0" marL="0" rtl="0" algn="ctr">
              <a:spcBef>
                <a:spcPts val="800"/>
              </a:spcBef>
              <a:spcAft>
                <a:spcPts val="800"/>
              </a:spcAft>
              <a:buSzPts val="1100"/>
              <a:buNone/>
            </a:pPr>
            <a:r>
              <a:rPr b="1" lang="en" sz="4056">
                <a:solidFill>
                  <a:srgbClr val="7ED957"/>
                </a:solidFill>
                <a:latin typeface="Proxima Nova"/>
                <a:ea typeface="Proxima Nova"/>
                <a:cs typeface="Proxima Nova"/>
                <a:sym typeface="Proxima Nova"/>
              </a:rPr>
              <a:t>(HABs Proxy)</a:t>
            </a:r>
            <a:endParaRPr b="1" sz="4056">
              <a:solidFill>
                <a:srgbClr val="7ED957"/>
              </a:solidFill>
              <a:latin typeface="Proxima Nova"/>
              <a:ea typeface="Proxima Nova"/>
              <a:cs typeface="Proxima Nova"/>
              <a:sym typeface="Proxima Nov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391" name="Shape 391"/>
        <p:cNvGrpSpPr/>
        <p:nvPr/>
      </p:nvGrpSpPr>
      <p:grpSpPr>
        <a:xfrm>
          <a:off x="0" y="0"/>
          <a:ext cx="0" cy="0"/>
          <a:chOff x="0" y="0"/>
          <a:chExt cx="0" cy="0"/>
        </a:xfrm>
      </p:grpSpPr>
      <p:sp>
        <p:nvSpPr>
          <p:cNvPr id="392" name="Google Shape;392;p60"/>
          <p:cNvSpPr txBox="1"/>
          <p:nvPr>
            <p:ph type="ctrTitle"/>
          </p:nvPr>
        </p:nvSpPr>
        <p:spPr>
          <a:xfrm>
            <a:off x="256375" y="96950"/>
            <a:ext cx="8520600" cy="27345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100"/>
              <a:buNone/>
            </a:pPr>
            <a:r>
              <a:rPr b="1" lang="en" sz="3000">
                <a:solidFill>
                  <a:srgbClr val="7ED957"/>
                </a:solidFill>
                <a:latin typeface="Proxima Nova"/>
                <a:ea typeface="Proxima Nova"/>
                <a:cs typeface="Proxima Nova"/>
                <a:sym typeface="Proxima Nova"/>
              </a:rPr>
              <a:t>Water Age + Temperature</a:t>
            </a:r>
            <a:endParaRPr b="1" sz="3000">
              <a:solidFill>
                <a:srgbClr val="7ED957"/>
              </a:solidFill>
              <a:latin typeface="Proxima Nova"/>
              <a:ea typeface="Proxima Nova"/>
              <a:cs typeface="Proxima Nova"/>
              <a:sym typeface="Proxima Nova"/>
            </a:endParaRPr>
          </a:p>
          <a:p>
            <a:pPr indent="-381000" lvl="0" marL="457200" rtl="0" algn="l">
              <a:spcBef>
                <a:spcPts val="800"/>
              </a:spcBef>
              <a:spcAft>
                <a:spcPts val="0"/>
              </a:spcAft>
              <a:buClr>
                <a:schemeClr val="lt1"/>
              </a:buClr>
              <a:buSzPts val="2400"/>
              <a:buFont typeface="Proxima Nova"/>
              <a:buChar char="●"/>
            </a:pPr>
            <a:r>
              <a:rPr lang="en" sz="2400">
                <a:solidFill>
                  <a:schemeClr val="lt1"/>
                </a:solidFill>
                <a:latin typeface="Proxima Nova"/>
                <a:ea typeface="Proxima Nova"/>
                <a:cs typeface="Proxima Nova"/>
                <a:sym typeface="Proxima Nova"/>
              </a:rPr>
              <a:t>Water Temperature ≥ 19 °C → May - October</a:t>
            </a:r>
            <a:endParaRPr sz="2400">
              <a:solidFill>
                <a:schemeClr val="lt1"/>
              </a:solidFill>
              <a:latin typeface="Proxima Nova"/>
              <a:ea typeface="Proxima Nova"/>
              <a:cs typeface="Proxima Nova"/>
              <a:sym typeface="Proxima Nova"/>
            </a:endParaRPr>
          </a:p>
          <a:p>
            <a:pPr indent="-381000" lvl="0" marL="457200" rtl="0" algn="l">
              <a:spcBef>
                <a:spcPts val="0"/>
              </a:spcBef>
              <a:spcAft>
                <a:spcPts val="0"/>
              </a:spcAft>
              <a:buClr>
                <a:schemeClr val="lt1"/>
              </a:buClr>
              <a:buSzPts val="2400"/>
              <a:buFont typeface="Proxima Nova"/>
              <a:buChar char="●"/>
            </a:pPr>
            <a:r>
              <a:rPr lang="en" sz="2400">
                <a:solidFill>
                  <a:schemeClr val="lt1"/>
                </a:solidFill>
                <a:latin typeface="Proxima Nova"/>
                <a:ea typeface="Proxima Nova"/>
                <a:cs typeface="Proxima Nova"/>
                <a:sym typeface="Proxima Nova"/>
              </a:rPr>
              <a:t>Water Age ≥ 14 days</a:t>
            </a:r>
            <a:endParaRPr sz="2400">
              <a:solidFill>
                <a:schemeClr val="lt1"/>
              </a:solidFill>
              <a:latin typeface="Proxima Nova"/>
              <a:ea typeface="Proxima Nova"/>
              <a:cs typeface="Proxima Nova"/>
              <a:sym typeface="Proxima Nova"/>
            </a:endParaRPr>
          </a:p>
          <a:p>
            <a:pPr indent="-381000" lvl="0" marL="457200" rtl="0" algn="l">
              <a:spcBef>
                <a:spcPts val="0"/>
              </a:spcBef>
              <a:spcAft>
                <a:spcPts val="0"/>
              </a:spcAft>
              <a:buClr>
                <a:schemeClr val="lt1"/>
              </a:buClr>
              <a:buSzPts val="2400"/>
              <a:buFont typeface="Proxima Nova"/>
              <a:buChar char="●"/>
            </a:pPr>
            <a:r>
              <a:rPr lang="en" sz="2400">
                <a:solidFill>
                  <a:schemeClr val="lt1"/>
                </a:solidFill>
                <a:latin typeface="Proxima Nova"/>
                <a:ea typeface="Proxima Nova"/>
                <a:cs typeface="Proxima Nova"/>
                <a:sym typeface="Proxima Nova"/>
              </a:rPr>
              <a:t>Assessing scenario performance based on change in water age from baseline</a:t>
            </a:r>
            <a:endParaRPr sz="2400">
              <a:solidFill>
                <a:schemeClr val="lt1"/>
              </a:solidFill>
              <a:latin typeface="Proxima Nova"/>
              <a:ea typeface="Proxima Nova"/>
              <a:cs typeface="Proxima Nova"/>
              <a:sym typeface="Proxima Nova"/>
            </a:endParaRPr>
          </a:p>
          <a:p>
            <a:pPr indent="-381000" lvl="0" marL="457200" rtl="0" algn="l">
              <a:spcBef>
                <a:spcPts val="0"/>
              </a:spcBef>
              <a:spcAft>
                <a:spcPts val="0"/>
              </a:spcAft>
              <a:buClr>
                <a:schemeClr val="lt1"/>
              </a:buClr>
              <a:buSzPts val="2400"/>
              <a:buFont typeface="Proxima Nova"/>
              <a:buChar char="●"/>
            </a:pPr>
            <a:r>
              <a:rPr lang="en" sz="2400">
                <a:solidFill>
                  <a:schemeClr val="lt1"/>
                </a:solidFill>
                <a:latin typeface="Proxima Nova"/>
                <a:ea typeface="Proxima Nova"/>
                <a:cs typeface="Proxima Nova"/>
                <a:sym typeface="Proxima Nova"/>
              </a:rPr>
              <a:t>5 hotspot regions</a:t>
            </a:r>
            <a:endParaRPr>
              <a:solidFill>
                <a:srgbClr val="7ED957"/>
              </a:solidFill>
              <a:latin typeface="Hammersmith One"/>
              <a:ea typeface="Hammersmith One"/>
              <a:cs typeface="Hammersmith One"/>
              <a:sym typeface="Hammersmith One"/>
            </a:endParaRPr>
          </a:p>
        </p:txBody>
      </p:sp>
      <p:sp>
        <p:nvSpPr>
          <p:cNvPr id="393" name="Google Shape;393;p60"/>
          <p:cNvSpPr/>
          <p:nvPr/>
        </p:nvSpPr>
        <p:spPr>
          <a:xfrm>
            <a:off x="125000" y="2831450"/>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394" name="Google Shape;394;p60"/>
          <p:cNvSpPr txBox="1"/>
          <p:nvPr/>
        </p:nvSpPr>
        <p:spPr>
          <a:xfrm>
            <a:off x="125000" y="3038900"/>
            <a:ext cx="1693200" cy="9138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1888">
                <a:solidFill>
                  <a:srgbClr val="7ED957"/>
                </a:solidFill>
                <a:latin typeface="Proxima Nova"/>
                <a:ea typeface="Proxima Nova"/>
                <a:cs typeface="Proxima Nova"/>
                <a:sym typeface="Proxima Nova"/>
              </a:rPr>
              <a:t>Suisun Marsh &amp; Surrounding Wetlands</a:t>
            </a:r>
            <a:endParaRPr sz="1000"/>
          </a:p>
        </p:txBody>
      </p:sp>
      <p:sp>
        <p:nvSpPr>
          <p:cNvPr id="395" name="Google Shape;395;p60"/>
          <p:cNvSpPr/>
          <p:nvPr/>
        </p:nvSpPr>
        <p:spPr>
          <a:xfrm>
            <a:off x="1925200" y="2831450"/>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396" name="Google Shape;396;p60"/>
          <p:cNvSpPr/>
          <p:nvPr/>
        </p:nvSpPr>
        <p:spPr>
          <a:xfrm>
            <a:off x="3725400" y="2831450"/>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397" name="Google Shape;397;p60"/>
          <p:cNvSpPr/>
          <p:nvPr/>
        </p:nvSpPr>
        <p:spPr>
          <a:xfrm>
            <a:off x="5525600" y="2831450"/>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398" name="Google Shape;398;p60"/>
          <p:cNvSpPr/>
          <p:nvPr/>
        </p:nvSpPr>
        <p:spPr>
          <a:xfrm>
            <a:off x="7325800" y="2831450"/>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399" name="Google Shape;399;p60"/>
          <p:cNvSpPr txBox="1"/>
          <p:nvPr/>
        </p:nvSpPr>
        <p:spPr>
          <a:xfrm>
            <a:off x="1925200" y="3329450"/>
            <a:ext cx="1693200" cy="3327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1888">
                <a:solidFill>
                  <a:srgbClr val="7ED957"/>
                </a:solidFill>
                <a:latin typeface="Proxima Nova"/>
                <a:ea typeface="Proxima Nova"/>
                <a:cs typeface="Proxima Nova"/>
                <a:sym typeface="Proxima Nova"/>
              </a:rPr>
              <a:t>Franks Tract</a:t>
            </a:r>
            <a:endParaRPr sz="1000"/>
          </a:p>
        </p:txBody>
      </p:sp>
      <p:sp>
        <p:nvSpPr>
          <p:cNvPr id="400" name="Google Shape;400;p60"/>
          <p:cNvSpPr txBox="1"/>
          <p:nvPr/>
        </p:nvSpPr>
        <p:spPr>
          <a:xfrm>
            <a:off x="3725400" y="3329450"/>
            <a:ext cx="1693200" cy="3327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1888">
                <a:solidFill>
                  <a:srgbClr val="7ED957"/>
                </a:solidFill>
                <a:latin typeface="Proxima Nova"/>
                <a:ea typeface="Proxima Nova"/>
                <a:cs typeface="Proxima Nova"/>
                <a:sym typeface="Proxima Nova"/>
              </a:rPr>
              <a:t>South Delta</a:t>
            </a:r>
            <a:endParaRPr sz="1000"/>
          </a:p>
        </p:txBody>
      </p:sp>
      <p:sp>
        <p:nvSpPr>
          <p:cNvPr id="401" name="Google Shape;401;p60"/>
          <p:cNvSpPr txBox="1"/>
          <p:nvPr/>
        </p:nvSpPr>
        <p:spPr>
          <a:xfrm>
            <a:off x="5525600" y="3184100"/>
            <a:ext cx="1693200" cy="6234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1888">
                <a:solidFill>
                  <a:srgbClr val="7ED957"/>
                </a:solidFill>
                <a:latin typeface="Proxima Nova"/>
                <a:ea typeface="Proxima Nova"/>
                <a:cs typeface="Proxima Nova"/>
                <a:sym typeface="Proxima Nova"/>
              </a:rPr>
              <a:t>Lindsey - Cache Slough</a:t>
            </a:r>
            <a:endParaRPr sz="1000"/>
          </a:p>
        </p:txBody>
      </p:sp>
      <p:sp>
        <p:nvSpPr>
          <p:cNvPr id="402" name="Google Shape;402;p60"/>
          <p:cNvSpPr txBox="1"/>
          <p:nvPr/>
        </p:nvSpPr>
        <p:spPr>
          <a:xfrm>
            <a:off x="7325800" y="3038900"/>
            <a:ext cx="1693200" cy="9138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1888">
                <a:solidFill>
                  <a:srgbClr val="7ED957"/>
                </a:solidFill>
                <a:latin typeface="Proxima Nova"/>
                <a:ea typeface="Proxima Nova"/>
                <a:cs typeface="Proxima Nova"/>
                <a:sym typeface="Proxima Nova"/>
              </a:rPr>
              <a:t>McCormack- Williamson Tract</a:t>
            </a:r>
            <a:endParaRPr sz="1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406" name="Shape 406"/>
        <p:cNvGrpSpPr/>
        <p:nvPr/>
      </p:nvGrpSpPr>
      <p:grpSpPr>
        <a:xfrm>
          <a:off x="0" y="0"/>
          <a:ext cx="0" cy="0"/>
          <a:chOff x="0" y="0"/>
          <a:chExt cx="0" cy="0"/>
        </a:xfrm>
      </p:grpSpPr>
      <p:sp>
        <p:nvSpPr>
          <p:cNvPr id="407" name="Google Shape;407;p61"/>
          <p:cNvSpPr txBox="1"/>
          <p:nvPr>
            <p:ph type="ctrTitle"/>
          </p:nvPr>
        </p:nvSpPr>
        <p:spPr>
          <a:xfrm>
            <a:off x="256375" y="96950"/>
            <a:ext cx="8520600" cy="48135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100"/>
              <a:buNone/>
            </a:pPr>
            <a:r>
              <a:rPr b="1" lang="en" sz="4056">
                <a:solidFill>
                  <a:srgbClr val="7ED957"/>
                </a:solidFill>
                <a:latin typeface="Proxima Nova"/>
                <a:ea typeface="Proxima Nova"/>
                <a:cs typeface="Proxima Nova"/>
                <a:sym typeface="Proxima Nova"/>
              </a:rPr>
              <a:t>Results &amp; Scenario Ranking (Draft)</a:t>
            </a:r>
            <a:endParaRPr b="1" sz="4056">
              <a:solidFill>
                <a:srgbClr val="7ED957"/>
              </a:solidFill>
              <a:latin typeface="Proxima Nova"/>
              <a:ea typeface="Proxima Nova"/>
              <a:cs typeface="Proxima Nova"/>
              <a:sym typeface="Proxima Nova"/>
            </a:endParaRPr>
          </a:p>
          <a:p>
            <a:pPr indent="0" lvl="0" marL="0" rtl="0" algn="l">
              <a:spcBef>
                <a:spcPts val="800"/>
              </a:spcBef>
              <a:spcAft>
                <a:spcPts val="800"/>
              </a:spcAft>
              <a:buNone/>
            </a:pPr>
            <a:r>
              <a:t/>
            </a:r>
            <a:endParaRPr>
              <a:solidFill>
                <a:srgbClr val="7ED957"/>
              </a:solidFill>
              <a:latin typeface="Hammersmith One"/>
              <a:ea typeface="Hammersmith One"/>
              <a:cs typeface="Hammersmith One"/>
              <a:sym typeface="Hammersmith One"/>
            </a:endParaRPr>
          </a:p>
        </p:txBody>
      </p:sp>
      <p:pic>
        <p:nvPicPr>
          <p:cNvPr id="408" name="Google Shape;408;p61" title="Aug2019_JT_Base_age_central.png"/>
          <p:cNvPicPr preferRelativeResize="0"/>
          <p:nvPr/>
        </p:nvPicPr>
        <p:blipFill>
          <a:blip r:embed="rId3">
            <a:alphaModFix/>
          </a:blip>
          <a:stretch>
            <a:fillRect/>
          </a:stretch>
        </p:blipFill>
        <p:spPr>
          <a:xfrm>
            <a:off x="4691375" y="927346"/>
            <a:ext cx="4435000" cy="3789669"/>
          </a:xfrm>
          <a:prstGeom prst="rect">
            <a:avLst/>
          </a:prstGeom>
          <a:noFill/>
          <a:ln>
            <a:noFill/>
          </a:ln>
        </p:spPr>
      </p:pic>
      <p:pic>
        <p:nvPicPr>
          <p:cNvPr id="409" name="Google Shape;409;p61" title="Aug2019_JT_Base_age_Suisun.png"/>
          <p:cNvPicPr preferRelativeResize="0"/>
          <p:nvPr/>
        </p:nvPicPr>
        <p:blipFill>
          <a:blip r:embed="rId4">
            <a:alphaModFix/>
          </a:blip>
          <a:stretch>
            <a:fillRect/>
          </a:stretch>
        </p:blipFill>
        <p:spPr>
          <a:xfrm>
            <a:off x="256375" y="927339"/>
            <a:ext cx="4435000" cy="378967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413" name="Shape 413"/>
        <p:cNvGrpSpPr/>
        <p:nvPr/>
      </p:nvGrpSpPr>
      <p:grpSpPr>
        <a:xfrm>
          <a:off x="0" y="0"/>
          <a:ext cx="0" cy="0"/>
          <a:chOff x="0" y="0"/>
          <a:chExt cx="0" cy="0"/>
        </a:xfrm>
      </p:grpSpPr>
      <p:sp>
        <p:nvSpPr>
          <p:cNvPr id="414" name="Google Shape;414;p62"/>
          <p:cNvSpPr txBox="1"/>
          <p:nvPr>
            <p:ph type="ctrTitle"/>
          </p:nvPr>
        </p:nvSpPr>
        <p:spPr>
          <a:xfrm>
            <a:off x="256375" y="96950"/>
            <a:ext cx="8520600" cy="6690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40741"/>
              <a:buNone/>
            </a:pPr>
            <a:r>
              <a:rPr b="1" lang="en" sz="2700">
                <a:solidFill>
                  <a:srgbClr val="7ED957"/>
                </a:solidFill>
                <a:latin typeface="Proxima Nova"/>
                <a:ea typeface="Proxima Nova"/>
                <a:cs typeface="Proxima Nova"/>
                <a:sym typeface="Proxima Nova"/>
              </a:rPr>
              <a:t>Overall Water Age + Temperature Results Summary</a:t>
            </a:r>
            <a:endParaRPr b="1" sz="2700">
              <a:solidFill>
                <a:srgbClr val="7ED957"/>
              </a:solidFill>
              <a:latin typeface="Proxima Nova"/>
              <a:ea typeface="Proxima Nova"/>
              <a:cs typeface="Proxima Nova"/>
              <a:sym typeface="Proxima Nova"/>
            </a:endParaRPr>
          </a:p>
          <a:p>
            <a:pPr indent="0" lvl="0" marL="0" rtl="0" algn="l">
              <a:spcBef>
                <a:spcPts val="800"/>
              </a:spcBef>
              <a:spcAft>
                <a:spcPts val="800"/>
              </a:spcAft>
              <a:buNone/>
            </a:pPr>
            <a:r>
              <a:t/>
            </a:r>
            <a:endParaRPr sz="2000">
              <a:solidFill>
                <a:schemeClr val="lt1"/>
              </a:solidFill>
              <a:latin typeface="Proxima Nova"/>
              <a:ea typeface="Proxima Nova"/>
              <a:cs typeface="Proxima Nova"/>
              <a:sym typeface="Proxima Nova"/>
            </a:endParaRPr>
          </a:p>
        </p:txBody>
      </p:sp>
      <p:sp>
        <p:nvSpPr>
          <p:cNvPr id="415" name="Google Shape;415;p62"/>
          <p:cNvSpPr/>
          <p:nvPr/>
        </p:nvSpPr>
        <p:spPr>
          <a:xfrm>
            <a:off x="337350" y="765950"/>
            <a:ext cx="8439600" cy="3978600"/>
          </a:xfrm>
          <a:prstGeom prst="rect">
            <a:avLst/>
          </a:prstGeom>
          <a:solidFill>
            <a:srgbClr val="2F444B"/>
          </a:solidFill>
          <a:ln>
            <a:noFill/>
          </a:ln>
        </p:spPr>
        <p:txBody>
          <a:bodyPr anchorCtr="0" anchor="ctr" bIns="104350" lIns="208775" spcFirstLastPara="1" rIns="208775" wrap="square" tIns="104350">
            <a:noAutofit/>
          </a:bodyPr>
          <a:lstStyle/>
          <a:p>
            <a:pPr indent="0" lvl="0" marL="0" marR="0" rtl="0" algn="ctr">
              <a:lnSpc>
                <a:spcPct val="100000"/>
              </a:lnSpc>
              <a:spcBef>
                <a:spcPts val="0"/>
              </a:spcBef>
              <a:spcAft>
                <a:spcPts val="0"/>
              </a:spcAft>
              <a:buNone/>
            </a:pPr>
            <a:r>
              <a:t/>
            </a:r>
            <a:endParaRPr b="0" i="0" sz="3197" u="none" cap="none" strike="noStrike">
              <a:solidFill>
                <a:srgbClr val="000000"/>
              </a:solidFill>
              <a:latin typeface="Arial"/>
              <a:ea typeface="Arial"/>
              <a:cs typeface="Arial"/>
              <a:sym typeface="Arial"/>
            </a:endParaRPr>
          </a:p>
        </p:txBody>
      </p:sp>
      <p:sp>
        <p:nvSpPr>
          <p:cNvPr id="416" name="Google Shape;416;p62"/>
          <p:cNvSpPr txBox="1"/>
          <p:nvPr/>
        </p:nvSpPr>
        <p:spPr>
          <a:xfrm>
            <a:off x="352200" y="954775"/>
            <a:ext cx="8439600" cy="3597600"/>
          </a:xfrm>
          <a:prstGeom prst="rect">
            <a:avLst/>
          </a:prstGeom>
          <a:noFill/>
          <a:ln>
            <a:noFill/>
          </a:ln>
        </p:spPr>
        <p:txBody>
          <a:bodyPr anchorCtr="0" anchor="t" bIns="62650" lIns="104350" spcFirstLastPara="1" rIns="104350" wrap="square" tIns="62650">
            <a:spAutoFit/>
          </a:bodyPr>
          <a:lstStyle/>
          <a:p>
            <a:pPr indent="0" lvl="0" marL="0" marR="0" rtl="0" algn="l">
              <a:lnSpc>
                <a:spcPct val="100000"/>
              </a:lnSpc>
              <a:spcBef>
                <a:spcPts val="0"/>
              </a:spcBef>
              <a:spcAft>
                <a:spcPts val="0"/>
              </a:spcAft>
              <a:buNone/>
            </a:pPr>
            <a:r>
              <a:rPr b="1" lang="en" sz="2200">
                <a:solidFill>
                  <a:srgbClr val="7ED957"/>
                </a:solidFill>
                <a:latin typeface="Proxima Nova"/>
                <a:ea typeface="Proxima Nova"/>
                <a:cs typeface="Proxima Nova"/>
                <a:sym typeface="Proxima Nova"/>
              </a:rPr>
              <a:t>Results Takeaways</a:t>
            </a:r>
            <a:endParaRPr sz="2200"/>
          </a:p>
          <a:p>
            <a:pPr indent="0" lvl="0" marL="0" marR="0" rtl="0" algn="l">
              <a:lnSpc>
                <a:spcPct val="100000"/>
              </a:lnSpc>
              <a:spcBef>
                <a:spcPts val="1370"/>
              </a:spcBef>
              <a:spcAft>
                <a:spcPts val="0"/>
              </a:spcAft>
              <a:buNone/>
            </a:pPr>
            <a:r>
              <a:rPr b="1" lang="en" sz="1800">
                <a:solidFill>
                  <a:schemeClr val="lt1"/>
                </a:solidFill>
              </a:rPr>
              <a:t>All regions</a:t>
            </a:r>
            <a:r>
              <a:rPr lang="en" sz="1800">
                <a:solidFill>
                  <a:schemeClr val="lt1"/>
                </a:solidFill>
              </a:rPr>
              <a:t> have a water age above 14 days for the 13 months with water temperature consistently over 19 °C</a:t>
            </a:r>
            <a:endParaRPr sz="1800">
              <a:solidFill>
                <a:schemeClr val="lt1"/>
              </a:solidFill>
            </a:endParaRPr>
          </a:p>
          <a:p>
            <a:pPr indent="0" lvl="0" marL="0" marR="0" rtl="0" algn="l">
              <a:lnSpc>
                <a:spcPct val="100000"/>
              </a:lnSpc>
              <a:spcBef>
                <a:spcPts val="1370"/>
              </a:spcBef>
              <a:spcAft>
                <a:spcPts val="0"/>
              </a:spcAft>
              <a:buNone/>
            </a:pPr>
            <a:r>
              <a:rPr lang="en" sz="1500">
                <a:solidFill>
                  <a:schemeClr val="lt1"/>
                </a:solidFill>
              </a:rPr>
              <a:t>October 2018, May - October 2019, May - October 2020</a:t>
            </a:r>
            <a:endParaRPr sz="1500">
              <a:solidFill>
                <a:schemeClr val="lt1"/>
              </a:solidFill>
            </a:endParaRPr>
          </a:p>
          <a:p>
            <a:pPr indent="0" lvl="0" marL="0" marR="0" rtl="0" algn="l">
              <a:lnSpc>
                <a:spcPct val="100000"/>
              </a:lnSpc>
              <a:spcBef>
                <a:spcPts val="1370"/>
              </a:spcBef>
              <a:spcAft>
                <a:spcPts val="0"/>
              </a:spcAft>
              <a:buNone/>
            </a:pPr>
            <a:r>
              <a:rPr b="1" lang="en" sz="1800">
                <a:solidFill>
                  <a:schemeClr val="lt1"/>
                </a:solidFill>
              </a:rPr>
              <a:t>Decrease or No Change</a:t>
            </a:r>
            <a:r>
              <a:rPr lang="en" sz="1800">
                <a:solidFill>
                  <a:schemeClr val="lt1"/>
                </a:solidFill>
              </a:rPr>
              <a:t> is only seen in Bolster and Fortify</a:t>
            </a:r>
            <a:endParaRPr sz="1800">
              <a:solidFill>
                <a:schemeClr val="lt1"/>
              </a:solidFill>
            </a:endParaRPr>
          </a:p>
          <a:p>
            <a:pPr indent="0" lvl="0" marL="0" marR="0" rtl="0" algn="l">
              <a:lnSpc>
                <a:spcPct val="100000"/>
              </a:lnSpc>
              <a:spcBef>
                <a:spcPts val="1370"/>
              </a:spcBef>
              <a:spcAft>
                <a:spcPts val="0"/>
              </a:spcAft>
              <a:buNone/>
            </a:pPr>
            <a:r>
              <a:rPr lang="en" sz="1500">
                <a:solidFill>
                  <a:schemeClr val="lt1"/>
                </a:solidFill>
              </a:rPr>
              <a:t>South Delta, Lindsey - Cache slough, McCormack-Williamson Tract</a:t>
            </a:r>
            <a:endParaRPr sz="1500">
              <a:solidFill>
                <a:schemeClr val="lt1"/>
              </a:solidFill>
            </a:endParaRPr>
          </a:p>
          <a:p>
            <a:pPr indent="0" lvl="0" marL="0" marR="0" rtl="0" algn="l">
              <a:lnSpc>
                <a:spcPct val="100000"/>
              </a:lnSpc>
              <a:spcBef>
                <a:spcPts val="1370"/>
              </a:spcBef>
              <a:spcAft>
                <a:spcPts val="0"/>
              </a:spcAft>
              <a:buNone/>
            </a:pPr>
            <a:r>
              <a:rPr b="1" lang="en" sz="1800">
                <a:solidFill>
                  <a:schemeClr val="lt1"/>
                </a:solidFill>
              </a:rPr>
              <a:t>Highest average increase</a:t>
            </a:r>
            <a:r>
              <a:rPr lang="en" sz="1800">
                <a:solidFill>
                  <a:schemeClr val="lt1"/>
                </a:solidFill>
              </a:rPr>
              <a:t> in water age days observed in </a:t>
            </a:r>
            <a:r>
              <a:rPr b="1" lang="en" sz="1800">
                <a:solidFill>
                  <a:schemeClr val="lt1"/>
                </a:solidFill>
              </a:rPr>
              <a:t>Suisun Marsh &amp; surrounding wetlands</a:t>
            </a:r>
            <a:endParaRPr b="1" sz="1800">
              <a:solidFill>
                <a:schemeClr val="lt1"/>
              </a:solidFill>
            </a:endParaRPr>
          </a:p>
          <a:p>
            <a:pPr indent="0" lvl="0" marL="0" marR="0" rtl="0" algn="l">
              <a:lnSpc>
                <a:spcPct val="100000"/>
              </a:lnSpc>
              <a:spcBef>
                <a:spcPts val="1370"/>
              </a:spcBef>
              <a:spcAft>
                <a:spcPts val="0"/>
              </a:spcAft>
              <a:buNone/>
            </a:pPr>
            <a:r>
              <a:rPr lang="en" sz="1500">
                <a:solidFill>
                  <a:schemeClr val="lt1"/>
                </a:solidFill>
              </a:rPr>
              <a:t>Scenarios </a:t>
            </a:r>
            <a:r>
              <a:rPr lang="en" sz="1500">
                <a:solidFill>
                  <a:schemeClr val="lt1"/>
                </a:solidFill>
              </a:rPr>
              <a:t>occurrences</a:t>
            </a:r>
            <a:r>
              <a:rPr lang="en" sz="1500">
                <a:solidFill>
                  <a:schemeClr val="lt1"/>
                </a:solidFill>
              </a:rPr>
              <a:t>: </a:t>
            </a:r>
            <a:r>
              <a:rPr b="1" lang="en" sz="1500">
                <a:solidFill>
                  <a:schemeClr val="lt1"/>
                </a:solidFill>
              </a:rPr>
              <a:t>Eco Machine</a:t>
            </a:r>
            <a:r>
              <a:rPr lang="en" sz="1500">
                <a:solidFill>
                  <a:schemeClr val="lt1"/>
                </a:solidFill>
              </a:rPr>
              <a:t> and </a:t>
            </a:r>
            <a:r>
              <a:rPr b="1" lang="en" sz="1500">
                <a:solidFill>
                  <a:schemeClr val="lt1"/>
                </a:solidFill>
              </a:rPr>
              <a:t>New Green Watershed</a:t>
            </a:r>
            <a:endParaRPr b="1" sz="1500">
              <a:solidFill>
                <a:schemeClr val="lt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420" name="Shape 420"/>
        <p:cNvGrpSpPr/>
        <p:nvPr/>
      </p:nvGrpSpPr>
      <p:grpSpPr>
        <a:xfrm>
          <a:off x="0" y="0"/>
          <a:ext cx="0" cy="0"/>
          <a:chOff x="0" y="0"/>
          <a:chExt cx="0" cy="0"/>
        </a:xfrm>
      </p:grpSpPr>
      <p:sp>
        <p:nvSpPr>
          <p:cNvPr id="421" name="Google Shape;421;p63"/>
          <p:cNvSpPr txBox="1"/>
          <p:nvPr>
            <p:ph type="ctrTitle"/>
          </p:nvPr>
        </p:nvSpPr>
        <p:spPr>
          <a:xfrm>
            <a:off x="256375" y="265600"/>
            <a:ext cx="8520600" cy="48135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100"/>
              <a:buNone/>
            </a:pPr>
            <a:r>
              <a:rPr b="1" lang="en" sz="2700">
                <a:solidFill>
                  <a:srgbClr val="7ED957"/>
                </a:solidFill>
                <a:latin typeface="Proxima Nova"/>
                <a:ea typeface="Proxima Nova"/>
                <a:cs typeface="Proxima Nova"/>
                <a:sym typeface="Proxima Nova"/>
              </a:rPr>
              <a:t>Change in Average Days from Business As Usual</a:t>
            </a:r>
            <a:endParaRPr b="1" sz="2700">
              <a:solidFill>
                <a:srgbClr val="7ED957"/>
              </a:solidFill>
              <a:latin typeface="Proxima Nova"/>
              <a:ea typeface="Proxima Nova"/>
              <a:cs typeface="Proxima Nova"/>
              <a:sym typeface="Proxima Nova"/>
            </a:endParaRPr>
          </a:p>
          <a:p>
            <a:pPr indent="0" lvl="0" marL="0" rtl="0" algn="l">
              <a:spcBef>
                <a:spcPts val="800"/>
              </a:spcBef>
              <a:spcAft>
                <a:spcPts val="800"/>
              </a:spcAft>
              <a:buNone/>
            </a:pPr>
            <a:r>
              <a:t/>
            </a:r>
            <a:endParaRPr sz="2400">
              <a:solidFill>
                <a:schemeClr val="lt1"/>
              </a:solidFill>
              <a:latin typeface="Proxima Nova"/>
              <a:ea typeface="Proxima Nova"/>
              <a:cs typeface="Proxima Nova"/>
              <a:sym typeface="Proxima Nova"/>
            </a:endParaRPr>
          </a:p>
        </p:txBody>
      </p:sp>
      <p:graphicFrame>
        <p:nvGraphicFramePr>
          <p:cNvPr id="422" name="Google Shape;422;p63"/>
          <p:cNvGraphicFramePr/>
          <p:nvPr/>
        </p:nvGraphicFramePr>
        <p:xfrm>
          <a:off x="419360" y="1149605"/>
          <a:ext cx="3000000" cy="3000000"/>
        </p:xfrm>
        <a:graphic>
          <a:graphicData uri="http://schemas.openxmlformats.org/drawingml/2006/table">
            <a:tbl>
              <a:tblPr>
                <a:noFill/>
                <a:tableStyleId>{0CC4AB25-8DFD-4ACA-88D2-885EBE8A8D3D}</a:tableStyleId>
              </a:tblPr>
              <a:tblGrid>
                <a:gridCol w="2563600"/>
                <a:gridCol w="2142100"/>
                <a:gridCol w="1852000"/>
                <a:gridCol w="1747575"/>
              </a:tblGrid>
              <a:tr h="491450">
                <a:tc>
                  <a:txBody>
                    <a:bodyPr/>
                    <a:lstStyle/>
                    <a:p>
                      <a:pPr indent="0" lvl="0" marL="0" marR="0" rtl="0" algn="l">
                        <a:lnSpc>
                          <a:spcPct val="100000"/>
                        </a:lnSpc>
                        <a:spcBef>
                          <a:spcPts val="0"/>
                        </a:spcBef>
                        <a:spcAft>
                          <a:spcPts val="0"/>
                        </a:spcAft>
                        <a:buNone/>
                      </a:pPr>
                      <a:r>
                        <a:rPr b="1" lang="en" sz="1600">
                          <a:solidFill>
                            <a:srgbClr val="7ED957"/>
                          </a:solidFill>
                          <a:latin typeface="Proxima Nova"/>
                          <a:ea typeface="Proxima Nova"/>
                          <a:cs typeface="Proxima Nova"/>
                          <a:sym typeface="Proxima Nova"/>
                        </a:rPr>
                        <a:t>Region</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lang="en" sz="1600">
                          <a:solidFill>
                            <a:srgbClr val="7ED957"/>
                          </a:solidFill>
                          <a:latin typeface="Proxima Nova"/>
                          <a:ea typeface="Proxima Nova"/>
                          <a:cs typeface="Proxima Nova"/>
                          <a:sym typeface="Proxima Nova"/>
                        </a:rPr>
                        <a:t>Bolster and Fortify</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lang="en" sz="1600">
                          <a:solidFill>
                            <a:srgbClr val="7ED957"/>
                          </a:solidFill>
                          <a:latin typeface="Proxima Nova"/>
                          <a:ea typeface="Proxima Nova"/>
                          <a:cs typeface="Proxima Nova"/>
                          <a:sym typeface="Proxima Nova"/>
                        </a:rPr>
                        <a:t>Eco Machine</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lang="en" sz="1600">
                          <a:solidFill>
                            <a:srgbClr val="7ED957"/>
                          </a:solidFill>
                          <a:latin typeface="Proxima Nova"/>
                          <a:ea typeface="Proxima Nova"/>
                          <a:cs typeface="Proxima Nova"/>
                          <a:sym typeface="Proxima Nova"/>
                        </a:rPr>
                        <a:t>New Green Watershed</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r>
              <a:tr h="491450">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Suisun Marsh &amp; Surrounding Wetlands</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lang="en" sz="1600">
                          <a:solidFill>
                            <a:schemeClr val="lt1"/>
                          </a:solidFill>
                        </a:rPr>
                        <a:t>+0.1</a:t>
                      </a:r>
                      <a:endParaRPr b="1" i="0" sz="1600" u="none" cap="none" strike="noStrike">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lang="en" sz="1600">
                          <a:solidFill>
                            <a:srgbClr val="FF0000"/>
                          </a:solidFill>
                        </a:rPr>
                        <a:t>+7.9</a:t>
                      </a:r>
                      <a:endParaRPr b="1" i="0" sz="1600" u="none" cap="none" strike="noStrike">
                        <a:solidFill>
                          <a:srgbClr val="FF0000"/>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lang="en" sz="1600">
                          <a:solidFill>
                            <a:srgbClr val="FF0000"/>
                          </a:solidFill>
                        </a:rPr>
                        <a:t>+8.0</a:t>
                      </a:r>
                      <a:endParaRPr b="1" i="0" sz="1600" u="none" cap="none" strike="noStrike">
                        <a:solidFill>
                          <a:srgbClr val="FF0000"/>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491450">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Franks Tract</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lang="en" sz="1600">
                          <a:solidFill>
                            <a:srgbClr val="FFFF00"/>
                          </a:solidFill>
                        </a:rPr>
                        <a:t>+2.2</a:t>
                      </a:r>
                      <a:endParaRPr b="1" i="0" sz="1600" u="none" cap="none" strike="noStrike">
                        <a:solidFill>
                          <a:srgbClr val="FFFF00"/>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lang="en" sz="1600">
                          <a:solidFill>
                            <a:srgbClr val="FF0000"/>
                          </a:solidFill>
                        </a:rPr>
                        <a:t>+5.2</a:t>
                      </a:r>
                      <a:endParaRPr b="1" i="0" sz="1600" u="none" cap="none" strike="noStrike">
                        <a:solidFill>
                          <a:srgbClr val="FF0000"/>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lang="en" sz="1600">
                          <a:solidFill>
                            <a:srgbClr val="FF0000"/>
                          </a:solidFill>
                        </a:rPr>
                        <a:t>+5.3</a:t>
                      </a:r>
                      <a:endParaRPr b="1" i="0" sz="1600" u="none" cap="none" strike="noStrike">
                        <a:solidFill>
                          <a:srgbClr val="FF0000"/>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r h="491450">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South Delta</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lang="en" sz="1600">
                          <a:solidFill>
                            <a:srgbClr val="7ED957"/>
                          </a:solidFill>
                        </a:rPr>
                        <a:t>-0.5</a:t>
                      </a:r>
                      <a:endParaRPr b="1" i="0" sz="1600" u="none" cap="none" strike="noStrike">
                        <a:solidFill>
                          <a:srgbClr val="7ED957"/>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lang="en" sz="1600">
                          <a:solidFill>
                            <a:schemeClr val="lt1"/>
                          </a:solidFill>
                        </a:rPr>
                        <a:t>+0.3</a:t>
                      </a:r>
                      <a:endParaRPr b="1" i="0" sz="1600" u="none" cap="none" strike="noStrike">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lang="en" sz="1600">
                          <a:solidFill>
                            <a:schemeClr val="lt1"/>
                          </a:solidFill>
                        </a:rPr>
                        <a:t>+0.4</a:t>
                      </a:r>
                      <a:endParaRPr b="1" i="0" sz="1600" u="none" cap="none" strike="noStrike">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491450">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Lindsey - Cache Slough</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lang="en" sz="1600">
                          <a:solidFill>
                            <a:schemeClr val="lt1"/>
                          </a:solidFill>
                        </a:rPr>
                        <a:t>0</a:t>
                      </a:r>
                      <a:endParaRPr b="1" i="0" sz="1600" u="none" cap="none" strike="noStrike">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lang="en" sz="1600">
                          <a:solidFill>
                            <a:schemeClr val="lt1"/>
                          </a:solidFill>
                        </a:rPr>
                        <a:t>+0.4</a:t>
                      </a:r>
                      <a:endParaRPr b="1" i="0" sz="1600" u="none" cap="none" strike="noStrike">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lang="en" sz="1600">
                          <a:solidFill>
                            <a:srgbClr val="FF9900"/>
                          </a:solidFill>
                        </a:rPr>
                        <a:t>+3.9</a:t>
                      </a:r>
                      <a:endParaRPr b="1" i="0" sz="1600" u="none" cap="none" strike="noStrike">
                        <a:solidFill>
                          <a:srgbClr val="FF9900"/>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r h="491450">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McCormack-Williamson Tract</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lang="en" sz="1600">
                          <a:solidFill>
                            <a:schemeClr val="lt1"/>
                          </a:solidFill>
                        </a:rPr>
                        <a:t>0</a:t>
                      </a:r>
                      <a:endParaRPr b="1" i="0" sz="1600" u="none" cap="none" strike="noStrike">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lang="en" sz="1600">
                          <a:solidFill>
                            <a:schemeClr val="lt1"/>
                          </a:solidFill>
                        </a:rPr>
                        <a:t>+0.5</a:t>
                      </a:r>
                      <a:endParaRPr b="1" i="0" sz="1600" u="none" cap="none" strike="noStrike">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lang="en" sz="1600">
                          <a:solidFill>
                            <a:schemeClr val="lt1"/>
                          </a:solidFill>
                        </a:rPr>
                        <a:t>+0.6</a:t>
                      </a:r>
                      <a:endParaRPr b="1" i="0" sz="1600" u="none" cap="none" strike="noStrike">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426" name="Shape 426"/>
        <p:cNvGrpSpPr/>
        <p:nvPr/>
      </p:nvGrpSpPr>
      <p:grpSpPr>
        <a:xfrm>
          <a:off x="0" y="0"/>
          <a:ext cx="0" cy="0"/>
          <a:chOff x="0" y="0"/>
          <a:chExt cx="0" cy="0"/>
        </a:xfrm>
      </p:grpSpPr>
      <p:sp>
        <p:nvSpPr>
          <p:cNvPr id="427" name="Google Shape;427;p64"/>
          <p:cNvSpPr txBox="1"/>
          <p:nvPr>
            <p:ph type="ctrTitle"/>
          </p:nvPr>
        </p:nvSpPr>
        <p:spPr>
          <a:xfrm>
            <a:off x="311700" y="379850"/>
            <a:ext cx="8520600" cy="6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30">
                <a:solidFill>
                  <a:srgbClr val="7ED957"/>
                </a:solidFill>
                <a:latin typeface="Proxima Nova"/>
                <a:ea typeface="Proxima Nova"/>
                <a:cs typeface="Proxima Nova"/>
                <a:sym typeface="Proxima Nova"/>
              </a:rPr>
              <a:t>Average Water Age Days</a:t>
            </a:r>
            <a:endParaRPr b="1" sz="2630">
              <a:solidFill>
                <a:srgbClr val="7ED957"/>
              </a:solidFill>
              <a:latin typeface="Proxima Nova"/>
              <a:ea typeface="Proxima Nova"/>
              <a:cs typeface="Proxima Nova"/>
              <a:sym typeface="Proxima Nova"/>
            </a:endParaRPr>
          </a:p>
          <a:p>
            <a:pPr indent="0" lvl="0" marL="0" rtl="0" algn="l">
              <a:spcBef>
                <a:spcPts val="800"/>
              </a:spcBef>
              <a:spcAft>
                <a:spcPts val="800"/>
              </a:spcAft>
              <a:buSzPts val="990"/>
              <a:buNone/>
            </a:pPr>
            <a:r>
              <a:t/>
            </a:r>
            <a:endParaRPr sz="2160">
              <a:solidFill>
                <a:schemeClr val="lt1"/>
              </a:solidFill>
              <a:latin typeface="Proxima Nova"/>
              <a:ea typeface="Proxima Nova"/>
              <a:cs typeface="Proxima Nova"/>
              <a:sym typeface="Proxima Nova"/>
            </a:endParaRPr>
          </a:p>
        </p:txBody>
      </p:sp>
      <p:graphicFrame>
        <p:nvGraphicFramePr>
          <p:cNvPr id="428" name="Google Shape;428;p64"/>
          <p:cNvGraphicFramePr/>
          <p:nvPr/>
        </p:nvGraphicFramePr>
        <p:xfrm>
          <a:off x="419360" y="1149605"/>
          <a:ext cx="3000000" cy="3000000"/>
        </p:xfrm>
        <a:graphic>
          <a:graphicData uri="http://schemas.openxmlformats.org/drawingml/2006/table">
            <a:tbl>
              <a:tblPr>
                <a:noFill/>
                <a:tableStyleId>{0CC4AB25-8DFD-4ACA-88D2-885EBE8A8D3D}</a:tableStyleId>
              </a:tblPr>
              <a:tblGrid>
                <a:gridCol w="2037975"/>
                <a:gridCol w="1702900"/>
                <a:gridCol w="1702900"/>
                <a:gridCol w="1472275"/>
                <a:gridCol w="1389250"/>
              </a:tblGrid>
              <a:tr h="491450">
                <a:tc>
                  <a:txBody>
                    <a:bodyPr/>
                    <a:lstStyle/>
                    <a:p>
                      <a:pPr indent="0" lvl="0" marL="0" marR="0" rtl="0" algn="l">
                        <a:lnSpc>
                          <a:spcPct val="100000"/>
                        </a:lnSpc>
                        <a:spcBef>
                          <a:spcPts val="0"/>
                        </a:spcBef>
                        <a:spcAft>
                          <a:spcPts val="0"/>
                        </a:spcAft>
                        <a:buNone/>
                      </a:pPr>
                      <a:r>
                        <a:rPr b="1" lang="en" sz="1600">
                          <a:solidFill>
                            <a:srgbClr val="7ED957"/>
                          </a:solidFill>
                          <a:latin typeface="Proxima Nova"/>
                          <a:ea typeface="Proxima Nova"/>
                          <a:cs typeface="Proxima Nova"/>
                          <a:sym typeface="Proxima Nova"/>
                        </a:rPr>
                        <a:t>Region</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lang="en" sz="1600">
                          <a:solidFill>
                            <a:srgbClr val="7ED957"/>
                          </a:solidFill>
                          <a:latin typeface="Proxima Nova"/>
                          <a:ea typeface="Proxima Nova"/>
                          <a:cs typeface="Proxima Nova"/>
                          <a:sym typeface="Proxima Nova"/>
                        </a:rPr>
                        <a:t>Business As Usual</a:t>
                      </a:r>
                      <a:endParaRPr b="1" sz="1600">
                        <a:solidFill>
                          <a:srgbClr val="7ED957"/>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lang="en" sz="1600">
                          <a:solidFill>
                            <a:srgbClr val="7ED957"/>
                          </a:solidFill>
                          <a:latin typeface="Proxima Nova"/>
                          <a:ea typeface="Proxima Nova"/>
                          <a:cs typeface="Proxima Nova"/>
                          <a:sym typeface="Proxima Nova"/>
                        </a:rPr>
                        <a:t>Bolster and Fortify</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lang="en" sz="1600">
                          <a:solidFill>
                            <a:srgbClr val="7ED957"/>
                          </a:solidFill>
                          <a:latin typeface="Proxima Nova"/>
                          <a:ea typeface="Proxima Nova"/>
                          <a:cs typeface="Proxima Nova"/>
                          <a:sym typeface="Proxima Nova"/>
                        </a:rPr>
                        <a:t>Eco Machine</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lang="en" sz="1600">
                          <a:solidFill>
                            <a:srgbClr val="7ED957"/>
                          </a:solidFill>
                          <a:latin typeface="Proxima Nova"/>
                          <a:ea typeface="Proxima Nova"/>
                          <a:cs typeface="Proxima Nova"/>
                          <a:sym typeface="Proxima Nova"/>
                        </a:rPr>
                        <a:t>New Green Watershed</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r>
              <a:tr h="491450">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Suisun Marsh &amp; Surrounding Wetlands</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sz="1600">
                          <a:solidFill>
                            <a:schemeClr val="lt1"/>
                          </a:solidFill>
                        </a:rPr>
                        <a:t>21.9</a:t>
                      </a:r>
                      <a:endParaRPr b="1" sz="1600">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sz="1600">
                          <a:solidFill>
                            <a:schemeClr val="lt1"/>
                          </a:solidFill>
                        </a:rPr>
                        <a:t>22</a:t>
                      </a:r>
                      <a:endParaRPr b="1" sz="1600">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sz="1600">
                          <a:solidFill>
                            <a:srgbClr val="FF0000"/>
                          </a:solidFill>
                        </a:rPr>
                        <a:t>29.7</a:t>
                      </a:r>
                      <a:endParaRPr b="1" sz="1600">
                        <a:solidFill>
                          <a:srgbClr val="FF0000"/>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sz="1600">
                          <a:solidFill>
                            <a:srgbClr val="FF0000"/>
                          </a:solidFill>
                        </a:rPr>
                        <a:t>29.9</a:t>
                      </a:r>
                      <a:endParaRPr b="1" sz="1600">
                        <a:solidFill>
                          <a:srgbClr val="FF0000"/>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491450">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Franks Tract</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lang="en" sz="1600">
                          <a:solidFill>
                            <a:schemeClr val="lt1"/>
                          </a:solidFill>
                        </a:rPr>
                        <a:t>28.5</a:t>
                      </a:r>
                      <a:endParaRPr b="1" sz="1600">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rPr b="1" lang="en" sz="1600">
                          <a:solidFill>
                            <a:schemeClr val="lt1"/>
                          </a:solidFill>
                        </a:rPr>
                        <a:t>30.6</a:t>
                      </a:r>
                      <a:endParaRPr b="1" sz="1600">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rPr b="1" lang="en" sz="1600">
                          <a:solidFill>
                            <a:srgbClr val="FF0000"/>
                          </a:solidFill>
                        </a:rPr>
                        <a:t>33.7</a:t>
                      </a:r>
                      <a:endParaRPr b="1" sz="1600">
                        <a:solidFill>
                          <a:srgbClr val="FF0000"/>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rPr b="1" lang="en" sz="1600">
                          <a:solidFill>
                            <a:srgbClr val="FF0000"/>
                          </a:solidFill>
                        </a:rPr>
                        <a:t>33.7</a:t>
                      </a:r>
                      <a:endParaRPr b="1" sz="1600">
                        <a:solidFill>
                          <a:srgbClr val="FF0000"/>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r h="491450">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South Delta</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lang="en" sz="1600">
                          <a:solidFill>
                            <a:schemeClr val="lt1"/>
                          </a:solidFill>
                        </a:rPr>
                        <a:t>23.5</a:t>
                      </a:r>
                      <a:endParaRPr b="1" sz="1600">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sz="1600">
                          <a:solidFill>
                            <a:srgbClr val="7ED957"/>
                          </a:solidFill>
                        </a:rPr>
                        <a:t>22.9</a:t>
                      </a:r>
                      <a:endParaRPr b="1" sz="1600">
                        <a:solidFill>
                          <a:srgbClr val="7ED957"/>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sz="1600">
                          <a:solidFill>
                            <a:schemeClr val="lt1"/>
                          </a:solidFill>
                        </a:rPr>
                        <a:t>23.7</a:t>
                      </a:r>
                      <a:endParaRPr b="1" sz="1600">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sz="1600">
                          <a:solidFill>
                            <a:schemeClr val="lt1"/>
                          </a:solidFill>
                        </a:rPr>
                        <a:t>23.8</a:t>
                      </a:r>
                      <a:endParaRPr b="1" sz="1600">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491450">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Lindsey - Cache Slough</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lang="en" sz="1600">
                          <a:solidFill>
                            <a:schemeClr val="lt1"/>
                          </a:solidFill>
                        </a:rPr>
                        <a:t>22.1</a:t>
                      </a:r>
                      <a:endParaRPr b="1" sz="1600">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rPr b="1" lang="en" sz="1600">
                          <a:solidFill>
                            <a:schemeClr val="lt1"/>
                          </a:solidFill>
                        </a:rPr>
                        <a:t>22.</a:t>
                      </a:r>
                      <a:r>
                        <a:rPr b="1" lang="en" sz="1600">
                          <a:solidFill>
                            <a:schemeClr val="lt1"/>
                          </a:solidFill>
                        </a:rPr>
                        <a:t>1</a:t>
                      </a:r>
                      <a:endParaRPr b="1" sz="1600">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rPr b="1" lang="en" sz="1600">
                          <a:solidFill>
                            <a:schemeClr val="lt1"/>
                          </a:solidFill>
                        </a:rPr>
                        <a:t>2</a:t>
                      </a:r>
                      <a:r>
                        <a:rPr b="1" lang="en" sz="1600">
                          <a:solidFill>
                            <a:schemeClr val="lt1"/>
                          </a:solidFill>
                        </a:rPr>
                        <a:t>2.5</a:t>
                      </a:r>
                      <a:endParaRPr b="1" sz="1600">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rPr b="1" lang="en" sz="1600">
                          <a:solidFill>
                            <a:srgbClr val="FF0000"/>
                          </a:solidFill>
                        </a:rPr>
                        <a:t>26</a:t>
                      </a:r>
                      <a:endParaRPr b="1" sz="1600">
                        <a:solidFill>
                          <a:srgbClr val="FF0000"/>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r h="491450">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McCormack-Williamson Tract</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lang="en" sz="1600">
                          <a:solidFill>
                            <a:schemeClr val="lt1"/>
                          </a:solidFill>
                        </a:rPr>
                        <a:t>17.5</a:t>
                      </a:r>
                      <a:endParaRPr b="1" sz="1600">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sz="1600">
                          <a:solidFill>
                            <a:schemeClr val="lt1"/>
                          </a:solidFill>
                        </a:rPr>
                        <a:t>17.5</a:t>
                      </a:r>
                      <a:endParaRPr b="1" sz="1600">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sz="1600">
                          <a:solidFill>
                            <a:schemeClr val="lt1"/>
                          </a:solidFill>
                        </a:rPr>
                        <a:t>18</a:t>
                      </a:r>
                      <a:endParaRPr b="1" sz="1600">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sz="1600">
                          <a:solidFill>
                            <a:schemeClr val="lt1"/>
                          </a:solidFill>
                        </a:rPr>
                        <a:t>18.1</a:t>
                      </a:r>
                      <a:endParaRPr b="1" sz="1600">
                        <a:solidFill>
                          <a:schemeClr val="lt1"/>
                        </a:solidFil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432" name="Shape 432"/>
        <p:cNvGrpSpPr/>
        <p:nvPr/>
      </p:nvGrpSpPr>
      <p:grpSpPr>
        <a:xfrm>
          <a:off x="0" y="0"/>
          <a:ext cx="0" cy="0"/>
          <a:chOff x="0" y="0"/>
          <a:chExt cx="0" cy="0"/>
        </a:xfrm>
      </p:grpSpPr>
      <p:sp>
        <p:nvSpPr>
          <p:cNvPr id="433" name="Google Shape;433;p65"/>
          <p:cNvSpPr txBox="1"/>
          <p:nvPr/>
        </p:nvSpPr>
        <p:spPr>
          <a:xfrm>
            <a:off x="365760" y="201168"/>
            <a:ext cx="8412600" cy="48630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i="0" lang="en" sz="2800" u="none" cap="none" strike="noStrike">
                <a:solidFill>
                  <a:srgbClr val="7ED957"/>
                </a:solidFill>
                <a:latin typeface="Proxima Nova"/>
                <a:ea typeface="Proxima Nova"/>
                <a:cs typeface="Proxima Nova"/>
                <a:sym typeface="Proxima Nova"/>
              </a:rPr>
              <a:t>Scenario Ranking: </a:t>
            </a:r>
            <a:r>
              <a:rPr b="1" lang="en" sz="2800">
                <a:solidFill>
                  <a:srgbClr val="7ED957"/>
                </a:solidFill>
                <a:latin typeface="Proxima Nova"/>
                <a:ea typeface="Proxima Nova"/>
                <a:cs typeface="Proxima Nova"/>
                <a:sym typeface="Proxima Nova"/>
              </a:rPr>
              <a:t>Water Age</a:t>
            </a:r>
            <a:endParaRPr/>
          </a:p>
        </p:txBody>
      </p:sp>
      <p:graphicFrame>
        <p:nvGraphicFramePr>
          <p:cNvPr id="434" name="Google Shape;434;p65"/>
          <p:cNvGraphicFramePr/>
          <p:nvPr/>
        </p:nvGraphicFramePr>
        <p:xfrm>
          <a:off x="365760" y="868680"/>
          <a:ext cx="3000000" cy="3000000"/>
        </p:xfrm>
        <a:graphic>
          <a:graphicData uri="http://schemas.openxmlformats.org/drawingml/2006/table">
            <a:tbl>
              <a:tblPr>
                <a:noFill/>
                <a:tableStyleId>{0CC4AB25-8DFD-4ACA-88D2-885EBE8A8D3D}</a:tableStyleId>
              </a:tblPr>
              <a:tblGrid>
                <a:gridCol w="2377450"/>
                <a:gridCol w="548650"/>
                <a:gridCol w="548650"/>
                <a:gridCol w="548650"/>
                <a:gridCol w="548650"/>
                <a:gridCol w="548650"/>
                <a:gridCol w="548650"/>
                <a:gridCol w="548650"/>
                <a:gridCol w="548650"/>
                <a:gridCol w="548650"/>
                <a:gridCol w="548650"/>
                <a:gridCol w="548650"/>
              </a:tblGrid>
              <a:tr h="526175">
                <a:tc>
                  <a:txBody>
                    <a:bodyPr/>
                    <a:lstStyle/>
                    <a:p>
                      <a:pPr indent="0" lvl="0" marL="0" marR="0" rtl="0" algn="l">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Scenario</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-5</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-4</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-3</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-2</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-1</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0</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+1</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+2</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+3</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+4</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+5</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r>
              <a:tr h="526175">
                <a:tc>
                  <a:txBody>
                    <a:bodyPr/>
                    <a:lstStyle/>
                    <a:p>
                      <a:pPr indent="0" lvl="0" marL="0" marR="0" rtl="0" algn="l">
                        <a:lnSpc>
                          <a:spcPct val="100000"/>
                        </a:lnSpc>
                        <a:spcBef>
                          <a:spcPts val="0"/>
                        </a:spcBef>
                        <a:spcAft>
                          <a:spcPts val="0"/>
                        </a:spcAft>
                        <a:buNone/>
                      </a:pPr>
                      <a:r>
                        <a:rPr b="0" i="0" lang="en" sz="1600" u="none" cap="none" strike="noStrike">
                          <a:solidFill>
                            <a:srgbClr val="FFFFFF"/>
                          </a:solidFill>
                          <a:latin typeface="Proxima Nova"/>
                          <a:ea typeface="Proxima Nova"/>
                          <a:cs typeface="Proxima Nova"/>
                          <a:sym typeface="Proxima Nova"/>
                        </a:rPr>
                        <a:t>Business As Usual</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600" u="none" cap="none" strike="noStrike">
                          <a:solidFill>
                            <a:srgbClr val="FFFFFF"/>
                          </a:solidFill>
                          <a:latin typeface="Proxima Nova"/>
                          <a:ea typeface="Proxima Nova"/>
                          <a:cs typeface="Proxima Nova"/>
                          <a:sym typeface="Proxima Nova"/>
                        </a:rPr>
                        <a:t>●</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526175">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Bolster and Fortify</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r h="526175">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Eco Machine</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526175">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New Green Watershed</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r h="526175">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Calling on Reserves (Pending)</a:t>
                      </a:r>
                      <a:endParaRPr b="0" i="0" sz="1600" u="none" cap="none" strike="noStrike">
                        <a:solidFill>
                          <a:srgbClr val="FFFFFF"/>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526175">
                <a:tc>
                  <a:txBody>
                    <a:bodyPr/>
                    <a:lstStyle/>
                    <a:p>
                      <a:pPr indent="0" lvl="0" marL="0" marR="0" rtl="0" algn="l">
                        <a:lnSpc>
                          <a:spcPct val="100000"/>
                        </a:lnSpc>
                        <a:spcBef>
                          <a:spcPts val="0"/>
                        </a:spcBef>
                        <a:spcAft>
                          <a:spcPts val="0"/>
                        </a:spcAft>
                        <a:buNone/>
                      </a:pPr>
                      <a:r>
                        <a:rPr b="0" i="0" lang="en" sz="1600" u="none" cap="none" strike="noStrike">
                          <a:solidFill>
                            <a:srgbClr val="FFFFFF"/>
                          </a:solidFill>
                          <a:latin typeface="Proxima Nova"/>
                          <a:ea typeface="Proxima Nova"/>
                          <a:cs typeface="Proxima Nova"/>
                          <a:sym typeface="Proxima Nova"/>
                        </a:rPr>
                        <a:t>A Tunnel (</a:t>
                      </a:r>
                      <a:r>
                        <a:rPr lang="en" sz="1600">
                          <a:solidFill>
                            <a:srgbClr val="FFFFFF"/>
                          </a:solidFill>
                          <a:latin typeface="Proxima Nova"/>
                          <a:ea typeface="Proxima Nova"/>
                          <a:cs typeface="Proxima Nova"/>
                          <a:sym typeface="Proxima Nova"/>
                        </a:rPr>
                        <a:t>P</a:t>
                      </a:r>
                      <a:r>
                        <a:rPr b="0" i="0" lang="en" sz="1600" u="none" cap="none" strike="noStrike">
                          <a:solidFill>
                            <a:srgbClr val="FFFFFF"/>
                          </a:solidFill>
                          <a:latin typeface="Proxima Nova"/>
                          <a:ea typeface="Proxima Nova"/>
                          <a:cs typeface="Proxima Nova"/>
                          <a:sym typeface="Proxima Nova"/>
                        </a:rPr>
                        <a:t>ending)</a:t>
                      </a:r>
                      <a:endParaRPr sz="1600"/>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bl>
          </a:graphicData>
        </a:graphic>
      </p:graphicFrame>
      <p:sp>
        <p:nvSpPr>
          <p:cNvPr id="435" name="Google Shape;435;p65"/>
          <p:cNvSpPr txBox="1"/>
          <p:nvPr/>
        </p:nvSpPr>
        <p:spPr>
          <a:xfrm>
            <a:off x="365710" y="4670390"/>
            <a:ext cx="8412600" cy="22470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None/>
            </a:pPr>
            <a:r>
              <a:rPr b="0" i="1" lang="en" sz="1100" u="none" cap="none" strike="noStrike">
                <a:solidFill>
                  <a:srgbClr val="B8C7CC"/>
                </a:solidFill>
                <a:latin typeface="Proxima Nova"/>
                <a:ea typeface="Proxima Nova"/>
                <a:cs typeface="Proxima Nova"/>
                <a:sym typeface="Proxima Nova"/>
              </a:rPr>
              <a:t>A Tunnel &amp; Calling on Reserves: results pending.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439" name="Shape 439"/>
        <p:cNvGrpSpPr/>
        <p:nvPr/>
      </p:nvGrpSpPr>
      <p:grpSpPr>
        <a:xfrm>
          <a:off x="0" y="0"/>
          <a:ext cx="0" cy="0"/>
          <a:chOff x="0" y="0"/>
          <a:chExt cx="0" cy="0"/>
        </a:xfrm>
      </p:grpSpPr>
      <p:sp>
        <p:nvSpPr>
          <p:cNvPr id="440" name="Google Shape;440;p66"/>
          <p:cNvSpPr txBox="1"/>
          <p:nvPr>
            <p:ph type="ctrTitle"/>
          </p:nvPr>
        </p:nvSpPr>
        <p:spPr>
          <a:xfrm>
            <a:off x="192725" y="199350"/>
            <a:ext cx="3305100" cy="46143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100"/>
              <a:buNone/>
            </a:pPr>
            <a:r>
              <a:rPr b="1" lang="en" sz="4056">
                <a:solidFill>
                  <a:srgbClr val="7ED957"/>
                </a:solidFill>
                <a:latin typeface="Proxima Nova"/>
                <a:ea typeface="Proxima Nova"/>
                <a:cs typeface="Proxima Nova"/>
                <a:sym typeface="Proxima Nova"/>
              </a:rPr>
              <a:t>Results &amp; Scenario Ranking:</a:t>
            </a:r>
            <a:endParaRPr b="1" sz="4056">
              <a:solidFill>
                <a:srgbClr val="7ED957"/>
              </a:solidFill>
              <a:latin typeface="Proxima Nova"/>
              <a:ea typeface="Proxima Nova"/>
              <a:cs typeface="Proxima Nova"/>
              <a:sym typeface="Proxima Nova"/>
            </a:endParaRPr>
          </a:p>
          <a:p>
            <a:pPr indent="0" lvl="0" marL="0" rtl="0" algn="l">
              <a:spcBef>
                <a:spcPts val="800"/>
              </a:spcBef>
              <a:spcAft>
                <a:spcPts val="800"/>
              </a:spcAft>
              <a:buSzPts val="1100"/>
              <a:buNone/>
            </a:pPr>
            <a:r>
              <a:rPr b="1" lang="en" sz="4056">
                <a:solidFill>
                  <a:srgbClr val="7ED957"/>
                </a:solidFill>
                <a:latin typeface="Proxima Nova"/>
                <a:ea typeface="Proxima Nova"/>
                <a:cs typeface="Proxima Nova"/>
                <a:sym typeface="Proxima Nova"/>
              </a:rPr>
              <a:t>Flood Risk</a:t>
            </a:r>
            <a:endParaRPr b="1" sz="4056">
              <a:solidFill>
                <a:srgbClr val="7ED957"/>
              </a:solidFill>
              <a:latin typeface="Proxima Nova"/>
              <a:ea typeface="Proxima Nova"/>
              <a:cs typeface="Proxima Nova"/>
              <a:sym typeface="Proxima Nova"/>
            </a:endParaRPr>
          </a:p>
        </p:txBody>
      </p:sp>
      <p:pic>
        <p:nvPicPr>
          <p:cNvPr id="441" name="Google Shape;441;p66"/>
          <p:cNvPicPr preferRelativeResize="0"/>
          <p:nvPr/>
        </p:nvPicPr>
        <p:blipFill rotWithShape="1">
          <a:blip r:embed="rId3">
            <a:alphaModFix/>
          </a:blip>
          <a:srcRect b="0" l="33186" r="0" t="0"/>
          <a:stretch/>
        </p:blipFill>
        <p:spPr>
          <a:xfrm>
            <a:off x="3034900" y="0"/>
            <a:ext cx="6109102" cy="514349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445" name="Shape 445"/>
        <p:cNvGrpSpPr/>
        <p:nvPr/>
      </p:nvGrpSpPr>
      <p:grpSpPr>
        <a:xfrm>
          <a:off x="0" y="0"/>
          <a:ext cx="0" cy="0"/>
          <a:chOff x="0" y="0"/>
          <a:chExt cx="0" cy="0"/>
        </a:xfrm>
      </p:grpSpPr>
      <p:sp>
        <p:nvSpPr>
          <p:cNvPr id="446" name="Google Shape;446;p67"/>
          <p:cNvSpPr txBox="1"/>
          <p:nvPr>
            <p:ph type="ctrTitle"/>
          </p:nvPr>
        </p:nvSpPr>
        <p:spPr>
          <a:xfrm>
            <a:off x="256375" y="96950"/>
            <a:ext cx="85206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000">
                <a:solidFill>
                  <a:srgbClr val="7ED957"/>
                </a:solidFill>
                <a:latin typeface="Proxima Nova"/>
                <a:ea typeface="Proxima Nova"/>
                <a:cs typeface="Proxima Nova"/>
                <a:sym typeface="Proxima Nova"/>
              </a:rPr>
              <a:t>Flood Risk: Results &amp; Ranking</a:t>
            </a:r>
            <a:endParaRPr b="1" sz="3000">
              <a:solidFill>
                <a:srgbClr val="7ED957"/>
              </a:solidFill>
              <a:latin typeface="Proxima Nova"/>
              <a:ea typeface="Proxima Nova"/>
              <a:cs typeface="Proxima Nova"/>
              <a:sym typeface="Proxima Nova"/>
            </a:endParaRPr>
          </a:p>
          <a:p>
            <a:pPr indent="0" lvl="0" marL="0" rtl="0" algn="ctr">
              <a:lnSpc>
                <a:spcPct val="100000"/>
              </a:lnSpc>
              <a:spcBef>
                <a:spcPts val="800"/>
              </a:spcBef>
              <a:spcAft>
                <a:spcPts val="0"/>
              </a:spcAft>
              <a:buSzPts val="4680"/>
              <a:buNone/>
            </a:pPr>
            <a:r>
              <a:t/>
            </a:r>
            <a:endParaRPr sz="4680">
              <a:solidFill>
                <a:srgbClr val="7ED957"/>
              </a:solidFill>
              <a:latin typeface="Hammersmith One"/>
              <a:ea typeface="Hammersmith One"/>
              <a:cs typeface="Hammersmith One"/>
              <a:sym typeface="Hammersmith One"/>
            </a:endParaRPr>
          </a:p>
        </p:txBody>
      </p:sp>
      <p:grpSp>
        <p:nvGrpSpPr>
          <p:cNvPr id="447" name="Google Shape;447;p67"/>
          <p:cNvGrpSpPr/>
          <p:nvPr/>
        </p:nvGrpSpPr>
        <p:grpSpPr>
          <a:xfrm>
            <a:off x="899633" y="1955967"/>
            <a:ext cx="584295" cy="750100"/>
            <a:chOff x="1768700" y="238125"/>
            <a:chExt cx="4080275" cy="5238125"/>
          </a:xfrm>
        </p:grpSpPr>
        <p:sp>
          <p:nvSpPr>
            <p:cNvPr id="448" name="Google Shape;448;p67"/>
            <p:cNvSpPr/>
            <p:nvPr/>
          </p:nvSpPr>
          <p:spPr>
            <a:xfrm>
              <a:off x="1768700" y="238125"/>
              <a:ext cx="2930650" cy="5238125"/>
            </a:xfrm>
            <a:custGeom>
              <a:rect b="b" l="l" r="r" t="t"/>
              <a:pathLst>
                <a:path extrusionOk="0" h="209525" w="117226">
                  <a:moveTo>
                    <a:pt x="70469" y="0"/>
                  </a:moveTo>
                  <a:cubicBezTo>
                    <a:pt x="70469" y="0"/>
                    <a:pt x="0" y="100138"/>
                    <a:pt x="0" y="139058"/>
                  </a:cubicBezTo>
                  <a:cubicBezTo>
                    <a:pt x="0" y="177976"/>
                    <a:pt x="31551" y="209525"/>
                    <a:pt x="70469" y="209525"/>
                  </a:cubicBezTo>
                  <a:cubicBezTo>
                    <a:pt x="88413" y="209525"/>
                    <a:pt x="104782" y="202806"/>
                    <a:pt x="117226" y="191760"/>
                  </a:cubicBezTo>
                  <a:cubicBezTo>
                    <a:pt x="89538" y="187980"/>
                    <a:pt x="68198" y="164251"/>
                    <a:pt x="68198" y="135526"/>
                  </a:cubicBezTo>
                  <a:cubicBezTo>
                    <a:pt x="68198" y="116691"/>
                    <a:pt x="88680" y="80067"/>
                    <a:pt x="105039" y="53814"/>
                  </a:cubicBezTo>
                  <a:cubicBezTo>
                    <a:pt x="87645" y="24413"/>
                    <a:pt x="70469" y="0"/>
                    <a:pt x="70469" y="0"/>
                  </a:cubicBezTo>
                  <a:close/>
                </a:path>
              </a:pathLst>
            </a:custGeom>
            <a:solidFill>
              <a:srgbClr val="FFFFFF"/>
            </a:solidFill>
            <a:ln>
              <a:noFill/>
            </a:ln>
          </p:spPr>
          <p:txBody>
            <a:bodyPr anchorCtr="0" anchor="ctr" bIns="47750" lIns="47750" spcFirstLastPara="1" rIns="47750" wrap="square" tIns="47750">
              <a:noAutofit/>
            </a:bodyPr>
            <a:lstStyle/>
            <a:p>
              <a:pPr indent="0" lvl="0" marL="0" rtl="0" algn="l">
                <a:spcBef>
                  <a:spcPts val="0"/>
                </a:spcBef>
                <a:spcAft>
                  <a:spcPts val="0"/>
                </a:spcAft>
                <a:buNone/>
              </a:pPr>
              <a:r>
                <a:t/>
              </a:r>
              <a:endParaRPr/>
            </a:p>
          </p:txBody>
        </p:sp>
        <p:sp>
          <p:nvSpPr>
            <p:cNvPr id="449" name="Google Shape;449;p67"/>
            <p:cNvSpPr/>
            <p:nvPr/>
          </p:nvSpPr>
          <p:spPr>
            <a:xfrm>
              <a:off x="3937125" y="1780575"/>
              <a:ext cx="1911850" cy="2842250"/>
            </a:xfrm>
            <a:custGeom>
              <a:rect b="b" l="l" r="r" t="t"/>
              <a:pathLst>
                <a:path extrusionOk="0" h="113690" w="76474">
                  <a:moveTo>
                    <a:pt x="38234" y="1"/>
                  </a:moveTo>
                  <a:cubicBezTo>
                    <a:pt x="38234" y="1"/>
                    <a:pt x="0" y="54335"/>
                    <a:pt x="0" y="75453"/>
                  </a:cubicBezTo>
                  <a:cubicBezTo>
                    <a:pt x="0" y="96571"/>
                    <a:pt x="17119" y="113690"/>
                    <a:pt x="38237" y="113690"/>
                  </a:cubicBezTo>
                  <a:cubicBezTo>
                    <a:pt x="59355" y="113690"/>
                    <a:pt x="76474" y="96571"/>
                    <a:pt x="76474" y="75453"/>
                  </a:cubicBezTo>
                  <a:cubicBezTo>
                    <a:pt x="76474" y="54337"/>
                    <a:pt x="38234" y="1"/>
                    <a:pt x="38234" y="1"/>
                  </a:cubicBezTo>
                  <a:close/>
                </a:path>
              </a:pathLst>
            </a:custGeom>
            <a:solidFill>
              <a:srgbClr val="FFFFFF"/>
            </a:solidFill>
            <a:ln>
              <a:noFill/>
            </a:ln>
          </p:spPr>
          <p:txBody>
            <a:bodyPr anchorCtr="0" anchor="ctr" bIns="47750" lIns="47750" spcFirstLastPara="1" rIns="47750" wrap="square" tIns="47750">
              <a:noAutofit/>
            </a:bodyPr>
            <a:lstStyle/>
            <a:p>
              <a:pPr indent="0" lvl="0" marL="0" rtl="0" algn="l">
                <a:spcBef>
                  <a:spcPts val="0"/>
                </a:spcBef>
                <a:spcAft>
                  <a:spcPts val="0"/>
                </a:spcAft>
                <a:buNone/>
              </a:pPr>
              <a:r>
                <a:t/>
              </a:r>
              <a:endParaRPr/>
            </a:p>
          </p:txBody>
        </p:sp>
      </p:grpSp>
      <p:sp>
        <p:nvSpPr>
          <p:cNvPr id="450" name="Google Shape;450;p67"/>
          <p:cNvSpPr txBox="1"/>
          <p:nvPr/>
        </p:nvSpPr>
        <p:spPr>
          <a:xfrm>
            <a:off x="256363" y="2995075"/>
            <a:ext cx="1870800" cy="173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rPr>
              <a:t>No Change: 0</a:t>
            </a:r>
            <a:endParaRPr b="1" sz="1800">
              <a:solidFill>
                <a:schemeClr val="lt1"/>
              </a:solidFill>
            </a:endParaRPr>
          </a:p>
          <a:p>
            <a:pPr indent="0" lvl="0" marL="0" rtl="0" algn="ctr">
              <a:spcBef>
                <a:spcPts val="0"/>
              </a:spcBef>
              <a:spcAft>
                <a:spcPts val="0"/>
              </a:spcAft>
              <a:buNone/>
            </a:pPr>
            <a:r>
              <a:t/>
            </a:r>
            <a:endParaRPr sz="1800">
              <a:solidFill>
                <a:schemeClr val="lt1"/>
              </a:solidFill>
            </a:endParaRPr>
          </a:p>
          <a:p>
            <a:pPr indent="0" lvl="0" marL="0" rtl="0" algn="ctr">
              <a:spcBef>
                <a:spcPts val="0"/>
              </a:spcBef>
              <a:spcAft>
                <a:spcPts val="0"/>
              </a:spcAft>
              <a:buNone/>
            </a:pPr>
            <a:r>
              <a:rPr lang="en" sz="1800">
                <a:solidFill>
                  <a:schemeClr val="lt1"/>
                </a:solidFill>
              </a:rPr>
              <a:t>Eco Machine</a:t>
            </a:r>
            <a:endParaRPr sz="1800">
              <a:solidFill>
                <a:schemeClr val="lt1"/>
              </a:solidFill>
            </a:endParaRPr>
          </a:p>
          <a:p>
            <a:pPr indent="0" lvl="0" marL="0" rtl="0" algn="ctr">
              <a:spcBef>
                <a:spcPts val="0"/>
              </a:spcBef>
              <a:spcAft>
                <a:spcPts val="0"/>
              </a:spcAft>
              <a:buNone/>
            </a:pPr>
            <a:r>
              <a:t/>
            </a:r>
            <a:endParaRPr sz="1800">
              <a:solidFill>
                <a:schemeClr val="lt1"/>
              </a:solidFill>
            </a:endParaRPr>
          </a:p>
          <a:p>
            <a:pPr indent="0" lvl="0" marL="0" rtl="0" algn="ctr">
              <a:spcBef>
                <a:spcPts val="0"/>
              </a:spcBef>
              <a:spcAft>
                <a:spcPts val="0"/>
              </a:spcAft>
              <a:buNone/>
            </a:pPr>
            <a:r>
              <a:rPr lang="en" sz="1800">
                <a:solidFill>
                  <a:schemeClr val="lt1"/>
                </a:solidFill>
              </a:rPr>
              <a:t>Calling on Reserves</a:t>
            </a:r>
            <a:endParaRPr sz="1800">
              <a:solidFill>
                <a:schemeClr val="lt1"/>
              </a:solidFill>
            </a:endParaRPr>
          </a:p>
        </p:txBody>
      </p:sp>
      <p:grpSp>
        <p:nvGrpSpPr>
          <p:cNvPr id="451" name="Google Shape;451;p67"/>
          <p:cNvGrpSpPr/>
          <p:nvPr/>
        </p:nvGrpSpPr>
        <p:grpSpPr>
          <a:xfrm>
            <a:off x="2902600" y="1653730"/>
            <a:ext cx="819727" cy="1052339"/>
            <a:chOff x="1768700" y="238125"/>
            <a:chExt cx="4080275" cy="5238125"/>
          </a:xfrm>
        </p:grpSpPr>
        <p:sp>
          <p:nvSpPr>
            <p:cNvPr id="452" name="Google Shape;452;p67"/>
            <p:cNvSpPr/>
            <p:nvPr/>
          </p:nvSpPr>
          <p:spPr>
            <a:xfrm>
              <a:off x="1768700" y="238125"/>
              <a:ext cx="2930650" cy="5238125"/>
            </a:xfrm>
            <a:custGeom>
              <a:rect b="b" l="l" r="r" t="t"/>
              <a:pathLst>
                <a:path extrusionOk="0" h="209525" w="117226">
                  <a:moveTo>
                    <a:pt x="70469" y="0"/>
                  </a:moveTo>
                  <a:cubicBezTo>
                    <a:pt x="70469" y="0"/>
                    <a:pt x="0" y="100138"/>
                    <a:pt x="0" y="139058"/>
                  </a:cubicBezTo>
                  <a:cubicBezTo>
                    <a:pt x="0" y="177976"/>
                    <a:pt x="31551" y="209525"/>
                    <a:pt x="70469" y="209525"/>
                  </a:cubicBezTo>
                  <a:cubicBezTo>
                    <a:pt x="88413" y="209525"/>
                    <a:pt x="104782" y="202806"/>
                    <a:pt x="117226" y="191760"/>
                  </a:cubicBezTo>
                  <a:cubicBezTo>
                    <a:pt x="89538" y="187980"/>
                    <a:pt x="68198" y="164251"/>
                    <a:pt x="68198" y="135526"/>
                  </a:cubicBezTo>
                  <a:cubicBezTo>
                    <a:pt x="68198" y="116691"/>
                    <a:pt x="88680" y="80067"/>
                    <a:pt x="105039" y="53814"/>
                  </a:cubicBezTo>
                  <a:cubicBezTo>
                    <a:pt x="87645" y="24413"/>
                    <a:pt x="70469" y="0"/>
                    <a:pt x="70469" y="0"/>
                  </a:cubicBezTo>
                  <a:close/>
                </a:path>
              </a:pathLst>
            </a:custGeom>
            <a:solidFill>
              <a:srgbClr val="B6D7A8"/>
            </a:solidFill>
            <a:ln>
              <a:noFill/>
            </a:ln>
          </p:spPr>
          <p:txBody>
            <a:bodyPr anchorCtr="0" anchor="ctr" bIns="66975" lIns="66975" spcFirstLastPara="1" rIns="66975" wrap="square" tIns="66975">
              <a:noAutofit/>
            </a:bodyPr>
            <a:lstStyle/>
            <a:p>
              <a:pPr indent="0" lvl="0" marL="0" rtl="0" algn="l">
                <a:spcBef>
                  <a:spcPts val="0"/>
                </a:spcBef>
                <a:spcAft>
                  <a:spcPts val="0"/>
                </a:spcAft>
                <a:buNone/>
              </a:pPr>
              <a:r>
                <a:t/>
              </a:r>
              <a:endParaRPr/>
            </a:p>
          </p:txBody>
        </p:sp>
        <p:sp>
          <p:nvSpPr>
            <p:cNvPr id="453" name="Google Shape;453;p67"/>
            <p:cNvSpPr/>
            <p:nvPr/>
          </p:nvSpPr>
          <p:spPr>
            <a:xfrm>
              <a:off x="3937125" y="1780575"/>
              <a:ext cx="1911850" cy="2842250"/>
            </a:xfrm>
            <a:custGeom>
              <a:rect b="b" l="l" r="r" t="t"/>
              <a:pathLst>
                <a:path extrusionOk="0" h="113690" w="76474">
                  <a:moveTo>
                    <a:pt x="38234" y="1"/>
                  </a:moveTo>
                  <a:cubicBezTo>
                    <a:pt x="38234" y="1"/>
                    <a:pt x="0" y="54335"/>
                    <a:pt x="0" y="75453"/>
                  </a:cubicBezTo>
                  <a:cubicBezTo>
                    <a:pt x="0" y="96571"/>
                    <a:pt x="17119" y="113690"/>
                    <a:pt x="38237" y="113690"/>
                  </a:cubicBezTo>
                  <a:cubicBezTo>
                    <a:pt x="59355" y="113690"/>
                    <a:pt x="76474" y="96571"/>
                    <a:pt x="76474" y="75453"/>
                  </a:cubicBezTo>
                  <a:cubicBezTo>
                    <a:pt x="76474" y="54337"/>
                    <a:pt x="38234" y="1"/>
                    <a:pt x="38234" y="1"/>
                  </a:cubicBezTo>
                  <a:close/>
                </a:path>
              </a:pathLst>
            </a:custGeom>
            <a:solidFill>
              <a:srgbClr val="B6D7A8"/>
            </a:solidFill>
            <a:ln>
              <a:noFill/>
            </a:ln>
          </p:spPr>
          <p:txBody>
            <a:bodyPr anchorCtr="0" anchor="ctr" bIns="66975" lIns="66975" spcFirstLastPara="1" rIns="66975" wrap="square" tIns="66975">
              <a:noAutofit/>
            </a:bodyPr>
            <a:lstStyle/>
            <a:p>
              <a:pPr indent="0" lvl="0" marL="0" rtl="0" algn="l">
                <a:spcBef>
                  <a:spcPts val="0"/>
                </a:spcBef>
                <a:spcAft>
                  <a:spcPts val="0"/>
                </a:spcAft>
                <a:buNone/>
              </a:pPr>
              <a:r>
                <a:t/>
              </a:r>
              <a:endParaRPr/>
            </a:p>
          </p:txBody>
        </p:sp>
      </p:grpSp>
      <p:sp>
        <p:nvSpPr>
          <p:cNvPr id="454" name="Google Shape;454;p67"/>
          <p:cNvSpPr txBox="1"/>
          <p:nvPr/>
        </p:nvSpPr>
        <p:spPr>
          <a:xfrm>
            <a:off x="2127150" y="2995075"/>
            <a:ext cx="2370600" cy="97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B6D7A8"/>
                </a:solidFill>
              </a:rPr>
              <a:t>Slight</a:t>
            </a:r>
            <a:endParaRPr b="1" sz="1800">
              <a:solidFill>
                <a:srgbClr val="B6D7A8"/>
              </a:solidFill>
            </a:endParaRPr>
          </a:p>
          <a:p>
            <a:pPr indent="0" lvl="0" marL="0" rtl="0" algn="ctr">
              <a:spcBef>
                <a:spcPts val="0"/>
              </a:spcBef>
              <a:spcAft>
                <a:spcPts val="0"/>
              </a:spcAft>
              <a:buNone/>
            </a:pPr>
            <a:r>
              <a:rPr b="1" lang="en" sz="1800">
                <a:solidFill>
                  <a:srgbClr val="B6D7A8"/>
                </a:solidFill>
              </a:rPr>
              <a:t>Decrease: 1</a:t>
            </a:r>
            <a:endParaRPr b="1" sz="1800">
              <a:solidFill>
                <a:srgbClr val="B6D7A8"/>
              </a:solidFill>
            </a:endParaRPr>
          </a:p>
          <a:p>
            <a:pPr indent="0" lvl="0" marL="0" rtl="0" algn="ctr">
              <a:spcBef>
                <a:spcPts val="0"/>
              </a:spcBef>
              <a:spcAft>
                <a:spcPts val="0"/>
              </a:spcAft>
              <a:buNone/>
            </a:pPr>
            <a:r>
              <a:t/>
            </a:r>
            <a:endParaRPr sz="1800">
              <a:solidFill>
                <a:srgbClr val="B6D7A8"/>
              </a:solidFill>
            </a:endParaRPr>
          </a:p>
          <a:p>
            <a:pPr indent="0" lvl="0" marL="0" rtl="0" algn="ctr">
              <a:spcBef>
                <a:spcPts val="0"/>
              </a:spcBef>
              <a:spcAft>
                <a:spcPts val="0"/>
              </a:spcAft>
              <a:buNone/>
            </a:pPr>
            <a:r>
              <a:rPr lang="en" sz="1800">
                <a:solidFill>
                  <a:srgbClr val="B6D7A8"/>
                </a:solidFill>
              </a:rPr>
              <a:t>A Tunnel</a:t>
            </a:r>
            <a:endParaRPr sz="1800">
              <a:solidFill>
                <a:srgbClr val="B6D7A8"/>
              </a:solidFill>
            </a:endParaRPr>
          </a:p>
        </p:txBody>
      </p:sp>
      <p:grpSp>
        <p:nvGrpSpPr>
          <p:cNvPr id="455" name="Google Shape;455;p67"/>
          <p:cNvGrpSpPr/>
          <p:nvPr/>
        </p:nvGrpSpPr>
        <p:grpSpPr>
          <a:xfrm>
            <a:off x="5157515" y="1356722"/>
            <a:ext cx="1051079" cy="1349341"/>
            <a:chOff x="1768700" y="238125"/>
            <a:chExt cx="4080275" cy="5238125"/>
          </a:xfrm>
        </p:grpSpPr>
        <p:sp>
          <p:nvSpPr>
            <p:cNvPr id="456" name="Google Shape;456;p67"/>
            <p:cNvSpPr/>
            <p:nvPr/>
          </p:nvSpPr>
          <p:spPr>
            <a:xfrm>
              <a:off x="1768700" y="238125"/>
              <a:ext cx="2930650" cy="5238125"/>
            </a:xfrm>
            <a:custGeom>
              <a:rect b="b" l="l" r="r" t="t"/>
              <a:pathLst>
                <a:path extrusionOk="0" h="209525" w="117226">
                  <a:moveTo>
                    <a:pt x="70469" y="0"/>
                  </a:moveTo>
                  <a:cubicBezTo>
                    <a:pt x="70469" y="0"/>
                    <a:pt x="0" y="100138"/>
                    <a:pt x="0" y="139058"/>
                  </a:cubicBezTo>
                  <a:cubicBezTo>
                    <a:pt x="0" y="177976"/>
                    <a:pt x="31551" y="209525"/>
                    <a:pt x="70469" y="209525"/>
                  </a:cubicBezTo>
                  <a:cubicBezTo>
                    <a:pt x="88413" y="209525"/>
                    <a:pt x="104782" y="202806"/>
                    <a:pt x="117226" y="191760"/>
                  </a:cubicBezTo>
                  <a:cubicBezTo>
                    <a:pt x="89538" y="187980"/>
                    <a:pt x="68198" y="164251"/>
                    <a:pt x="68198" y="135526"/>
                  </a:cubicBezTo>
                  <a:cubicBezTo>
                    <a:pt x="68198" y="116691"/>
                    <a:pt x="88680" y="80067"/>
                    <a:pt x="105039" y="53814"/>
                  </a:cubicBezTo>
                  <a:cubicBezTo>
                    <a:pt x="87645" y="24413"/>
                    <a:pt x="70469" y="0"/>
                    <a:pt x="70469" y="0"/>
                  </a:cubicBezTo>
                  <a:close/>
                </a:path>
              </a:pathLst>
            </a:custGeom>
            <a:solidFill>
              <a:srgbClr val="46BEC6"/>
            </a:solidFill>
            <a:ln>
              <a:noFill/>
            </a:ln>
          </p:spPr>
          <p:txBody>
            <a:bodyPr anchorCtr="0" anchor="ctr" bIns="85875" lIns="85875" spcFirstLastPara="1" rIns="85875" wrap="square" tIns="85875">
              <a:noAutofit/>
            </a:bodyPr>
            <a:lstStyle/>
            <a:p>
              <a:pPr indent="0" lvl="0" marL="0" rtl="0" algn="l">
                <a:spcBef>
                  <a:spcPts val="0"/>
                </a:spcBef>
                <a:spcAft>
                  <a:spcPts val="0"/>
                </a:spcAft>
                <a:buNone/>
              </a:pPr>
              <a:r>
                <a:t/>
              </a:r>
              <a:endParaRPr/>
            </a:p>
          </p:txBody>
        </p:sp>
        <p:sp>
          <p:nvSpPr>
            <p:cNvPr id="457" name="Google Shape;457;p67"/>
            <p:cNvSpPr/>
            <p:nvPr/>
          </p:nvSpPr>
          <p:spPr>
            <a:xfrm>
              <a:off x="3937125" y="1780575"/>
              <a:ext cx="1911850" cy="2842250"/>
            </a:xfrm>
            <a:custGeom>
              <a:rect b="b" l="l" r="r" t="t"/>
              <a:pathLst>
                <a:path extrusionOk="0" h="113690" w="76474">
                  <a:moveTo>
                    <a:pt x="38234" y="1"/>
                  </a:moveTo>
                  <a:cubicBezTo>
                    <a:pt x="38234" y="1"/>
                    <a:pt x="0" y="54335"/>
                    <a:pt x="0" y="75453"/>
                  </a:cubicBezTo>
                  <a:cubicBezTo>
                    <a:pt x="0" y="96571"/>
                    <a:pt x="17119" y="113690"/>
                    <a:pt x="38237" y="113690"/>
                  </a:cubicBezTo>
                  <a:cubicBezTo>
                    <a:pt x="59355" y="113690"/>
                    <a:pt x="76474" y="96571"/>
                    <a:pt x="76474" y="75453"/>
                  </a:cubicBezTo>
                  <a:cubicBezTo>
                    <a:pt x="76474" y="54337"/>
                    <a:pt x="38234" y="1"/>
                    <a:pt x="38234" y="1"/>
                  </a:cubicBezTo>
                  <a:close/>
                </a:path>
              </a:pathLst>
            </a:custGeom>
            <a:solidFill>
              <a:srgbClr val="46BEC6"/>
            </a:solidFill>
            <a:ln>
              <a:noFill/>
            </a:ln>
          </p:spPr>
          <p:txBody>
            <a:bodyPr anchorCtr="0" anchor="ctr" bIns="85875" lIns="85875" spcFirstLastPara="1" rIns="85875" wrap="square" tIns="85875">
              <a:noAutofit/>
            </a:bodyPr>
            <a:lstStyle/>
            <a:p>
              <a:pPr indent="0" lvl="0" marL="0" rtl="0" algn="l">
                <a:spcBef>
                  <a:spcPts val="0"/>
                </a:spcBef>
                <a:spcAft>
                  <a:spcPts val="0"/>
                </a:spcAft>
                <a:buNone/>
              </a:pPr>
              <a:r>
                <a:t/>
              </a:r>
              <a:endParaRPr/>
            </a:p>
          </p:txBody>
        </p:sp>
      </p:grpSp>
      <p:sp>
        <p:nvSpPr>
          <p:cNvPr id="458" name="Google Shape;458;p67"/>
          <p:cNvSpPr txBox="1"/>
          <p:nvPr/>
        </p:nvSpPr>
        <p:spPr>
          <a:xfrm>
            <a:off x="4497763" y="2955775"/>
            <a:ext cx="2370600" cy="105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46BEC6"/>
                </a:solidFill>
              </a:rPr>
              <a:t>Moderate</a:t>
            </a:r>
            <a:endParaRPr b="1" sz="1800">
              <a:solidFill>
                <a:srgbClr val="46BEC6"/>
              </a:solidFill>
            </a:endParaRPr>
          </a:p>
          <a:p>
            <a:pPr indent="0" lvl="0" marL="0" rtl="0" algn="ctr">
              <a:spcBef>
                <a:spcPts val="0"/>
              </a:spcBef>
              <a:spcAft>
                <a:spcPts val="0"/>
              </a:spcAft>
              <a:buNone/>
            </a:pPr>
            <a:r>
              <a:rPr b="1" lang="en" sz="1800">
                <a:solidFill>
                  <a:srgbClr val="46BEC6"/>
                </a:solidFill>
              </a:rPr>
              <a:t>Decrease: 2</a:t>
            </a:r>
            <a:endParaRPr b="1" sz="1800">
              <a:solidFill>
                <a:srgbClr val="46BEC6"/>
              </a:solidFill>
            </a:endParaRPr>
          </a:p>
          <a:p>
            <a:pPr indent="0" lvl="0" marL="0" rtl="0" algn="ctr">
              <a:spcBef>
                <a:spcPts val="0"/>
              </a:spcBef>
              <a:spcAft>
                <a:spcPts val="0"/>
              </a:spcAft>
              <a:buNone/>
            </a:pPr>
            <a:r>
              <a:t/>
            </a:r>
            <a:endParaRPr sz="1800">
              <a:solidFill>
                <a:srgbClr val="46BEC6"/>
              </a:solidFill>
            </a:endParaRPr>
          </a:p>
          <a:p>
            <a:pPr indent="0" lvl="0" marL="0" rtl="0" algn="ctr">
              <a:spcBef>
                <a:spcPts val="0"/>
              </a:spcBef>
              <a:spcAft>
                <a:spcPts val="0"/>
              </a:spcAft>
              <a:buNone/>
            </a:pPr>
            <a:r>
              <a:rPr lang="en" sz="1800">
                <a:solidFill>
                  <a:srgbClr val="46BEC6"/>
                </a:solidFill>
              </a:rPr>
              <a:t>Bolster and Fortify</a:t>
            </a:r>
            <a:endParaRPr sz="1800">
              <a:solidFill>
                <a:srgbClr val="46BEC6"/>
              </a:solidFill>
            </a:endParaRPr>
          </a:p>
        </p:txBody>
      </p:sp>
      <p:grpSp>
        <p:nvGrpSpPr>
          <p:cNvPr id="459" name="Google Shape;459;p67"/>
          <p:cNvGrpSpPr/>
          <p:nvPr/>
        </p:nvGrpSpPr>
        <p:grpSpPr>
          <a:xfrm>
            <a:off x="7231434" y="970158"/>
            <a:ext cx="1352203" cy="1735915"/>
            <a:chOff x="1768700" y="238125"/>
            <a:chExt cx="4080275" cy="5238125"/>
          </a:xfrm>
        </p:grpSpPr>
        <p:sp>
          <p:nvSpPr>
            <p:cNvPr id="460" name="Google Shape;460;p67"/>
            <p:cNvSpPr/>
            <p:nvPr/>
          </p:nvSpPr>
          <p:spPr>
            <a:xfrm>
              <a:off x="1768700" y="238125"/>
              <a:ext cx="2930650" cy="5238125"/>
            </a:xfrm>
            <a:custGeom>
              <a:rect b="b" l="l" r="r" t="t"/>
              <a:pathLst>
                <a:path extrusionOk="0" h="209525" w="117226">
                  <a:moveTo>
                    <a:pt x="70469" y="0"/>
                  </a:moveTo>
                  <a:cubicBezTo>
                    <a:pt x="70469" y="0"/>
                    <a:pt x="0" y="100138"/>
                    <a:pt x="0" y="139058"/>
                  </a:cubicBezTo>
                  <a:cubicBezTo>
                    <a:pt x="0" y="177976"/>
                    <a:pt x="31551" y="209525"/>
                    <a:pt x="70469" y="209525"/>
                  </a:cubicBezTo>
                  <a:cubicBezTo>
                    <a:pt x="88413" y="209525"/>
                    <a:pt x="104782" y="202806"/>
                    <a:pt x="117226" y="191760"/>
                  </a:cubicBezTo>
                  <a:cubicBezTo>
                    <a:pt x="89538" y="187980"/>
                    <a:pt x="68198" y="164251"/>
                    <a:pt x="68198" y="135526"/>
                  </a:cubicBezTo>
                  <a:cubicBezTo>
                    <a:pt x="68198" y="116691"/>
                    <a:pt x="88680" y="80067"/>
                    <a:pt x="105039" y="53814"/>
                  </a:cubicBezTo>
                  <a:cubicBezTo>
                    <a:pt x="87645" y="24413"/>
                    <a:pt x="70469" y="0"/>
                    <a:pt x="70469" y="0"/>
                  </a:cubicBezTo>
                  <a:close/>
                </a:path>
              </a:pathLst>
            </a:custGeom>
            <a:solidFill>
              <a:srgbClr val="7ED957"/>
            </a:solidFill>
            <a:ln>
              <a:noFill/>
            </a:ln>
          </p:spPr>
          <p:txBody>
            <a:bodyPr anchorCtr="0" anchor="ctr" bIns="110475" lIns="110475" spcFirstLastPara="1" rIns="110475" wrap="square" tIns="110475">
              <a:noAutofit/>
            </a:bodyPr>
            <a:lstStyle/>
            <a:p>
              <a:pPr indent="0" lvl="0" marL="0" rtl="0" algn="l">
                <a:spcBef>
                  <a:spcPts val="0"/>
                </a:spcBef>
                <a:spcAft>
                  <a:spcPts val="0"/>
                </a:spcAft>
                <a:buNone/>
              </a:pPr>
              <a:r>
                <a:t/>
              </a:r>
              <a:endParaRPr/>
            </a:p>
          </p:txBody>
        </p:sp>
        <p:sp>
          <p:nvSpPr>
            <p:cNvPr id="461" name="Google Shape;461;p67"/>
            <p:cNvSpPr/>
            <p:nvPr/>
          </p:nvSpPr>
          <p:spPr>
            <a:xfrm>
              <a:off x="3937125" y="1780575"/>
              <a:ext cx="1911850" cy="2842250"/>
            </a:xfrm>
            <a:custGeom>
              <a:rect b="b" l="l" r="r" t="t"/>
              <a:pathLst>
                <a:path extrusionOk="0" h="113690" w="76474">
                  <a:moveTo>
                    <a:pt x="38234" y="1"/>
                  </a:moveTo>
                  <a:cubicBezTo>
                    <a:pt x="38234" y="1"/>
                    <a:pt x="0" y="54335"/>
                    <a:pt x="0" y="75453"/>
                  </a:cubicBezTo>
                  <a:cubicBezTo>
                    <a:pt x="0" y="96571"/>
                    <a:pt x="17119" y="113690"/>
                    <a:pt x="38237" y="113690"/>
                  </a:cubicBezTo>
                  <a:cubicBezTo>
                    <a:pt x="59355" y="113690"/>
                    <a:pt x="76474" y="96571"/>
                    <a:pt x="76474" y="75453"/>
                  </a:cubicBezTo>
                  <a:cubicBezTo>
                    <a:pt x="76474" y="54337"/>
                    <a:pt x="38234" y="1"/>
                    <a:pt x="38234" y="1"/>
                  </a:cubicBezTo>
                  <a:close/>
                </a:path>
              </a:pathLst>
            </a:custGeom>
            <a:solidFill>
              <a:srgbClr val="7ED957"/>
            </a:solidFill>
            <a:ln>
              <a:noFill/>
            </a:ln>
          </p:spPr>
          <p:txBody>
            <a:bodyPr anchorCtr="0" anchor="ctr" bIns="110475" lIns="110475" spcFirstLastPara="1" rIns="110475" wrap="square" tIns="110475">
              <a:noAutofit/>
            </a:bodyPr>
            <a:lstStyle/>
            <a:p>
              <a:pPr indent="0" lvl="0" marL="0" rtl="0" algn="l">
                <a:spcBef>
                  <a:spcPts val="0"/>
                </a:spcBef>
                <a:spcAft>
                  <a:spcPts val="0"/>
                </a:spcAft>
                <a:buNone/>
              </a:pPr>
              <a:r>
                <a:t/>
              </a:r>
              <a:endParaRPr/>
            </a:p>
          </p:txBody>
        </p:sp>
      </p:grpSp>
      <p:sp>
        <p:nvSpPr>
          <p:cNvPr id="462" name="Google Shape;462;p67"/>
          <p:cNvSpPr txBox="1"/>
          <p:nvPr/>
        </p:nvSpPr>
        <p:spPr>
          <a:xfrm>
            <a:off x="6722213" y="2955775"/>
            <a:ext cx="2370600" cy="134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7ED957"/>
                </a:solidFill>
              </a:rPr>
              <a:t>Significant</a:t>
            </a:r>
            <a:endParaRPr b="1" sz="1800">
              <a:solidFill>
                <a:srgbClr val="7ED957"/>
              </a:solidFill>
            </a:endParaRPr>
          </a:p>
          <a:p>
            <a:pPr indent="0" lvl="0" marL="0" rtl="0" algn="ctr">
              <a:spcBef>
                <a:spcPts val="0"/>
              </a:spcBef>
              <a:spcAft>
                <a:spcPts val="0"/>
              </a:spcAft>
              <a:buNone/>
            </a:pPr>
            <a:r>
              <a:rPr b="1" lang="en" sz="1800">
                <a:solidFill>
                  <a:srgbClr val="7ED957"/>
                </a:solidFill>
              </a:rPr>
              <a:t>Decrease: 3</a:t>
            </a:r>
            <a:endParaRPr b="1" sz="1800">
              <a:solidFill>
                <a:srgbClr val="7ED957"/>
              </a:solidFill>
            </a:endParaRPr>
          </a:p>
          <a:p>
            <a:pPr indent="0" lvl="0" marL="0" rtl="0" algn="ctr">
              <a:spcBef>
                <a:spcPts val="0"/>
              </a:spcBef>
              <a:spcAft>
                <a:spcPts val="0"/>
              </a:spcAft>
              <a:buNone/>
            </a:pPr>
            <a:r>
              <a:t/>
            </a:r>
            <a:endParaRPr sz="1800">
              <a:solidFill>
                <a:srgbClr val="7ED957"/>
              </a:solidFill>
            </a:endParaRPr>
          </a:p>
          <a:p>
            <a:pPr indent="0" lvl="0" marL="0" rtl="0" algn="ctr">
              <a:spcBef>
                <a:spcPts val="0"/>
              </a:spcBef>
              <a:spcAft>
                <a:spcPts val="0"/>
              </a:spcAft>
              <a:buNone/>
            </a:pPr>
            <a:r>
              <a:rPr lang="en" sz="1800">
                <a:solidFill>
                  <a:srgbClr val="7ED957"/>
                </a:solidFill>
              </a:rPr>
              <a:t>New Green Watershed</a:t>
            </a:r>
            <a:endParaRPr sz="1800">
              <a:solidFill>
                <a:srgbClr val="7ED957"/>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466" name="Shape 466"/>
        <p:cNvGrpSpPr/>
        <p:nvPr/>
      </p:nvGrpSpPr>
      <p:grpSpPr>
        <a:xfrm>
          <a:off x="0" y="0"/>
          <a:ext cx="0" cy="0"/>
          <a:chOff x="0" y="0"/>
          <a:chExt cx="0" cy="0"/>
        </a:xfrm>
      </p:grpSpPr>
      <p:sp>
        <p:nvSpPr>
          <p:cNvPr id="467" name="Google Shape;467;p68"/>
          <p:cNvSpPr txBox="1"/>
          <p:nvPr>
            <p:ph type="ctrTitle"/>
          </p:nvPr>
        </p:nvSpPr>
        <p:spPr>
          <a:xfrm>
            <a:off x="256375" y="96950"/>
            <a:ext cx="8520600" cy="48135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SzPts val="1100"/>
              <a:buNone/>
            </a:pPr>
            <a:r>
              <a:rPr b="1" lang="en" sz="4056">
                <a:solidFill>
                  <a:srgbClr val="7ED957"/>
                </a:solidFill>
                <a:latin typeface="Proxima Nova"/>
                <a:ea typeface="Proxima Nova"/>
                <a:cs typeface="Proxima Nova"/>
                <a:sym typeface="Proxima Nova"/>
              </a:rPr>
              <a:t>Results &amp; Scenario Ranking:</a:t>
            </a:r>
            <a:endParaRPr b="1" sz="4056">
              <a:solidFill>
                <a:srgbClr val="7ED957"/>
              </a:solidFill>
              <a:latin typeface="Proxima Nova"/>
              <a:ea typeface="Proxima Nova"/>
              <a:cs typeface="Proxima Nova"/>
              <a:sym typeface="Proxima Nova"/>
            </a:endParaRPr>
          </a:p>
          <a:p>
            <a:pPr indent="0" lvl="0" marL="0" rtl="0" algn="ctr">
              <a:spcBef>
                <a:spcPts val="800"/>
              </a:spcBef>
              <a:spcAft>
                <a:spcPts val="800"/>
              </a:spcAft>
              <a:buSzPts val="1100"/>
              <a:buNone/>
            </a:pPr>
            <a:r>
              <a:rPr b="1" lang="en" sz="4056">
                <a:solidFill>
                  <a:srgbClr val="7ED957"/>
                </a:solidFill>
                <a:latin typeface="Proxima Nova"/>
                <a:ea typeface="Proxima Nova"/>
                <a:cs typeface="Proxima Nova"/>
                <a:sym typeface="Proxima Nova"/>
              </a:rPr>
              <a:t>Overall EJ Score</a:t>
            </a:r>
            <a:endParaRPr b="1" sz="4056">
              <a:solidFill>
                <a:srgbClr val="7ED957"/>
              </a:solidFill>
              <a:latin typeface="Proxima Nova"/>
              <a:ea typeface="Proxima Nova"/>
              <a:cs typeface="Proxima Nova"/>
              <a:sym typeface="Proxima Nova"/>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471" name="Shape 471"/>
        <p:cNvGrpSpPr/>
        <p:nvPr/>
      </p:nvGrpSpPr>
      <p:grpSpPr>
        <a:xfrm>
          <a:off x="0" y="0"/>
          <a:ext cx="0" cy="0"/>
          <a:chOff x="0" y="0"/>
          <a:chExt cx="0" cy="0"/>
        </a:xfrm>
      </p:grpSpPr>
      <p:sp>
        <p:nvSpPr>
          <p:cNvPr id="472" name="Google Shape;472;p69"/>
          <p:cNvSpPr txBox="1"/>
          <p:nvPr/>
        </p:nvSpPr>
        <p:spPr>
          <a:xfrm>
            <a:off x="365750" y="201176"/>
            <a:ext cx="8412600" cy="51720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lang="en" sz="3000">
                <a:solidFill>
                  <a:srgbClr val="7ED957"/>
                </a:solidFill>
                <a:latin typeface="Proxima Nova"/>
                <a:ea typeface="Proxima Nova"/>
                <a:cs typeface="Proxima Nova"/>
                <a:sym typeface="Proxima Nova"/>
              </a:rPr>
              <a:t>Overall EJ Score: Adaptation Scenarios</a:t>
            </a:r>
            <a:endParaRPr sz="1600"/>
          </a:p>
        </p:txBody>
      </p:sp>
      <p:graphicFrame>
        <p:nvGraphicFramePr>
          <p:cNvPr id="473" name="Google Shape;473;p69"/>
          <p:cNvGraphicFramePr/>
          <p:nvPr/>
        </p:nvGraphicFramePr>
        <p:xfrm>
          <a:off x="365810" y="771280"/>
          <a:ext cx="3000000" cy="3000000"/>
        </p:xfrm>
        <a:graphic>
          <a:graphicData uri="http://schemas.openxmlformats.org/drawingml/2006/table">
            <a:tbl>
              <a:tblPr>
                <a:noFill/>
                <a:tableStyleId>{0CC4AB25-8DFD-4ACA-88D2-885EBE8A8D3D}</a:tableStyleId>
              </a:tblPr>
              <a:tblGrid>
                <a:gridCol w="1538625"/>
                <a:gridCol w="447775"/>
                <a:gridCol w="394175"/>
                <a:gridCol w="385275"/>
                <a:gridCol w="394200"/>
                <a:gridCol w="367425"/>
                <a:gridCol w="538225"/>
                <a:gridCol w="392950"/>
                <a:gridCol w="429900"/>
                <a:gridCol w="447750"/>
                <a:gridCol w="438825"/>
                <a:gridCol w="438825"/>
                <a:gridCol w="1099275"/>
                <a:gridCol w="1099275"/>
              </a:tblGrid>
              <a:tr h="508600">
                <a:tc>
                  <a:txBody>
                    <a:bodyPr/>
                    <a:lstStyle/>
                    <a:p>
                      <a:pPr indent="0" lvl="0" marL="0" marR="0" rtl="0" algn="l">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Scenario</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-5</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-4</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-3</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-2</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-1</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0</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+1</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+2</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+3</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+4</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+5</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lang="en" sz="1600">
                          <a:solidFill>
                            <a:srgbClr val="7ED957"/>
                          </a:solidFill>
                          <a:latin typeface="Proxima Nova"/>
                          <a:ea typeface="Proxima Nova"/>
                          <a:cs typeface="Proxima Nova"/>
                          <a:sym typeface="Proxima Nova"/>
                        </a:rPr>
                        <a:t>Overall (Raw)</a:t>
                      </a:r>
                      <a:endParaRPr b="1" i="0" sz="1600" u="none" cap="none" strike="noStrike">
                        <a:solidFill>
                          <a:srgbClr val="7ED957"/>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lang="en" sz="1600">
                          <a:solidFill>
                            <a:srgbClr val="7ED957"/>
                          </a:solidFill>
                          <a:latin typeface="Proxima Nova"/>
                          <a:ea typeface="Proxima Nova"/>
                          <a:cs typeface="Proxima Nova"/>
                          <a:sym typeface="Proxima Nova"/>
                        </a:rPr>
                        <a:t>Overall (Rounded</a:t>
                      </a:r>
                      <a:endParaRPr b="1" sz="1600">
                        <a:solidFill>
                          <a:srgbClr val="7ED957"/>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r>
              <a:tr h="508600">
                <a:tc>
                  <a:txBody>
                    <a:bodyPr/>
                    <a:lstStyle/>
                    <a:p>
                      <a:pPr indent="0" lvl="0" marL="0" marR="0" rtl="0" algn="l">
                        <a:lnSpc>
                          <a:spcPct val="100000"/>
                        </a:lnSpc>
                        <a:spcBef>
                          <a:spcPts val="0"/>
                        </a:spcBef>
                        <a:spcAft>
                          <a:spcPts val="0"/>
                        </a:spcAft>
                        <a:buNone/>
                      </a:pPr>
                      <a:r>
                        <a:rPr i="0" lang="en" sz="1600" u="none" cap="none" strike="noStrike">
                          <a:solidFill>
                            <a:srgbClr val="FFFFFF"/>
                          </a:solidFill>
                          <a:latin typeface="Proxima Nova"/>
                          <a:ea typeface="Proxima Nova"/>
                          <a:cs typeface="Proxima Nova"/>
                          <a:sym typeface="Proxima Nova"/>
                        </a:rPr>
                        <a:t>Business As Usual</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i="0" lang="en" sz="1600" u="none" cap="none" strike="noStrike">
                          <a:solidFill>
                            <a:srgbClr val="FFFFFF"/>
                          </a:solidFill>
                          <a:latin typeface="Proxima Nova"/>
                          <a:ea typeface="Proxima Nova"/>
                          <a:cs typeface="Proxima Nova"/>
                          <a:sym typeface="Proxima Nova"/>
                        </a:rPr>
                        <a:t>●</a:t>
                      </a:r>
                      <a:r>
                        <a:rPr lang="en" sz="1600">
                          <a:solidFill>
                            <a:srgbClr val="7ED957"/>
                          </a:solidFill>
                          <a:latin typeface="Proxima Nova"/>
                          <a:ea typeface="Proxima Nova"/>
                          <a:cs typeface="Proxima Nova"/>
                          <a:sym typeface="Proxima Nova"/>
                        </a:rPr>
                        <a:t>●</a:t>
                      </a:r>
                      <a:r>
                        <a:rPr lang="en" sz="1600">
                          <a:solidFill>
                            <a:srgbClr val="46BEC6"/>
                          </a:solidFill>
                          <a:latin typeface="Proxima Nova"/>
                          <a:ea typeface="Proxima Nova"/>
                          <a:cs typeface="Proxima Nova"/>
                          <a:sym typeface="Proxima Nova"/>
                        </a:rPr>
                        <a:t>●</a:t>
                      </a:r>
                      <a:endParaRPr sz="1600">
                        <a:solidFill>
                          <a:srgbClr val="7ED957"/>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lang="en" sz="1600">
                          <a:solidFill>
                            <a:schemeClr val="lt1"/>
                          </a:solidFill>
                          <a:latin typeface="Proxima Nova"/>
                          <a:ea typeface="Proxima Nova"/>
                          <a:cs typeface="Proxima Nova"/>
                          <a:sym typeface="Proxima Nova"/>
                        </a:rPr>
                        <a:t>0</a:t>
                      </a:r>
                      <a:endParaRPr i="0" sz="1600" u="none" cap="none" strike="noStrike">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lang="en" sz="1600">
                          <a:solidFill>
                            <a:schemeClr val="lt1"/>
                          </a:solidFill>
                          <a:latin typeface="Proxima Nova"/>
                          <a:ea typeface="Proxima Nova"/>
                          <a:cs typeface="Proxima Nova"/>
                          <a:sym typeface="Proxima Nova"/>
                        </a:rPr>
                        <a:t>0</a:t>
                      </a:r>
                      <a:endParaRPr sz="1600">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508600">
                <a:tc>
                  <a:txBody>
                    <a:bodyPr/>
                    <a:lstStyle/>
                    <a:p>
                      <a:pPr indent="0" lvl="0" marL="0" rtl="0" algn="l">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Bolster and Fortify</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Clr>
                          <a:schemeClr val="dk1"/>
                        </a:buClr>
                        <a:buSzPts val="1100"/>
                        <a:buFont typeface="Arial"/>
                        <a:buNone/>
                      </a:pPr>
                      <a:r>
                        <a:rPr lang="en" sz="1600">
                          <a:solidFill>
                            <a:srgbClr val="46BEC6"/>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Clr>
                          <a:schemeClr val="dk1"/>
                        </a:buClr>
                        <a:buFont typeface="Arial"/>
                        <a:buNone/>
                      </a:pPr>
                      <a:r>
                        <a:rPr lang="en" sz="1600">
                          <a:solidFill>
                            <a:srgbClr val="7ED957"/>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lang="en" sz="1600">
                          <a:solidFill>
                            <a:schemeClr val="lt1"/>
                          </a:solidFill>
                          <a:latin typeface="Proxima Nova"/>
                          <a:ea typeface="Proxima Nova"/>
                          <a:cs typeface="Proxima Nova"/>
                          <a:sym typeface="Proxima Nova"/>
                        </a:rPr>
                        <a:t>0.33</a:t>
                      </a:r>
                      <a:endParaRPr i="0" sz="1600" u="none" cap="none" strike="noStrike">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lang="en" sz="1600">
                          <a:solidFill>
                            <a:schemeClr val="lt1"/>
                          </a:solidFill>
                          <a:latin typeface="Proxima Nova"/>
                          <a:ea typeface="Proxima Nova"/>
                          <a:cs typeface="Proxima Nova"/>
                          <a:sym typeface="Proxima Nova"/>
                        </a:rPr>
                        <a:t>0</a:t>
                      </a:r>
                      <a:endParaRPr sz="1600">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r h="508600">
                <a:tc>
                  <a:txBody>
                    <a:bodyPr/>
                    <a:lstStyle/>
                    <a:p>
                      <a:pPr indent="0" lvl="0" marL="0" rtl="0" algn="l">
                        <a:spcBef>
                          <a:spcPts val="0"/>
                        </a:spcBef>
                        <a:spcAft>
                          <a:spcPts val="0"/>
                        </a:spcAft>
                        <a:buNone/>
                      </a:pPr>
                      <a:r>
                        <a:rPr lang="en" sz="1600">
                          <a:solidFill>
                            <a:schemeClr val="lt1"/>
                          </a:solidFill>
                          <a:latin typeface="Proxima Nova"/>
                          <a:ea typeface="Proxima Nova"/>
                          <a:cs typeface="Proxima Nova"/>
                          <a:sym typeface="Proxima Nova"/>
                        </a:rPr>
                        <a:t>Eco Machine</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Clr>
                          <a:schemeClr val="dk1"/>
                        </a:buClr>
                        <a:buSzPts val="1100"/>
                        <a:buFont typeface="Arial"/>
                        <a:buNone/>
                      </a:pPr>
                      <a:r>
                        <a:rPr lang="en" sz="1600">
                          <a:solidFill>
                            <a:srgbClr val="46BEC6"/>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Clr>
                          <a:schemeClr val="dk1"/>
                        </a:buClr>
                        <a:buFont typeface="Arial"/>
                        <a:buNone/>
                      </a:pPr>
                      <a:r>
                        <a:rPr lang="en" sz="1600">
                          <a:solidFill>
                            <a:srgbClr val="7ED957"/>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lang="en" sz="1600">
                          <a:solidFill>
                            <a:schemeClr val="lt1"/>
                          </a:solidFill>
                          <a:latin typeface="Proxima Nova"/>
                          <a:ea typeface="Proxima Nova"/>
                          <a:cs typeface="Proxima Nova"/>
                          <a:sym typeface="Proxima Nova"/>
                        </a:rPr>
                        <a:t>0</a:t>
                      </a:r>
                      <a:endParaRPr i="0" sz="1600" u="none" cap="none" strike="noStrike">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lang="en" sz="1600">
                          <a:solidFill>
                            <a:schemeClr val="lt1"/>
                          </a:solidFill>
                          <a:latin typeface="Proxima Nova"/>
                          <a:ea typeface="Proxima Nova"/>
                          <a:cs typeface="Proxima Nova"/>
                          <a:sym typeface="Proxima Nova"/>
                        </a:rPr>
                        <a:t>0</a:t>
                      </a:r>
                      <a:endParaRPr sz="1600">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508600">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New Green Watershed</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Clr>
                          <a:schemeClr val="dk1"/>
                        </a:buClr>
                        <a:buSzPts val="1100"/>
                        <a:buFont typeface="Arial"/>
                        <a:buNone/>
                      </a:pPr>
                      <a:r>
                        <a:rPr lang="en" sz="1600">
                          <a:solidFill>
                            <a:srgbClr val="46BEC6"/>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Clr>
                          <a:schemeClr val="dk1"/>
                        </a:buClr>
                        <a:buFont typeface="Arial"/>
                        <a:buNone/>
                      </a:pPr>
                      <a:r>
                        <a:rPr lang="en" sz="1600">
                          <a:solidFill>
                            <a:srgbClr val="7ED957"/>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lang="en" sz="1600">
                          <a:solidFill>
                            <a:schemeClr val="lt1"/>
                          </a:solidFill>
                          <a:latin typeface="Proxima Nova"/>
                          <a:ea typeface="Proxima Nova"/>
                          <a:cs typeface="Proxima Nova"/>
                          <a:sym typeface="Proxima Nova"/>
                        </a:rPr>
                        <a:t>0.66</a:t>
                      </a:r>
                      <a:endParaRPr i="0" sz="1600" u="none" cap="none" strike="noStrike">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lang="en" sz="1600">
                          <a:solidFill>
                            <a:schemeClr val="lt1"/>
                          </a:solidFill>
                          <a:latin typeface="Proxima Nova"/>
                          <a:ea typeface="Proxima Nova"/>
                          <a:cs typeface="Proxima Nova"/>
                          <a:sym typeface="Proxima Nova"/>
                        </a:rPr>
                        <a:t>1</a:t>
                      </a:r>
                      <a:endParaRPr sz="1600">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r h="508600">
                <a:tc>
                  <a:txBody>
                    <a:bodyPr/>
                    <a:lstStyle/>
                    <a:p>
                      <a:pPr indent="0" lvl="0" marL="0" rtl="0" algn="l">
                        <a:spcBef>
                          <a:spcPts val="0"/>
                        </a:spcBef>
                        <a:spcAft>
                          <a:spcPts val="0"/>
                        </a:spcAft>
                        <a:buNone/>
                      </a:pPr>
                      <a:r>
                        <a:rPr lang="en" sz="1600">
                          <a:solidFill>
                            <a:schemeClr val="lt1"/>
                          </a:solidFill>
                          <a:latin typeface="Proxima Nova"/>
                          <a:ea typeface="Proxima Nova"/>
                          <a:cs typeface="Proxima Nova"/>
                          <a:sym typeface="Proxima Nova"/>
                        </a:rPr>
                        <a:t>Calling on Reserves</a:t>
                      </a:r>
                      <a:endParaRPr sz="1600">
                        <a:solidFill>
                          <a:srgbClr val="FFFFFF"/>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Clr>
                          <a:schemeClr val="dk1"/>
                        </a:buClr>
                        <a:buFont typeface="Arial"/>
                        <a:buNone/>
                      </a:pPr>
                      <a:r>
                        <a:rPr lang="en" sz="1600">
                          <a:solidFill>
                            <a:srgbClr val="7ED957"/>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Clr>
                          <a:schemeClr val="dk1"/>
                        </a:buClr>
                        <a:buFont typeface="Arial"/>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lang="en" sz="1600">
                          <a:solidFill>
                            <a:schemeClr val="lt1"/>
                          </a:solidFill>
                          <a:latin typeface="Proxima Nova"/>
                          <a:ea typeface="Proxima Nova"/>
                          <a:cs typeface="Proxima Nova"/>
                          <a:sym typeface="Proxima Nova"/>
                        </a:rPr>
                        <a:t>Pending</a:t>
                      </a:r>
                      <a:endParaRPr i="0" sz="1600" u="none" cap="none" strike="noStrike">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lang="en" sz="1600">
                          <a:solidFill>
                            <a:schemeClr val="lt1"/>
                          </a:solidFill>
                          <a:latin typeface="Proxima Nova"/>
                          <a:ea typeface="Proxima Nova"/>
                          <a:cs typeface="Proxima Nova"/>
                          <a:sym typeface="Proxima Nova"/>
                        </a:rPr>
                        <a:t>-</a:t>
                      </a:r>
                      <a:endParaRPr sz="1600">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508600">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A Tunnel</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Clr>
                          <a:schemeClr val="dk1"/>
                        </a:buClr>
                        <a:buFont typeface="Arial"/>
                        <a:buNone/>
                      </a:pPr>
                      <a:r>
                        <a:rPr lang="en" sz="1600">
                          <a:solidFill>
                            <a:srgbClr val="7ED957"/>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Clr>
                          <a:schemeClr val="dk1"/>
                        </a:buClr>
                        <a:buFont typeface="Arial"/>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lang="en" sz="1600">
                          <a:solidFill>
                            <a:schemeClr val="lt1"/>
                          </a:solidFill>
                          <a:latin typeface="Proxima Nova"/>
                          <a:ea typeface="Proxima Nova"/>
                          <a:cs typeface="Proxima Nova"/>
                          <a:sym typeface="Proxima Nova"/>
                        </a:rPr>
                        <a:t>Pending</a:t>
                      </a:r>
                      <a:endParaRPr i="0" sz="1600" u="none" cap="none" strike="noStrike">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lang="en" sz="1600">
                          <a:solidFill>
                            <a:schemeClr val="lt1"/>
                          </a:solidFill>
                          <a:latin typeface="Proxima Nova"/>
                          <a:ea typeface="Proxima Nova"/>
                          <a:cs typeface="Proxima Nova"/>
                          <a:sym typeface="Proxima Nova"/>
                        </a:rPr>
                        <a:t>-</a:t>
                      </a:r>
                      <a:endParaRPr sz="1600">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bl>
          </a:graphicData>
        </a:graphic>
      </p:graphicFrame>
      <p:sp>
        <p:nvSpPr>
          <p:cNvPr id="474" name="Google Shape;474;p69"/>
          <p:cNvSpPr txBox="1"/>
          <p:nvPr/>
        </p:nvSpPr>
        <p:spPr>
          <a:xfrm>
            <a:off x="931400" y="4554000"/>
            <a:ext cx="7281300" cy="48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rPr>
              <a:t>Drinking Water Total Run: </a:t>
            </a:r>
            <a:r>
              <a:rPr lang="en" sz="1600">
                <a:solidFill>
                  <a:schemeClr val="lt1"/>
                </a:solidFill>
                <a:latin typeface="Proxima Nova"/>
                <a:ea typeface="Proxima Nova"/>
                <a:cs typeface="Proxima Nova"/>
                <a:sym typeface="Proxima Nova"/>
              </a:rPr>
              <a:t>●</a:t>
            </a:r>
            <a:r>
              <a:rPr b="1" lang="en">
                <a:solidFill>
                  <a:schemeClr val="lt1"/>
                </a:solidFill>
              </a:rPr>
              <a:t>         </a:t>
            </a:r>
            <a:r>
              <a:rPr b="1" lang="en">
                <a:solidFill>
                  <a:srgbClr val="7ED957"/>
                </a:solidFill>
              </a:rPr>
              <a:t>Flood Risk: </a:t>
            </a:r>
            <a:r>
              <a:rPr lang="en" sz="1600">
                <a:solidFill>
                  <a:srgbClr val="7ED957"/>
                </a:solidFill>
                <a:latin typeface="Proxima Nova"/>
                <a:ea typeface="Proxima Nova"/>
                <a:cs typeface="Proxima Nova"/>
                <a:sym typeface="Proxima Nova"/>
              </a:rPr>
              <a:t>●</a:t>
            </a:r>
            <a:r>
              <a:rPr b="1" lang="en">
                <a:solidFill>
                  <a:srgbClr val="7ED957"/>
                </a:solidFill>
              </a:rPr>
              <a:t> </a:t>
            </a:r>
            <a:r>
              <a:rPr b="1" lang="en">
                <a:solidFill>
                  <a:schemeClr val="lt1"/>
                </a:solidFill>
              </a:rPr>
              <a:t>         </a:t>
            </a:r>
            <a:r>
              <a:rPr b="1" lang="en">
                <a:solidFill>
                  <a:srgbClr val="46BEC6"/>
                </a:solidFill>
              </a:rPr>
              <a:t>Water Age + Temperature: </a:t>
            </a:r>
            <a:r>
              <a:rPr lang="en" sz="1600">
                <a:solidFill>
                  <a:srgbClr val="46BEC6"/>
                </a:solidFill>
                <a:latin typeface="Proxima Nova"/>
                <a:ea typeface="Proxima Nova"/>
                <a:cs typeface="Proxima Nova"/>
                <a:sym typeface="Proxima Nova"/>
              </a:rPr>
              <a:t>●</a:t>
            </a:r>
            <a:endParaRPr b="1">
              <a:solidFill>
                <a:srgbClr val="46BEC6"/>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478" name="Shape 478"/>
        <p:cNvGrpSpPr/>
        <p:nvPr/>
      </p:nvGrpSpPr>
      <p:grpSpPr>
        <a:xfrm>
          <a:off x="0" y="0"/>
          <a:ext cx="0" cy="0"/>
          <a:chOff x="0" y="0"/>
          <a:chExt cx="0" cy="0"/>
        </a:xfrm>
      </p:grpSpPr>
      <p:sp>
        <p:nvSpPr>
          <p:cNvPr id="479" name="Google Shape;479;p70"/>
          <p:cNvSpPr txBox="1"/>
          <p:nvPr/>
        </p:nvSpPr>
        <p:spPr>
          <a:xfrm>
            <a:off x="365760" y="381843"/>
            <a:ext cx="8412600" cy="51720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lang="en" sz="3000">
                <a:solidFill>
                  <a:srgbClr val="7ED957"/>
                </a:solidFill>
                <a:latin typeface="Proxima Nova"/>
                <a:ea typeface="Proxima Nova"/>
                <a:cs typeface="Proxima Nova"/>
                <a:sym typeface="Proxima Nova"/>
              </a:rPr>
              <a:t>Overall EJ Score: Tiered Outflow Scenarios</a:t>
            </a:r>
            <a:endParaRPr sz="1600"/>
          </a:p>
        </p:txBody>
      </p:sp>
      <p:graphicFrame>
        <p:nvGraphicFramePr>
          <p:cNvPr id="480" name="Google Shape;480;p70"/>
          <p:cNvGraphicFramePr/>
          <p:nvPr/>
        </p:nvGraphicFramePr>
        <p:xfrm>
          <a:off x="365710" y="1165805"/>
          <a:ext cx="3000000" cy="3000000"/>
        </p:xfrm>
        <a:graphic>
          <a:graphicData uri="http://schemas.openxmlformats.org/drawingml/2006/table">
            <a:tbl>
              <a:tblPr>
                <a:noFill/>
                <a:tableStyleId>{0CC4AB25-8DFD-4ACA-88D2-885EBE8A8D3D}</a:tableStyleId>
              </a:tblPr>
              <a:tblGrid>
                <a:gridCol w="1923900"/>
                <a:gridCol w="525300"/>
                <a:gridCol w="515075"/>
                <a:gridCol w="515050"/>
                <a:gridCol w="504775"/>
                <a:gridCol w="494525"/>
                <a:gridCol w="484250"/>
                <a:gridCol w="453450"/>
                <a:gridCol w="473975"/>
                <a:gridCol w="515050"/>
                <a:gridCol w="494525"/>
                <a:gridCol w="515050"/>
                <a:gridCol w="997575"/>
              </a:tblGrid>
              <a:tr h="702975">
                <a:tc>
                  <a:txBody>
                    <a:bodyPr/>
                    <a:lstStyle/>
                    <a:p>
                      <a:pPr indent="0" lvl="0" marL="0" marR="0" rtl="0" algn="l">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Scenario</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-5</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-4</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-3</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-2</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-1</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0</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+1</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+2</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+3</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+4</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+5</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lang="en" sz="1600">
                          <a:solidFill>
                            <a:srgbClr val="7ED957"/>
                          </a:solidFill>
                          <a:latin typeface="Proxima Nova"/>
                          <a:ea typeface="Proxima Nova"/>
                          <a:cs typeface="Proxima Nova"/>
                          <a:sym typeface="Proxima Nova"/>
                        </a:rPr>
                        <a:t>Overall</a:t>
                      </a:r>
                      <a:endParaRPr b="1" i="0" sz="1600" u="none" cap="none" strike="noStrike">
                        <a:solidFill>
                          <a:srgbClr val="7ED957"/>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r>
              <a:tr h="702975">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Historic Baseline</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i="0" lang="en" sz="1600" u="none" cap="none" strike="noStrike">
                          <a:solidFill>
                            <a:srgbClr val="FFFFFF"/>
                          </a:solidFill>
                          <a:latin typeface="Proxima Nova"/>
                          <a:ea typeface="Proxima Nova"/>
                          <a:cs typeface="Proxima Nova"/>
                          <a:sym typeface="Proxima Nova"/>
                        </a:rPr>
                        <a:t>●</a:t>
                      </a:r>
                      <a:endParaRPr sz="1600">
                        <a:solidFill>
                          <a:srgbClr val="7ED957"/>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lang="en" sz="1600">
                          <a:solidFill>
                            <a:schemeClr val="lt1"/>
                          </a:solidFill>
                          <a:latin typeface="Proxima Nova"/>
                          <a:ea typeface="Proxima Nova"/>
                          <a:cs typeface="Proxima Nova"/>
                          <a:sym typeface="Proxima Nova"/>
                        </a:rPr>
                        <a:t>0</a:t>
                      </a:r>
                      <a:endParaRPr i="0" sz="1600" u="none" cap="none" strike="noStrike">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702975">
                <a:tc>
                  <a:txBody>
                    <a:bodyPr/>
                    <a:lstStyle/>
                    <a:p>
                      <a:pPr indent="0" lvl="0" marL="0" rtl="0" algn="l">
                        <a:spcBef>
                          <a:spcPts val="0"/>
                        </a:spcBef>
                        <a:spcAft>
                          <a:spcPts val="0"/>
                        </a:spcAft>
                        <a:buNone/>
                      </a:pPr>
                      <a:r>
                        <a:rPr lang="en" sz="1600">
                          <a:solidFill>
                            <a:schemeClr val="lt1"/>
                          </a:solidFill>
                          <a:latin typeface="Proxima Nova"/>
                          <a:ea typeface="Proxima Nova"/>
                          <a:cs typeface="Proxima Nova"/>
                          <a:sym typeface="Proxima Nova"/>
                        </a:rPr>
                        <a:t>30% Flow Increase</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lang="en" sz="1600">
                          <a:solidFill>
                            <a:schemeClr val="lt1"/>
                          </a:solidFill>
                          <a:latin typeface="Proxima Nova"/>
                          <a:ea typeface="Proxima Nova"/>
                          <a:cs typeface="Proxima Nova"/>
                          <a:sym typeface="Proxima Nova"/>
                        </a:rPr>
                        <a:t>4</a:t>
                      </a:r>
                      <a:endParaRPr i="0" sz="1600" u="none" cap="none" strike="noStrike">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r h="702975">
                <a:tc>
                  <a:txBody>
                    <a:bodyPr/>
                    <a:lstStyle/>
                    <a:p>
                      <a:pPr indent="0" lvl="0" marL="0" rtl="0" algn="l">
                        <a:spcBef>
                          <a:spcPts val="0"/>
                        </a:spcBef>
                        <a:spcAft>
                          <a:spcPts val="0"/>
                        </a:spcAft>
                        <a:buNone/>
                      </a:pPr>
                      <a:r>
                        <a:rPr lang="en" sz="1600">
                          <a:solidFill>
                            <a:schemeClr val="lt1"/>
                          </a:solidFill>
                          <a:latin typeface="Proxima Nova"/>
                          <a:ea typeface="Proxima Nova"/>
                          <a:cs typeface="Proxima Nova"/>
                          <a:sym typeface="Proxima Nova"/>
                        </a:rPr>
                        <a:t>10% Flow Decrease</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Clr>
                          <a:schemeClr val="dk1"/>
                        </a:buClr>
                        <a:buFont typeface="Arial"/>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lang="en" sz="1600">
                          <a:solidFill>
                            <a:schemeClr val="lt1"/>
                          </a:solidFill>
                          <a:latin typeface="Proxima Nova"/>
                          <a:ea typeface="Proxima Nova"/>
                          <a:cs typeface="Proxima Nova"/>
                          <a:sym typeface="Proxima Nova"/>
                        </a:rPr>
                        <a:t>-1</a:t>
                      </a:r>
                      <a:endParaRPr i="0" sz="1600" u="none" cap="none" strike="noStrike">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bl>
          </a:graphicData>
        </a:graphic>
      </p:graphicFrame>
      <p:sp>
        <p:nvSpPr>
          <p:cNvPr id="481" name="Google Shape;481;p70"/>
          <p:cNvSpPr txBox="1"/>
          <p:nvPr/>
        </p:nvSpPr>
        <p:spPr>
          <a:xfrm>
            <a:off x="931400" y="4345125"/>
            <a:ext cx="7281300" cy="48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rPr>
              <a:t>Drinking Water Total Run: </a:t>
            </a:r>
            <a:r>
              <a:rPr lang="en" sz="1600">
                <a:solidFill>
                  <a:schemeClr val="lt1"/>
                </a:solidFill>
                <a:latin typeface="Proxima Nova"/>
                <a:ea typeface="Proxima Nova"/>
                <a:cs typeface="Proxima Nova"/>
                <a:sym typeface="Proxima Nova"/>
              </a:rPr>
              <a:t>●</a:t>
            </a:r>
            <a:endParaRPr b="1">
              <a:solidFill>
                <a:srgbClr val="46BEC6"/>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485" name="Shape 485"/>
        <p:cNvGrpSpPr/>
        <p:nvPr/>
      </p:nvGrpSpPr>
      <p:grpSpPr>
        <a:xfrm>
          <a:off x="0" y="0"/>
          <a:ext cx="0" cy="0"/>
          <a:chOff x="0" y="0"/>
          <a:chExt cx="0" cy="0"/>
        </a:xfrm>
      </p:grpSpPr>
      <p:sp>
        <p:nvSpPr>
          <p:cNvPr id="486" name="Google Shape;486;p71"/>
          <p:cNvSpPr txBox="1"/>
          <p:nvPr>
            <p:ph type="ctrTitle"/>
          </p:nvPr>
        </p:nvSpPr>
        <p:spPr>
          <a:xfrm>
            <a:off x="274325" y="366242"/>
            <a:ext cx="8520600" cy="34146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ts val="990"/>
              <a:buNone/>
            </a:pPr>
            <a:r>
              <a:rPr b="1" lang="en" sz="4533">
                <a:solidFill>
                  <a:srgbClr val="7ED957"/>
                </a:solidFill>
                <a:latin typeface="Proxima Nova"/>
                <a:ea typeface="Proxima Nova"/>
                <a:cs typeface="Proxima Nova"/>
                <a:sym typeface="Proxima Nova"/>
              </a:rPr>
              <a:t>ECOCULTURAL RESTORATION &amp; INDIGENOUS SOVEREIGNTY</a:t>
            </a:r>
            <a:endParaRPr b="1" sz="4533">
              <a:solidFill>
                <a:srgbClr val="7ED957"/>
              </a:solidFill>
              <a:latin typeface="Proxima Nova"/>
              <a:ea typeface="Proxima Nova"/>
              <a:cs typeface="Proxima Nova"/>
              <a:sym typeface="Proxima Nova"/>
            </a:endParaRPr>
          </a:p>
          <a:p>
            <a:pPr indent="0" lvl="0" marL="0" rtl="0" algn="l">
              <a:spcBef>
                <a:spcPts val="800"/>
              </a:spcBef>
              <a:spcAft>
                <a:spcPts val="0"/>
              </a:spcAft>
              <a:buClr>
                <a:schemeClr val="dk1"/>
              </a:buClr>
              <a:buSzPct val="36940"/>
              <a:buFont typeface="Arial"/>
              <a:buNone/>
            </a:pPr>
            <a:r>
              <a:rPr i="1" lang="en" sz="2978">
                <a:solidFill>
                  <a:srgbClr val="7ED957"/>
                </a:solidFill>
                <a:latin typeface="Proxima Nova"/>
                <a:ea typeface="Proxima Nova"/>
                <a:cs typeface="Proxima Nova"/>
                <a:sym typeface="Proxima Nova"/>
              </a:rPr>
              <a:t>Comparing Delta Adaptation Scenarios through Environmental Justice, Ecocultural Restoration and Tribal Sovereignty Criteria</a:t>
            </a:r>
            <a:endParaRPr i="1" sz="2978">
              <a:solidFill>
                <a:srgbClr val="7ED957"/>
              </a:solidFill>
              <a:latin typeface="Proxima Nova"/>
              <a:ea typeface="Proxima Nova"/>
              <a:cs typeface="Proxima Nova"/>
              <a:sym typeface="Proxima Nova"/>
            </a:endParaRPr>
          </a:p>
          <a:p>
            <a:pPr indent="0" lvl="0" marL="0" rtl="0" algn="ctr">
              <a:lnSpc>
                <a:spcPct val="100000"/>
              </a:lnSpc>
              <a:spcBef>
                <a:spcPts val="800"/>
              </a:spcBef>
              <a:spcAft>
                <a:spcPts val="0"/>
              </a:spcAft>
              <a:buClr>
                <a:srgbClr val="000000"/>
              </a:buClr>
              <a:buSzPct val="100000"/>
              <a:buFont typeface="Arial"/>
              <a:buNone/>
            </a:pPr>
            <a:r>
              <a:t/>
            </a:r>
            <a:endParaRPr>
              <a:solidFill>
                <a:srgbClr val="7ED957"/>
              </a:solidFill>
              <a:latin typeface="Hammersmith One"/>
              <a:ea typeface="Hammersmith One"/>
              <a:cs typeface="Hammersmith One"/>
              <a:sym typeface="Hammersmith One"/>
            </a:endParaRPr>
          </a:p>
        </p:txBody>
      </p:sp>
      <p:sp>
        <p:nvSpPr>
          <p:cNvPr id="487" name="Google Shape;487;p71"/>
          <p:cNvSpPr txBox="1"/>
          <p:nvPr/>
        </p:nvSpPr>
        <p:spPr>
          <a:xfrm>
            <a:off x="600850" y="3668325"/>
            <a:ext cx="72117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lang="en" sz="2500">
                <a:solidFill>
                  <a:srgbClr val="51A2BD"/>
                </a:solidFill>
                <a:latin typeface="Proxima Nova"/>
                <a:ea typeface="Proxima Nova"/>
                <a:cs typeface="Proxima Nova"/>
                <a:sym typeface="Proxima Nova"/>
              </a:rPr>
              <a:t>Ashley N. DePew, Ana Zepeda, Maggie </a:t>
            </a:r>
            <a:r>
              <a:rPr lang="en" sz="2500">
                <a:solidFill>
                  <a:srgbClr val="51A2BD"/>
                </a:solidFill>
                <a:latin typeface="Proxima Nova"/>
                <a:ea typeface="Proxima Nova"/>
                <a:cs typeface="Proxima Nova"/>
                <a:sym typeface="Proxima Nova"/>
              </a:rPr>
              <a:t>Gallagher</a:t>
            </a:r>
            <a:r>
              <a:rPr lang="en" sz="2500">
                <a:solidFill>
                  <a:srgbClr val="51A2BD"/>
                </a:solidFill>
                <a:latin typeface="Proxima Nova"/>
                <a:ea typeface="Proxima Nova"/>
                <a:cs typeface="Proxima Nova"/>
                <a:sym typeface="Proxima Nova"/>
              </a:rPr>
              <a:t> &amp; Brett Milligan</a:t>
            </a:r>
            <a:endParaRPr b="0" i="0" sz="2500" u="none" cap="none" strike="noStrike">
              <a:solidFill>
                <a:srgbClr val="51A2BD"/>
              </a:solidFill>
              <a:latin typeface="Proxima Nova"/>
              <a:ea typeface="Proxima Nova"/>
              <a:cs typeface="Proxima Nova"/>
              <a:sym typeface="Proxima Nova"/>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491" name="Shape 491"/>
        <p:cNvGrpSpPr/>
        <p:nvPr/>
      </p:nvGrpSpPr>
      <p:grpSpPr>
        <a:xfrm>
          <a:off x="0" y="0"/>
          <a:ext cx="0" cy="0"/>
          <a:chOff x="0" y="0"/>
          <a:chExt cx="0" cy="0"/>
        </a:xfrm>
      </p:grpSpPr>
      <p:sp>
        <p:nvSpPr>
          <p:cNvPr id="492" name="Google Shape;492;p72"/>
          <p:cNvSpPr txBox="1"/>
          <p:nvPr>
            <p:ph type="ctrTitle"/>
          </p:nvPr>
        </p:nvSpPr>
        <p:spPr>
          <a:xfrm>
            <a:off x="274325" y="212275"/>
            <a:ext cx="8520600" cy="47514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27123"/>
              <a:buNone/>
            </a:pPr>
            <a:r>
              <a:rPr b="1" lang="en" sz="4056">
                <a:solidFill>
                  <a:srgbClr val="7ED957"/>
                </a:solidFill>
                <a:latin typeface="Proxima Nova"/>
                <a:ea typeface="Proxima Nova"/>
                <a:cs typeface="Proxima Nova"/>
                <a:sym typeface="Proxima Nova"/>
              </a:rPr>
              <a:t>Criterion </a:t>
            </a:r>
            <a:r>
              <a:rPr b="1" lang="en" sz="4056">
                <a:solidFill>
                  <a:srgbClr val="7ED957"/>
                </a:solidFill>
                <a:latin typeface="Proxima Nova"/>
                <a:ea typeface="Proxima Nova"/>
                <a:cs typeface="Proxima Nova"/>
                <a:sym typeface="Proxima Nova"/>
              </a:rPr>
              <a:t>Definition</a:t>
            </a:r>
            <a:endParaRPr baseline="30000" sz="1778">
              <a:solidFill>
                <a:schemeClr val="lt1"/>
              </a:solidFill>
              <a:latin typeface="Proxima Nova"/>
              <a:ea typeface="Proxima Nova"/>
              <a:cs typeface="Proxima Nova"/>
              <a:sym typeface="Proxima Nova"/>
            </a:endParaRPr>
          </a:p>
          <a:p>
            <a:pPr indent="0" lvl="0" marL="0" rtl="0" algn="l">
              <a:spcBef>
                <a:spcPts val="800"/>
              </a:spcBef>
              <a:spcAft>
                <a:spcPts val="0"/>
              </a:spcAft>
              <a:buClr>
                <a:schemeClr val="dk1"/>
              </a:buClr>
              <a:buSzPct val="100000"/>
              <a:buFont typeface="Arial"/>
              <a:buNone/>
            </a:pPr>
            <a:r>
              <a:t/>
            </a:r>
            <a:endParaRPr sz="1100">
              <a:solidFill>
                <a:schemeClr val="lt1"/>
              </a:solidFill>
              <a:latin typeface="Proxima Nova"/>
              <a:ea typeface="Proxima Nova"/>
              <a:cs typeface="Proxima Nova"/>
              <a:sym typeface="Proxima Nova"/>
            </a:endParaRPr>
          </a:p>
          <a:p>
            <a:pPr indent="0" lvl="0" marL="0" rtl="0" algn="l">
              <a:spcBef>
                <a:spcPts val="800"/>
              </a:spcBef>
              <a:spcAft>
                <a:spcPts val="0"/>
              </a:spcAft>
              <a:buSzPct val="39919"/>
              <a:buNone/>
            </a:pPr>
            <a:r>
              <a:rPr b="1" lang="en" sz="2756">
                <a:solidFill>
                  <a:schemeClr val="lt1"/>
                </a:solidFill>
                <a:latin typeface="Proxima Nova"/>
                <a:ea typeface="Proxima Nova"/>
                <a:cs typeface="Proxima Nova"/>
                <a:sym typeface="Proxima Nova"/>
              </a:rPr>
              <a:t>Ecocultural </a:t>
            </a:r>
            <a:r>
              <a:rPr b="1" lang="en" sz="2756">
                <a:solidFill>
                  <a:schemeClr val="lt1"/>
                </a:solidFill>
                <a:latin typeface="Proxima Nova"/>
                <a:ea typeface="Proxima Nova"/>
                <a:cs typeface="Proxima Nova"/>
                <a:sym typeface="Proxima Nova"/>
              </a:rPr>
              <a:t>Restoration</a:t>
            </a:r>
            <a:r>
              <a:rPr b="1" lang="en" sz="2756">
                <a:solidFill>
                  <a:schemeClr val="lt1"/>
                </a:solidFill>
                <a:latin typeface="Proxima Nova"/>
                <a:ea typeface="Proxima Nova"/>
                <a:cs typeface="Proxima Nova"/>
                <a:sym typeface="Proxima Nova"/>
              </a:rPr>
              <a:t>:</a:t>
            </a:r>
            <a:r>
              <a:rPr lang="en" sz="2756">
                <a:solidFill>
                  <a:schemeClr val="lt1"/>
                </a:solidFill>
                <a:latin typeface="Proxima Nova"/>
                <a:ea typeface="Proxima Nova"/>
                <a:cs typeface="Proxima Nova"/>
                <a:sym typeface="Proxima Nova"/>
              </a:rPr>
              <a:t> </a:t>
            </a:r>
            <a:r>
              <a:rPr lang="en" sz="1778">
                <a:solidFill>
                  <a:schemeClr val="lt1"/>
                </a:solidFill>
                <a:latin typeface="Proxima Nova"/>
                <a:ea typeface="Proxima Nova"/>
                <a:cs typeface="Proxima Nova"/>
                <a:sym typeface="Proxima Nova"/>
              </a:rPr>
              <a:t>"Ecocultural restoration involves the reciprocal repair of ecosystems and revitalization of cultural practices to enhance their mutual resilience to natural and anthropogenic disturbances and climate change stressors."</a:t>
            </a:r>
            <a:r>
              <a:rPr baseline="30000" lang="en" sz="1778">
                <a:solidFill>
                  <a:schemeClr val="lt1"/>
                </a:solidFill>
                <a:latin typeface="Proxima Nova"/>
                <a:ea typeface="Proxima Nova"/>
                <a:cs typeface="Proxima Nova"/>
                <a:sym typeface="Proxima Nova"/>
              </a:rPr>
              <a:t>3</a:t>
            </a:r>
            <a:endParaRPr baseline="30000" sz="1778">
              <a:solidFill>
                <a:srgbClr val="7ED957"/>
              </a:solidFill>
              <a:latin typeface="Proxima Nova"/>
              <a:ea typeface="Proxima Nova"/>
              <a:cs typeface="Proxima Nova"/>
              <a:sym typeface="Proxima Nova"/>
            </a:endParaRPr>
          </a:p>
          <a:p>
            <a:pPr indent="0" lvl="0" marL="0" rtl="0" algn="l">
              <a:spcBef>
                <a:spcPts val="800"/>
              </a:spcBef>
              <a:spcAft>
                <a:spcPts val="0"/>
              </a:spcAft>
              <a:buSzPct val="100000"/>
              <a:buNone/>
            </a:pPr>
            <a:r>
              <a:t/>
            </a:r>
            <a:endParaRPr sz="1100">
              <a:solidFill>
                <a:schemeClr val="lt1"/>
              </a:solidFill>
              <a:latin typeface="Proxima Nova"/>
              <a:ea typeface="Proxima Nova"/>
              <a:cs typeface="Proxima Nova"/>
              <a:sym typeface="Proxima Nova"/>
            </a:endParaRPr>
          </a:p>
          <a:p>
            <a:pPr indent="0" lvl="0" marL="0" rtl="0" algn="l">
              <a:spcBef>
                <a:spcPts val="800"/>
              </a:spcBef>
              <a:spcAft>
                <a:spcPts val="0"/>
              </a:spcAft>
              <a:buSzPct val="39919"/>
              <a:buNone/>
            </a:pPr>
            <a:r>
              <a:rPr b="1" lang="en" sz="2756">
                <a:solidFill>
                  <a:schemeClr val="lt1"/>
                </a:solidFill>
                <a:latin typeface="Proxima Nova"/>
                <a:ea typeface="Proxima Nova"/>
                <a:cs typeface="Proxima Nova"/>
                <a:sym typeface="Proxima Nova"/>
              </a:rPr>
              <a:t>Tribal</a:t>
            </a:r>
            <a:r>
              <a:rPr b="1" lang="en" sz="2756">
                <a:solidFill>
                  <a:schemeClr val="lt1"/>
                </a:solidFill>
                <a:latin typeface="Proxima Nova"/>
                <a:ea typeface="Proxima Nova"/>
                <a:cs typeface="Proxima Nova"/>
                <a:sym typeface="Proxima Nova"/>
              </a:rPr>
              <a:t> Sovereignty</a:t>
            </a:r>
            <a:r>
              <a:rPr b="1" lang="en" sz="2756">
                <a:solidFill>
                  <a:schemeClr val="lt1"/>
                </a:solidFill>
                <a:latin typeface="Proxima Nova"/>
                <a:ea typeface="Proxima Nova"/>
                <a:cs typeface="Proxima Nova"/>
                <a:sym typeface="Proxima Nova"/>
              </a:rPr>
              <a:t>:</a:t>
            </a:r>
            <a:r>
              <a:rPr lang="en" sz="2756">
                <a:solidFill>
                  <a:schemeClr val="lt1"/>
                </a:solidFill>
                <a:latin typeface="Proxima Nova"/>
                <a:ea typeface="Proxima Nova"/>
                <a:cs typeface="Proxima Nova"/>
                <a:sym typeface="Proxima Nova"/>
              </a:rPr>
              <a:t> </a:t>
            </a:r>
            <a:r>
              <a:rPr lang="en" sz="1778">
                <a:solidFill>
                  <a:schemeClr val="lt1"/>
                </a:solidFill>
                <a:latin typeface="Proxima Nova"/>
                <a:ea typeface="Proxima Nova"/>
                <a:cs typeface="Proxima Nova"/>
                <a:sym typeface="Proxima Nova"/>
              </a:rPr>
              <a:t>"The inherent authority of Native American tribes to govern themselves. … Tribal sovereignty means that tribes have the right to govern their lands, manage their resources, make and enforce laws, and maintain their customs and traditions."</a:t>
            </a:r>
            <a:r>
              <a:rPr baseline="30000" lang="en" sz="1778">
                <a:solidFill>
                  <a:schemeClr val="lt1"/>
                </a:solidFill>
                <a:latin typeface="Proxima Nova"/>
                <a:ea typeface="Proxima Nova"/>
                <a:cs typeface="Proxima Nova"/>
                <a:sym typeface="Proxima Nova"/>
              </a:rPr>
              <a:t>4</a:t>
            </a:r>
            <a:endParaRPr baseline="30000" sz="1778">
              <a:solidFill>
                <a:srgbClr val="7ED957"/>
              </a:solidFill>
              <a:latin typeface="Proxima Nova"/>
              <a:ea typeface="Proxima Nova"/>
              <a:cs typeface="Proxima Nova"/>
              <a:sym typeface="Proxima Nova"/>
            </a:endParaRPr>
          </a:p>
          <a:p>
            <a:pPr indent="0" lvl="0" marL="0" rtl="0" algn="l">
              <a:lnSpc>
                <a:spcPct val="100000"/>
              </a:lnSpc>
              <a:spcBef>
                <a:spcPts val="800"/>
              </a:spcBef>
              <a:spcAft>
                <a:spcPts val="0"/>
              </a:spcAft>
              <a:buSzPct val="61875"/>
              <a:buNone/>
            </a:pPr>
            <a:r>
              <a:t/>
            </a:r>
            <a:endParaRPr baseline="30000" sz="1778">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SzPct val="52105"/>
              <a:buNone/>
            </a:pPr>
            <a:r>
              <a:rPr lang="en" sz="2111">
                <a:solidFill>
                  <a:schemeClr val="lt1"/>
                </a:solidFill>
                <a:latin typeface="Proxima Nova"/>
                <a:ea typeface="Proxima Nova"/>
                <a:cs typeface="Proxima Nova"/>
                <a:sym typeface="Proxima Nova"/>
              </a:rPr>
              <a:t>This criterion seeks to assess to which degree the scenarios can foster these principles.</a:t>
            </a:r>
            <a:endParaRPr sz="2111">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SzPct val="61875"/>
              <a:buNone/>
            </a:pPr>
            <a:r>
              <a:t/>
            </a:r>
            <a:endParaRPr baseline="30000" sz="1778">
              <a:solidFill>
                <a:schemeClr val="lt1"/>
              </a:solidFill>
              <a:latin typeface="Proxima Nova"/>
              <a:ea typeface="Proxima Nova"/>
              <a:cs typeface="Proxima Nova"/>
              <a:sym typeface="Proxima Nova"/>
            </a:endParaRPr>
          </a:p>
          <a:p>
            <a:pPr indent="-457200" lvl="0" marL="457200" rtl="0" algn="l">
              <a:lnSpc>
                <a:spcPct val="100000"/>
              </a:lnSpc>
              <a:spcBef>
                <a:spcPts val="0"/>
              </a:spcBef>
              <a:spcAft>
                <a:spcPts val="0"/>
              </a:spcAft>
              <a:buSzPct val="112500"/>
              <a:buNone/>
            </a:pPr>
            <a:r>
              <a:t/>
            </a:r>
            <a:endParaRPr sz="978">
              <a:solidFill>
                <a:schemeClr val="lt1"/>
              </a:solidFill>
              <a:latin typeface="Proxima Nova"/>
              <a:ea typeface="Proxima Nova"/>
              <a:cs typeface="Proxima Nova"/>
              <a:sym typeface="Proxima Nova"/>
            </a:endParaRPr>
          </a:p>
          <a:p>
            <a:pPr indent="-457200" lvl="0" marL="457200" rtl="0" algn="l">
              <a:lnSpc>
                <a:spcPct val="100000"/>
              </a:lnSpc>
              <a:spcBef>
                <a:spcPts val="0"/>
              </a:spcBef>
              <a:spcAft>
                <a:spcPts val="0"/>
              </a:spcAft>
              <a:buSzPct val="112500"/>
              <a:buNone/>
            </a:pPr>
            <a:r>
              <a:rPr baseline="30000" lang="en" sz="978">
                <a:solidFill>
                  <a:schemeClr val="lt1"/>
                </a:solidFill>
                <a:latin typeface="Proxima Nova"/>
                <a:ea typeface="Proxima Nova"/>
                <a:cs typeface="Proxima Nova"/>
                <a:sym typeface="Proxima Nova"/>
              </a:rPr>
              <a:t>3</a:t>
            </a:r>
            <a:r>
              <a:rPr baseline="30000" lang="en" sz="978">
                <a:solidFill>
                  <a:schemeClr val="lt1"/>
                </a:solidFill>
                <a:latin typeface="Proxima Nova"/>
                <a:ea typeface="Proxima Nova"/>
                <a:cs typeface="Proxima Nova"/>
                <a:sym typeface="Proxima Nova"/>
              </a:rPr>
              <a:t> </a:t>
            </a:r>
            <a:r>
              <a:rPr lang="en" sz="1311" u="sng">
                <a:solidFill>
                  <a:schemeClr val="hlink"/>
                </a:solidFill>
                <a:latin typeface="Proxima Nova"/>
                <a:ea typeface="Proxima Nova"/>
                <a:cs typeface="Proxima Nova"/>
                <a:sym typeface="Proxima Nova"/>
                <a:hlinkClick r:id="rId3"/>
              </a:rPr>
              <a:t>Eitzel et al., 2024</a:t>
            </a:r>
            <a:endParaRPr sz="1311">
              <a:solidFill>
                <a:schemeClr val="lt1"/>
              </a:solidFill>
              <a:latin typeface="Proxima Nova"/>
              <a:ea typeface="Proxima Nova"/>
              <a:cs typeface="Proxima Nova"/>
              <a:sym typeface="Proxima Nova"/>
            </a:endParaRPr>
          </a:p>
          <a:p>
            <a:pPr indent="-457200" lvl="0" marL="457200" rtl="0" algn="l">
              <a:lnSpc>
                <a:spcPct val="100000"/>
              </a:lnSpc>
              <a:spcBef>
                <a:spcPts val="0"/>
              </a:spcBef>
              <a:spcAft>
                <a:spcPts val="0"/>
              </a:spcAft>
              <a:buSzPct val="112500"/>
              <a:buNone/>
            </a:pPr>
            <a:r>
              <a:rPr baseline="30000" lang="en" sz="978">
                <a:solidFill>
                  <a:schemeClr val="lt1"/>
                </a:solidFill>
                <a:latin typeface="Proxima Nova"/>
                <a:ea typeface="Proxima Nova"/>
                <a:cs typeface="Proxima Nova"/>
                <a:sym typeface="Proxima Nova"/>
              </a:rPr>
              <a:t>4</a:t>
            </a:r>
            <a:r>
              <a:rPr baseline="30000" lang="en" sz="978">
                <a:solidFill>
                  <a:schemeClr val="lt1"/>
                </a:solidFill>
                <a:latin typeface="Proxima Nova"/>
                <a:ea typeface="Proxima Nova"/>
                <a:cs typeface="Proxima Nova"/>
                <a:sym typeface="Proxima Nova"/>
              </a:rPr>
              <a:t> </a:t>
            </a:r>
            <a:r>
              <a:rPr lang="en" sz="1200" u="sng">
                <a:solidFill>
                  <a:schemeClr val="hlink"/>
                </a:solidFill>
                <a:latin typeface="Proxima Nova"/>
                <a:ea typeface="Proxima Nova"/>
                <a:cs typeface="Proxima Nova"/>
                <a:sym typeface="Proxima Nova"/>
                <a:hlinkClick r:id="rId4"/>
              </a:rPr>
              <a:t>Native American Studies Model Curriculum, n.d.</a:t>
            </a:r>
            <a:endParaRPr sz="1200">
              <a:solidFill>
                <a:schemeClr val="lt1"/>
              </a:solidFill>
              <a:latin typeface="Proxima Nova"/>
              <a:ea typeface="Proxima Nova"/>
              <a:cs typeface="Proxima Nova"/>
              <a:sym typeface="Proxima Nova"/>
            </a:endParaRPr>
          </a:p>
          <a:p>
            <a:pPr indent="0" lvl="0" marL="0" rtl="0" algn="l">
              <a:spcBef>
                <a:spcPts val="0"/>
              </a:spcBef>
              <a:spcAft>
                <a:spcPts val="0"/>
              </a:spcAft>
              <a:buSzPct val="55000"/>
              <a:buNone/>
            </a:pPr>
            <a:r>
              <a:t/>
            </a:r>
            <a:endParaRPr sz="2000">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Clr>
                <a:srgbClr val="000000"/>
              </a:buClr>
              <a:buSzPct val="100000"/>
              <a:buFont typeface="Arial"/>
              <a:buNone/>
            </a:pPr>
            <a:r>
              <a:t/>
            </a:r>
            <a:endParaRPr>
              <a:solidFill>
                <a:srgbClr val="7ED957"/>
              </a:solidFill>
              <a:latin typeface="Hammersmith One"/>
              <a:ea typeface="Hammersmith One"/>
              <a:cs typeface="Hammersmith One"/>
              <a:sym typeface="Hammersmith One"/>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496" name="Shape 496"/>
        <p:cNvGrpSpPr/>
        <p:nvPr/>
      </p:nvGrpSpPr>
      <p:grpSpPr>
        <a:xfrm>
          <a:off x="0" y="0"/>
          <a:ext cx="0" cy="0"/>
          <a:chOff x="0" y="0"/>
          <a:chExt cx="0" cy="0"/>
        </a:xfrm>
      </p:grpSpPr>
      <p:sp>
        <p:nvSpPr>
          <p:cNvPr id="497" name="Google Shape;497;p73"/>
          <p:cNvSpPr txBox="1"/>
          <p:nvPr>
            <p:ph type="ctrTitle"/>
          </p:nvPr>
        </p:nvSpPr>
        <p:spPr>
          <a:xfrm>
            <a:off x="256375" y="96950"/>
            <a:ext cx="8520600" cy="6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sz="3600">
                <a:solidFill>
                  <a:srgbClr val="7ED957"/>
                </a:solidFill>
                <a:latin typeface="Proxima Nova"/>
                <a:ea typeface="Proxima Nova"/>
                <a:cs typeface="Proxima Nova"/>
                <a:sym typeface="Proxima Nova"/>
              </a:rPr>
              <a:t>Why this criterion matters</a:t>
            </a:r>
            <a:endParaRPr b="1" sz="3600">
              <a:solidFill>
                <a:srgbClr val="7ED957"/>
              </a:solidFill>
              <a:latin typeface="Proxima Nova"/>
              <a:ea typeface="Proxima Nova"/>
              <a:cs typeface="Proxima Nova"/>
              <a:sym typeface="Proxima Nova"/>
            </a:endParaRPr>
          </a:p>
          <a:p>
            <a:pPr indent="0" lvl="0" marL="0" rtl="0" algn="l">
              <a:spcBef>
                <a:spcPts val="800"/>
              </a:spcBef>
              <a:spcAft>
                <a:spcPts val="800"/>
              </a:spcAft>
              <a:buNone/>
            </a:pPr>
            <a:r>
              <a:t/>
            </a:r>
            <a:endParaRPr sz="2000">
              <a:solidFill>
                <a:schemeClr val="lt1"/>
              </a:solidFill>
              <a:latin typeface="Proxima Nova"/>
              <a:ea typeface="Proxima Nova"/>
              <a:cs typeface="Proxima Nova"/>
              <a:sym typeface="Proxima Nova"/>
            </a:endParaRPr>
          </a:p>
        </p:txBody>
      </p:sp>
      <p:sp>
        <p:nvSpPr>
          <p:cNvPr id="498" name="Google Shape;498;p73"/>
          <p:cNvSpPr/>
          <p:nvPr/>
        </p:nvSpPr>
        <p:spPr>
          <a:xfrm>
            <a:off x="337350" y="765950"/>
            <a:ext cx="8439600" cy="3978600"/>
          </a:xfrm>
          <a:prstGeom prst="rect">
            <a:avLst/>
          </a:prstGeom>
          <a:solidFill>
            <a:srgbClr val="2F444B"/>
          </a:solidFill>
          <a:ln>
            <a:noFill/>
          </a:ln>
        </p:spPr>
        <p:txBody>
          <a:bodyPr anchorCtr="0" anchor="ctr" bIns="104350" lIns="208775" spcFirstLastPara="1" rIns="208775" wrap="square" tIns="104350">
            <a:noAutofit/>
          </a:bodyPr>
          <a:lstStyle/>
          <a:p>
            <a:pPr indent="0" lvl="0" marL="0" marR="0" rtl="0" algn="ctr">
              <a:lnSpc>
                <a:spcPct val="100000"/>
              </a:lnSpc>
              <a:spcBef>
                <a:spcPts val="0"/>
              </a:spcBef>
              <a:spcAft>
                <a:spcPts val="0"/>
              </a:spcAft>
              <a:buNone/>
            </a:pPr>
            <a:r>
              <a:t/>
            </a:r>
            <a:endParaRPr b="0" i="0" sz="3197" u="none" cap="none" strike="noStrike">
              <a:solidFill>
                <a:srgbClr val="000000"/>
              </a:solidFill>
              <a:latin typeface="Arial"/>
              <a:ea typeface="Arial"/>
              <a:cs typeface="Arial"/>
              <a:sym typeface="Arial"/>
            </a:endParaRPr>
          </a:p>
        </p:txBody>
      </p:sp>
      <p:sp>
        <p:nvSpPr>
          <p:cNvPr id="499" name="Google Shape;499;p73"/>
          <p:cNvSpPr txBox="1"/>
          <p:nvPr/>
        </p:nvSpPr>
        <p:spPr>
          <a:xfrm>
            <a:off x="352200" y="867300"/>
            <a:ext cx="8439600" cy="3859200"/>
          </a:xfrm>
          <a:prstGeom prst="rect">
            <a:avLst/>
          </a:prstGeom>
          <a:noFill/>
          <a:ln>
            <a:noFill/>
          </a:ln>
        </p:spPr>
        <p:txBody>
          <a:bodyPr anchorCtr="0" anchor="t" bIns="62650" lIns="104350" spcFirstLastPara="1" rIns="104350" wrap="square" tIns="62650">
            <a:spAutoFit/>
          </a:bodyPr>
          <a:lstStyle/>
          <a:p>
            <a:pPr indent="0" lvl="0" marL="0" marR="0" rtl="0" algn="l">
              <a:lnSpc>
                <a:spcPct val="100000"/>
              </a:lnSpc>
              <a:spcBef>
                <a:spcPts val="1370"/>
              </a:spcBef>
              <a:spcAft>
                <a:spcPts val="0"/>
              </a:spcAft>
              <a:buNone/>
            </a:pPr>
            <a:r>
              <a:rPr lang="en" sz="2200">
                <a:solidFill>
                  <a:schemeClr val="lt1"/>
                </a:solidFill>
                <a:latin typeface="Proxima Nova"/>
                <a:ea typeface="Proxima Nova"/>
                <a:cs typeface="Proxima Nova"/>
                <a:sym typeface="Proxima Nova"/>
              </a:rPr>
              <a:t>Indigenous communities are the </a:t>
            </a:r>
            <a:r>
              <a:rPr b="1" lang="en" sz="2200">
                <a:solidFill>
                  <a:schemeClr val="lt1"/>
                </a:solidFill>
                <a:latin typeface="Proxima Nova"/>
                <a:ea typeface="Proxima Nova"/>
                <a:cs typeface="Proxima Nova"/>
                <a:sym typeface="Proxima Nova"/>
              </a:rPr>
              <a:t>original stewards of the land</a:t>
            </a:r>
            <a:endParaRPr b="1" sz="2200">
              <a:solidFill>
                <a:schemeClr val="lt1"/>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rPr lang="en" sz="1600">
                <a:solidFill>
                  <a:schemeClr val="lt1"/>
                </a:solidFill>
                <a:latin typeface="Proxima Nova"/>
                <a:ea typeface="Proxima Nova"/>
                <a:cs typeface="Proxima Nova"/>
                <a:sym typeface="Proxima Nova"/>
              </a:rPr>
              <a:t>Previously</a:t>
            </a:r>
            <a:r>
              <a:rPr lang="en" sz="1600">
                <a:solidFill>
                  <a:schemeClr val="lt1"/>
                </a:solidFill>
                <a:latin typeface="Proxima Nova"/>
                <a:ea typeface="Proxima Nova"/>
                <a:cs typeface="Proxima Nova"/>
                <a:sym typeface="Proxima Nova"/>
              </a:rPr>
              <a:t> forcibly removed from the Delta</a:t>
            </a:r>
            <a:endParaRPr sz="1600">
              <a:solidFill>
                <a:schemeClr val="lt1"/>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t/>
            </a:r>
            <a:endParaRPr sz="1600">
              <a:solidFill>
                <a:schemeClr val="lt1"/>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rPr b="1" lang="en" sz="2200">
                <a:solidFill>
                  <a:schemeClr val="lt1"/>
                </a:solidFill>
                <a:latin typeface="Proxima Nova"/>
                <a:ea typeface="Proxima Nova"/>
                <a:cs typeface="Proxima Nova"/>
                <a:sym typeface="Proxima Nova"/>
              </a:rPr>
              <a:t>Recognition and alignment</a:t>
            </a:r>
            <a:r>
              <a:rPr lang="en" sz="2200">
                <a:solidFill>
                  <a:schemeClr val="lt1"/>
                </a:solidFill>
                <a:latin typeface="Proxima Nova"/>
                <a:ea typeface="Proxima Nova"/>
                <a:cs typeface="Proxima Nova"/>
                <a:sym typeface="Proxima Nova"/>
              </a:rPr>
              <a:t> with the values and viewpoints of tribes</a:t>
            </a:r>
            <a:endParaRPr sz="2200">
              <a:solidFill>
                <a:schemeClr val="lt1"/>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rPr lang="en" sz="1600">
                <a:solidFill>
                  <a:schemeClr val="lt1"/>
                </a:solidFill>
                <a:latin typeface="Proxima Nova"/>
                <a:ea typeface="Proxima Nova"/>
                <a:cs typeface="Proxima Nova"/>
                <a:sym typeface="Proxima Nova"/>
              </a:rPr>
              <a:t>Native species of plants and animals, as well as water itself, are of high cultural importance</a:t>
            </a:r>
            <a:endParaRPr sz="1600">
              <a:solidFill>
                <a:schemeClr val="lt1"/>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t/>
            </a:r>
            <a:endParaRPr sz="1600">
              <a:solidFill>
                <a:schemeClr val="lt1"/>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rPr b="1" lang="en" sz="2200">
                <a:solidFill>
                  <a:srgbClr val="46BEC6"/>
                </a:solidFill>
                <a:latin typeface="Proxima Nova"/>
                <a:ea typeface="Proxima Nova"/>
                <a:cs typeface="Proxima Nova"/>
                <a:sym typeface="Proxima Nova"/>
              </a:rPr>
              <a:t>A just transition in the Delta cannot occur without Indigenous leadership, involvement, and inclusion. </a:t>
            </a:r>
            <a:endParaRPr b="1" sz="2200">
              <a:solidFill>
                <a:srgbClr val="46BEC6"/>
              </a:solidFill>
              <a:latin typeface="Proxima Nova"/>
              <a:ea typeface="Proxima Nova"/>
              <a:cs typeface="Proxima Nova"/>
              <a:sym typeface="Proxima Nova"/>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503" name="Shape 503"/>
        <p:cNvGrpSpPr/>
        <p:nvPr/>
      </p:nvGrpSpPr>
      <p:grpSpPr>
        <a:xfrm>
          <a:off x="0" y="0"/>
          <a:ext cx="0" cy="0"/>
          <a:chOff x="0" y="0"/>
          <a:chExt cx="0" cy="0"/>
        </a:xfrm>
      </p:grpSpPr>
      <p:pic>
        <p:nvPicPr>
          <p:cNvPr id="504" name="Google Shape;504;p74"/>
          <p:cNvPicPr preferRelativeResize="0"/>
          <p:nvPr/>
        </p:nvPicPr>
        <p:blipFill rotWithShape="1">
          <a:blip r:embed="rId3">
            <a:alphaModFix/>
          </a:blip>
          <a:srcRect b="4083" l="4684" r="7427" t="3742"/>
          <a:stretch/>
        </p:blipFill>
        <p:spPr>
          <a:xfrm>
            <a:off x="4730025" y="0"/>
            <a:ext cx="4413976" cy="5143501"/>
          </a:xfrm>
          <a:prstGeom prst="rect">
            <a:avLst/>
          </a:prstGeom>
          <a:noFill/>
          <a:ln>
            <a:noFill/>
          </a:ln>
        </p:spPr>
      </p:pic>
      <p:pic>
        <p:nvPicPr>
          <p:cNvPr id="505" name="Google Shape;505;p74"/>
          <p:cNvPicPr preferRelativeResize="0"/>
          <p:nvPr/>
        </p:nvPicPr>
        <p:blipFill rotWithShape="1">
          <a:blip r:embed="rId3">
            <a:alphaModFix/>
          </a:blip>
          <a:srcRect b="29881" l="22952" r="45302" t="38695"/>
          <a:stretch/>
        </p:blipFill>
        <p:spPr>
          <a:xfrm>
            <a:off x="0" y="0"/>
            <a:ext cx="4676723" cy="5143501"/>
          </a:xfrm>
          <a:prstGeom prst="rect">
            <a:avLst/>
          </a:prstGeom>
          <a:noFill/>
          <a:ln>
            <a:noFill/>
          </a:ln>
        </p:spPr>
      </p:pic>
      <p:sp>
        <p:nvSpPr>
          <p:cNvPr id="506" name="Google Shape;506;p74"/>
          <p:cNvSpPr txBox="1"/>
          <p:nvPr>
            <p:ph type="ctrTitle"/>
          </p:nvPr>
        </p:nvSpPr>
        <p:spPr>
          <a:xfrm>
            <a:off x="189140" y="7303"/>
            <a:ext cx="8520600" cy="5502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39600"/>
              <a:buNone/>
            </a:pPr>
            <a:r>
              <a:rPr b="1" lang="en" sz="2778">
                <a:latin typeface="Proxima Nova"/>
                <a:ea typeface="Proxima Nova"/>
                <a:cs typeface="Proxima Nova"/>
                <a:sym typeface="Proxima Nova"/>
              </a:rPr>
              <a:t>Historic Tribal Territories</a:t>
            </a:r>
            <a:endParaRPr b="1" sz="2778">
              <a:latin typeface="Proxima Nova"/>
              <a:ea typeface="Proxima Nova"/>
              <a:cs typeface="Proxima Nova"/>
              <a:sym typeface="Proxima Nova"/>
            </a:endParaRPr>
          </a:p>
          <a:p>
            <a:pPr indent="0" lvl="0" marL="0" rtl="0" algn="l">
              <a:spcBef>
                <a:spcPts val="800"/>
              </a:spcBef>
              <a:spcAft>
                <a:spcPts val="0"/>
              </a:spcAft>
              <a:buSzPct val="36940"/>
              <a:buNone/>
            </a:pPr>
            <a:r>
              <a:t/>
            </a:r>
            <a:endParaRPr sz="2978">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ct val="100000"/>
              <a:buNone/>
            </a:pPr>
            <a:r>
              <a:t/>
            </a:r>
            <a:endParaRPr>
              <a:solidFill>
                <a:srgbClr val="7ED957"/>
              </a:solidFill>
              <a:latin typeface="Hammersmith One"/>
              <a:ea typeface="Hammersmith One"/>
              <a:cs typeface="Hammersmith One"/>
              <a:sym typeface="Hammersmith One"/>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510" name="Shape 510"/>
        <p:cNvGrpSpPr/>
        <p:nvPr/>
      </p:nvGrpSpPr>
      <p:grpSpPr>
        <a:xfrm>
          <a:off x="0" y="0"/>
          <a:ext cx="0" cy="0"/>
          <a:chOff x="0" y="0"/>
          <a:chExt cx="0" cy="0"/>
        </a:xfrm>
      </p:grpSpPr>
      <p:sp>
        <p:nvSpPr>
          <p:cNvPr id="511" name="Google Shape;511;p75"/>
          <p:cNvSpPr txBox="1"/>
          <p:nvPr>
            <p:ph type="ctrTitle"/>
          </p:nvPr>
        </p:nvSpPr>
        <p:spPr>
          <a:xfrm>
            <a:off x="274325" y="114300"/>
            <a:ext cx="8685000" cy="138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100"/>
              <a:buNone/>
            </a:pPr>
            <a:r>
              <a:rPr b="1" lang="en" sz="4056">
                <a:solidFill>
                  <a:srgbClr val="7ED957"/>
                </a:solidFill>
                <a:latin typeface="Proxima Nova"/>
                <a:ea typeface="Proxima Nova"/>
                <a:cs typeface="Proxima Nova"/>
                <a:sym typeface="Proxima Nova"/>
              </a:rPr>
              <a:t>How the criterion was developed</a:t>
            </a:r>
            <a:endParaRPr b="1" sz="4056">
              <a:solidFill>
                <a:srgbClr val="7ED957"/>
              </a:solidFill>
              <a:latin typeface="Proxima Nova"/>
              <a:ea typeface="Proxima Nova"/>
              <a:cs typeface="Proxima Nova"/>
              <a:sym typeface="Proxima Nova"/>
            </a:endParaRPr>
          </a:p>
          <a:p>
            <a:pPr indent="0" lvl="0" marL="0" rtl="0" algn="l">
              <a:spcBef>
                <a:spcPts val="800"/>
              </a:spcBef>
              <a:spcAft>
                <a:spcPts val="800"/>
              </a:spcAft>
              <a:buNone/>
            </a:pPr>
            <a:r>
              <a:rPr lang="en" sz="2400">
                <a:solidFill>
                  <a:schemeClr val="lt1"/>
                </a:solidFill>
                <a:latin typeface="Proxima Nova"/>
                <a:ea typeface="Proxima Nova"/>
                <a:cs typeface="Proxima Nova"/>
                <a:sym typeface="Proxima Nova"/>
              </a:rPr>
              <a:t>Extensive public engagement over the course of several years:</a:t>
            </a:r>
            <a:endParaRPr sz="2400">
              <a:solidFill>
                <a:schemeClr val="lt1"/>
              </a:solidFill>
              <a:latin typeface="Proxima Nova"/>
              <a:ea typeface="Proxima Nova"/>
              <a:cs typeface="Proxima Nova"/>
              <a:sym typeface="Proxima Nova"/>
            </a:endParaRPr>
          </a:p>
        </p:txBody>
      </p:sp>
      <p:sp>
        <p:nvSpPr>
          <p:cNvPr id="512" name="Google Shape;512;p75"/>
          <p:cNvSpPr/>
          <p:nvPr/>
        </p:nvSpPr>
        <p:spPr>
          <a:xfrm>
            <a:off x="476600" y="1816750"/>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513" name="Google Shape;513;p75"/>
          <p:cNvSpPr txBox="1"/>
          <p:nvPr/>
        </p:nvSpPr>
        <p:spPr>
          <a:xfrm>
            <a:off x="476600" y="1835075"/>
            <a:ext cx="1693200" cy="13152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2288">
                <a:solidFill>
                  <a:srgbClr val="7ED957"/>
                </a:solidFill>
                <a:latin typeface="Proxima Nova"/>
                <a:ea typeface="Proxima Nova"/>
                <a:cs typeface="Proxima Nova"/>
                <a:sym typeface="Proxima Nova"/>
              </a:rPr>
              <a:t>Interviews</a:t>
            </a:r>
            <a:endParaRPr sz="1068"/>
          </a:p>
          <a:p>
            <a:pPr indent="0" lvl="0" marL="0" marR="0" rtl="0" algn="ctr">
              <a:lnSpc>
                <a:spcPct val="100000"/>
              </a:lnSpc>
              <a:spcBef>
                <a:spcPts val="458"/>
              </a:spcBef>
              <a:spcAft>
                <a:spcPts val="0"/>
              </a:spcAft>
              <a:buNone/>
            </a:pPr>
            <a:r>
              <a:rPr lang="en">
                <a:solidFill>
                  <a:srgbClr val="FFFFFF"/>
                </a:solidFill>
                <a:latin typeface="Proxima Nova"/>
                <a:ea typeface="Proxima Nova"/>
                <a:cs typeface="Proxima Nova"/>
                <a:sym typeface="Proxima Nova"/>
              </a:rPr>
              <a:t>Indigenous</a:t>
            </a:r>
            <a:r>
              <a:rPr lang="en">
                <a:solidFill>
                  <a:srgbClr val="FFFFFF"/>
                </a:solidFill>
                <a:latin typeface="Proxima Nova"/>
                <a:ea typeface="Proxima Nova"/>
                <a:cs typeface="Proxima Nova"/>
                <a:sym typeface="Proxima Nova"/>
              </a:rPr>
              <a:t> community members &amp; advocates</a:t>
            </a:r>
            <a:endParaRPr/>
          </a:p>
        </p:txBody>
      </p:sp>
      <p:sp>
        <p:nvSpPr>
          <p:cNvPr id="514" name="Google Shape;514;p75"/>
          <p:cNvSpPr/>
          <p:nvPr/>
        </p:nvSpPr>
        <p:spPr>
          <a:xfrm>
            <a:off x="3725400" y="1816750"/>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515" name="Google Shape;515;p75"/>
          <p:cNvSpPr txBox="1"/>
          <p:nvPr/>
        </p:nvSpPr>
        <p:spPr>
          <a:xfrm>
            <a:off x="3725400" y="1799975"/>
            <a:ext cx="1693200" cy="10509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2288">
                <a:solidFill>
                  <a:srgbClr val="7ED957"/>
                </a:solidFill>
                <a:latin typeface="Proxima Nova"/>
                <a:ea typeface="Proxima Nova"/>
                <a:cs typeface="Proxima Nova"/>
                <a:sym typeface="Proxima Nova"/>
              </a:rPr>
              <a:t>2 </a:t>
            </a:r>
            <a:r>
              <a:rPr b="1" lang="en" sz="2288">
                <a:solidFill>
                  <a:srgbClr val="7ED957"/>
                </a:solidFill>
                <a:latin typeface="Proxima Nova"/>
                <a:ea typeface="Proxima Nova"/>
                <a:cs typeface="Proxima Nova"/>
                <a:sym typeface="Proxima Nova"/>
              </a:rPr>
              <a:t>Public Workshops</a:t>
            </a:r>
            <a:endParaRPr sz="1068"/>
          </a:p>
          <a:p>
            <a:pPr indent="0" lvl="0" marL="0" marR="0" rtl="0" algn="ctr">
              <a:lnSpc>
                <a:spcPct val="100000"/>
              </a:lnSpc>
              <a:spcBef>
                <a:spcPts val="458"/>
              </a:spcBef>
              <a:spcAft>
                <a:spcPts val="0"/>
              </a:spcAft>
              <a:buNone/>
            </a:pPr>
            <a:r>
              <a:rPr lang="en" sz="1596">
                <a:solidFill>
                  <a:srgbClr val="FFFFFF"/>
                </a:solidFill>
                <a:latin typeface="Proxima Nova"/>
                <a:ea typeface="Proxima Nova"/>
                <a:cs typeface="Proxima Nova"/>
                <a:sym typeface="Proxima Nova"/>
              </a:rPr>
              <a:t>2024, 2025</a:t>
            </a:r>
            <a:endParaRPr sz="1748"/>
          </a:p>
        </p:txBody>
      </p:sp>
      <p:sp>
        <p:nvSpPr>
          <p:cNvPr id="516" name="Google Shape;516;p75"/>
          <p:cNvSpPr/>
          <p:nvPr/>
        </p:nvSpPr>
        <p:spPr>
          <a:xfrm>
            <a:off x="6974200" y="1816775"/>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517" name="Google Shape;517;p75"/>
          <p:cNvSpPr txBox="1"/>
          <p:nvPr/>
        </p:nvSpPr>
        <p:spPr>
          <a:xfrm>
            <a:off x="6974200" y="1848575"/>
            <a:ext cx="1693200" cy="10509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2288">
                <a:solidFill>
                  <a:srgbClr val="7ED957"/>
                </a:solidFill>
                <a:latin typeface="Proxima Nova"/>
                <a:ea typeface="Proxima Nova"/>
                <a:cs typeface="Proxima Nova"/>
                <a:sym typeface="Proxima Nova"/>
              </a:rPr>
              <a:t>3 Tribal</a:t>
            </a:r>
            <a:r>
              <a:rPr b="1" lang="en" sz="2288">
                <a:solidFill>
                  <a:srgbClr val="7ED957"/>
                </a:solidFill>
                <a:latin typeface="Proxima Nova"/>
                <a:ea typeface="Proxima Nova"/>
                <a:cs typeface="Proxima Nova"/>
                <a:sym typeface="Proxima Nova"/>
              </a:rPr>
              <a:t> Workshops</a:t>
            </a:r>
            <a:endParaRPr sz="1068"/>
          </a:p>
          <a:p>
            <a:pPr indent="0" lvl="0" marL="0" marR="0" rtl="0" algn="ctr">
              <a:lnSpc>
                <a:spcPct val="100000"/>
              </a:lnSpc>
              <a:spcBef>
                <a:spcPts val="458"/>
              </a:spcBef>
              <a:spcAft>
                <a:spcPts val="0"/>
              </a:spcAft>
              <a:buNone/>
            </a:pPr>
            <a:r>
              <a:rPr lang="en" sz="1596">
                <a:solidFill>
                  <a:srgbClr val="FFFFFF"/>
                </a:solidFill>
                <a:latin typeface="Proxima Nova"/>
                <a:ea typeface="Proxima Nova"/>
                <a:cs typeface="Proxima Nova"/>
                <a:sym typeface="Proxima Nova"/>
              </a:rPr>
              <a:t>2024, 2025</a:t>
            </a:r>
            <a:endParaRPr sz="1748"/>
          </a:p>
        </p:txBody>
      </p:sp>
      <p:sp>
        <p:nvSpPr>
          <p:cNvPr id="518" name="Google Shape;518;p75"/>
          <p:cNvSpPr/>
          <p:nvPr/>
        </p:nvSpPr>
        <p:spPr>
          <a:xfrm>
            <a:off x="1142650" y="3515600"/>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519" name="Google Shape;519;p75"/>
          <p:cNvSpPr/>
          <p:nvPr/>
        </p:nvSpPr>
        <p:spPr>
          <a:xfrm>
            <a:off x="3725400" y="3515625"/>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520" name="Google Shape;520;p75"/>
          <p:cNvSpPr txBox="1"/>
          <p:nvPr/>
        </p:nvSpPr>
        <p:spPr>
          <a:xfrm>
            <a:off x="3725400" y="3498850"/>
            <a:ext cx="1693200" cy="12963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2288">
                <a:solidFill>
                  <a:srgbClr val="7ED957"/>
                </a:solidFill>
                <a:latin typeface="Proxima Nova"/>
                <a:ea typeface="Proxima Nova"/>
                <a:cs typeface="Proxima Nova"/>
                <a:sym typeface="Proxima Nova"/>
              </a:rPr>
              <a:t>Advisory Committee</a:t>
            </a:r>
            <a:endParaRPr sz="1068"/>
          </a:p>
          <a:p>
            <a:pPr indent="0" lvl="0" marL="0" marR="0" rtl="0" algn="ctr">
              <a:lnSpc>
                <a:spcPct val="100000"/>
              </a:lnSpc>
              <a:spcBef>
                <a:spcPts val="458"/>
              </a:spcBef>
              <a:spcAft>
                <a:spcPts val="0"/>
              </a:spcAft>
              <a:buNone/>
            </a:pPr>
            <a:r>
              <a:rPr lang="en" sz="1596">
                <a:solidFill>
                  <a:srgbClr val="FFFFFF"/>
                </a:solidFill>
                <a:latin typeface="Proxima Nova"/>
                <a:ea typeface="Proxima Nova"/>
                <a:cs typeface="Proxima Nova"/>
                <a:sym typeface="Proxima Nova"/>
              </a:rPr>
              <a:t>Periodic check-in &amp; review</a:t>
            </a:r>
            <a:endParaRPr sz="1748"/>
          </a:p>
        </p:txBody>
      </p:sp>
      <p:sp>
        <p:nvSpPr>
          <p:cNvPr id="521" name="Google Shape;521;p75"/>
          <p:cNvSpPr/>
          <p:nvPr/>
        </p:nvSpPr>
        <p:spPr>
          <a:xfrm>
            <a:off x="6308150" y="3515650"/>
            <a:ext cx="1693200" cy="1328700"/>
          </a:xfrm>
          <a:prstGeom prst="rect">
            <a:avLst/>
          </a:prstGeom>
          <a:solidFill>
            <a:srgbClr val="2F444B"/>
          </a:solidFill>
          <a:ln>
            <a:noFill/>
          </a:ln>
        </p:spPr>
        <p:txBody>
          <a:bodyPr anchorCtr="0" anchor="ctr" bIns="34850" lIns="69725" spcFirstLastPara="1" rIns="69725" wrap="square" tIns="34850">
            <a:noAutofit/>
          </a:bodyPr>
          <a:lstStyle/>
          <a:p>
            <a:pPr indent="0" lvl="0" marL="0" marR="0" rtl="0" algn="ctr">
              <a:lnSpc>
                <a:spcPct val="100000"/>
              </a:lnSpc>
              <a:spcBef>
                <a:spcPts val="0"/>
              </a:spcBef>
              <a:spcAft>
                <a:spcPts val="0"/>
              </a:spcAft>
              <a:buNone/>
            </a:pPr>
            <a:r>
              <a:t/>
            </a:r>
            <a:endParaRPr b="0" i="0" sz="1068" u="none" cap="none" strike="noStrike">
              <a:solidFill>
                <a:srgbClr val="000000"/>
              </a:solidFill>
              <a:latin typeface="Arial"/>
              <a:ea typeface="Arial"/>
              <a:cs typeface="Arial"/>
              <a:sym typeface="Arial"/>
            </a:endParaRPr>
          </a:p>
        </p:txBody>
      </p:sp>
      <p:sp>
        <p:nvSpPr>
          <p:cNvPr id="522" name="Google Shape;522;p75"/>
          <p:cNvSpPr txBox="1"/>
          <p:nvPr/>
        </p:nvSpPr>
        <p:spPr>
          <a:xfrm>
            <a:off x="6308150" y="3818050"/>
            <a:ext cx="1693200" cy="6579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2000">
                <a:solidFill>
                  <a:srgbClr val="7ED957"/>
                </a:solidFill>
                <a:latin typeface="Proxima Nova"/>
                <a:ea typeface="Proxima Nova"/>
                <a:cs typeface="Proxima Nova"/>
                <a:sym typeface="Proxima Nova"/>
              </a:rPr>
              <a:t>Literature Review</a:t>
            </a:r>
            <a:endParaRPr sz="2000"/>
          </a:p>
        </p:txBody>
      </p:sp>
      <p:sp>
        <p:nvSpPr>
          <p:cNvPr id="523" name="Google Shape;523;p75"/>
          <p:cNvSpPr txBox="1"/>
          <p:nvPr/>
        </p:nvSpPr>
        <p:spPr>
          <a:xfrm>
            <a:off x="1142650" y="3574000"/>
            <a:ext cx="1693200" cy="1212000"/>
          </a:xfrm>
          <a:prstGeom prst="rect">
            <a:avLst/>
          </a:prstGeom>
          <a:noFill/>
          <a:ln>
            <a:noFill/>
          </a:ln>
        </p:spPr>
        <p:txBody>
          <a:bodyPr anchorCtr="0" anchor="t" bIns="20925" lIns="34850" spcFirstLastPara="1" rIns="34850" wrap="square" tIns="20925">
            <a:spAutoFit/>
          </a:bodyPr>
          <a:lstStyle/>
          <a:p>
            <a:pPr indent="0" lvl="0" marL="0" marR="0" rtl="0" algn="ctr">
              <a:lnSpc>
                <a:spcPct val="100000"/>
              </a:lnSpc>
              <a:spcBef>
                <a:spcPts val="0"/>
              </a:spcBef>
              <a:spcAft>
                <a:spcPts val="0"/>
              </a:spcAft>
              <a:buNone/>
            </a:pPr>
            <a:r>
              <a:rPr b="1" lang="en" sz="1900">
                <a:solidFill>
                  <a:srgbClr val="7ED957"/>
                </a:solidFill>
                <a:latin typeface="Proxima Nova"/>
                <a:ea typeface="Proxima Nova"/>
                <a:cs typeface="Proxima Nova"/>
                <a:sym typeface="Proxima Nova"/>
              </a:rPr>
              <a:t>Follow-up Expert &amp; Practitioner Consultations</a:t>
            </a:r>
            <a:endParaRPr sz="19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527" name="Shape 527"/>
        <p:cNvGrpSpPr/>
        <p:nvPr/>
      </p:nvGrpSpPr>
      <p:grpSpPr>
        <a:xfrm>
          <a:off x="0" y="0"/>
          <a:ext cx="0" cy="0"/>
          <a:chOff x="0" y="0"/>
          <a:chExt cx="0" cy="0"/>
        </a:xfrm>
      </p:grpSpPr>
      <p:pic>
        <p:nvPicPr>
          <p:cNvPr id="528" name="Google Shape;528;p76"/>
          <p:cNvPicPr preferRelativeResize="0"/>
          <p:nvPr/>
        </p:nvPicPr>
        <p:blipFill rotWithShape="1">
          <a:blip r:embed="rId3">
            <a:alphaModFix/>
          </a:blip>
          <a:srcRect b="0" l="3091" r="0" t="0"/>
          <a:stretch/>
        </p:blipFill>
        <p:spPr>
          <a:xfrm>
            <a:off x="4142250" y="0"/>
            <a:ext cx="5001750" cy="5143500"/>
          </a:xfrm>
          <a:prstGeom prst="rect">
            <a:avLst/>
          </a:prstGeom>
          <a:noFill/>
          <a:ln>
            <a:noFill/>
          </a:ln>
        </p:spPr>
      </p:pic>
      <p:sp>
        <p:nvSpPr>
          <p:cNvPr id="529" name="Google Shape;529;p76"/>
          <p:cNvSpPr/>
          <p:nvPr/>
        </p:nvSpPr>
        <p:spPr>
          <a:xfrm>
            <a:off x="274350" y="1108200"/>
            <a:ext cx="3628500" cy="3940200"/>
          </a:xfrm>
          <a:prstGeom prst="rect">
            <a:avLst/>
          </a:prstGeom>
          <a:solidFill>
            <a:srgbClr val="2F444B"/>
          </a:solidFill>
          <a:ln>
            <a:noFill/>
          </a:ln>
        </p:spPr>
        <p:txBody>
          <a:bodyPr anchorCtr="0" anchor="ctr" bIns="104350" lIns="208775" spcFirstLastPara="1" rIns="208775" wrap="square" tIns="104350">
            <a:noAutofit/>
          </a:bodyPr>
          <a:lstStyle/>
          <a:p>
            <a:pPr indent="0" lvl="0" marL="0" marR="0" rtl="0" algn="ctr">
              <a:lnSpc>
                <a:spcPct val="100000"/>
              </a:lnSpc>
              <a:spcBef>
                <a:spcPts val="0"/>
              </a:spcBef>
              <a:spcAft>
                <a:spcPts val="0"/>
              </a:spcAft>
              <a:buNone/>
            </a:pPr>
            <a:r>
              <a:t/>
            </a:r>
            <a:endParaRPr b="0" i="0" sz="3197" u="none" cap="none" strike="noStrike">
              <a:solidFill>
                <a:srgbClr val="000000"/>
              </a:solidFill>
              <a:latin typeface="Arial"/>
              <a:ea typeface="Arial"/>
              <a:cs typeface="Arial"/>
              <a:sym typeface="Arial"/>
            </a:endParaRPr>
          </a:p>
        </p:txBody>
      </p:sp>
      <p:sp>
        <p:nvSpPr>
          <p:cNvPr id="530" name="Google Shape;530;p76"/>
          <p:cNvSpPr txBox="1"/>
          <p:nvPr>
            <p:ph type="ctrTitle"/>
          </p:nvPr>
        </p:nvSpPr>
        <p:spPr>
          <a:xfrm>
            <a:off x="274325" y="63500"/>
            <a:ext cx="3748800" cy="9603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34138"/>
              <a:buNone/>
            </a:pPr>
            <a:r>
              <a:rPr b="1" lang="en" sz="3222">
                <a:solidFill>
                  <a:srgbClr val="7ED957"/>
                </a:solidFill>
                <a:latin typeface="Proxima Nova"/>
                <a:ea typeface="Proxima Nova"/>
                <a:cs typeface="Proxima Nova"/>
                <a:sym typeface="Proxima Nova"/>
              </a:rPr>
              <a:t>Interconnected &amp; Reciprocal</a:t>
            </a:r>
            <a:endParaRPr b="1" sz="3222">
              <a:solidFill>
                <a:srgbClr val="7ED957"/>
              </a:solidFill>
              <a:latin typeface="Proxima Nova"/>
              <a:ea typeface="Proxima Nova"/>
              <a:cs typeface="Proxima Nova"/>
              <a:sym typeface="Proxima Nova"/>
            </a:endParaRPr>
          </a:p>
          <a:p>
            <a:pPr indent="0" lvl="0" marL="0" rtl="0" algn="l">
              <a:spcBef>
                <a:spcPts val="800"/>
              </a:spcBef>
              <a:spcAft>
                <a:spcPts val="0"/>
              </a:spcAft>
              <a:buNone/>
            </a:pPr>
            <a:r>
              <a:rPr lang="en" sz="2000">
                <a:solidFill>
                  <a:schemeClr val="lt1"/>
                </a:solidFill>
                <a:latin typeface="Proxima Nova"/>
                <a:ea typeface="Proxima Nova"/>
                <a:cs typeface="Proxima Nova"/>
                <a:sym typeface="Proxima Nova"/>
              </a:rPr>
              <a:t>2 main pillars:</a:t>
            </a:r>
            <a:endParaRPr sz="2000">
              <a:solidFill>
                <a:schemeClr val="lt1"/>
              </a:solidFill>
              <a:latin typeface="Proxima Nova"/>
              <a:ea typeface="Proxima Nova"/>
              <a:cs typeface="Proxima Nova"/>
              <a:sym typeface="Proxima Nova"/>
            </a:endParaRPr>
          </a:p>
          <a:p>
            <a:pPr indent="0" lvl="0" marL="0" rtl="0" algn="l">
              <a:spcBef>
                <a:spcPts val="800"/>
              </a:spcBef>
              <a:spcAft>
                <a:spcPts val="0"/>
              </a:spcAft>
              <a:buNone/>
            </a:pPr>
            <a:r>
              <a:rPr b="1" lang="en" sz="2000">
                <a:solidFill>
                  <a:schemeClr val="lt1"/>
                </a:solidFill>
                <a:latin typeface="Proxima Nova"/>
                <a:ea typeface="Proxima Nova"/>
                <a:cs typeface="Proxima Nova"/>
                <a:sym typeface="Proxima Nova"/>
              </a:rPr>
              <a:t>Intergenerational stewardship</a:t>
            </a:r>
            <a:endParaRPr b="1" sz="2000">
              <a:solidFill>
                <a:schemeClr val="lt1"/>
              </a:solidFill>
              <a:latin typeface="Proxima Nova"/>
              <a:ea typeface="Proxima Nova"/>
              <a:cs typeface="Proxima Nova"/>
              <a:sym typeface="Proxima Nova"/>
            </a:endParaRPr>
          </a:p>
          <a:p>
            <a:pPr indent="0" lvl="0" marL="0" rtl="0" algn="l">
              <a:spcBef>
                <a:spcPts val="800"/>
              </a:spcBef>
              <a:spcAft>
                <a:spcPts val="0"/>
              </a:spcAft>
              <a:buNone/>
            </a:pPr>
            <a:r>
              <a:rPr b="1" lang="en" sz="2000">
                <a:solidFill>
                  <a:schemeClr val="lt1"/>
                </a:solidFill>
                <a:latin typeface="Proxima Nova"/>
                <a:ea typeface="Proxima Nova"/>
                <a:cs typeface="Proxima Nova"/>
                <a:sym typeface="Proxima Nova"/>
              </a:rPr>
              <a:t>Intergenerational prosperity and well-being</a:t>
            </a:r>
            <a:endParaRPr b="1" sz="2000">
              <a:solidFill>
                <a:schemeClr val="lt1"/>
              </a:solidFill>
              <a:latin typeface="Proxima Nova"/>
              <a:ea typeface="Proxima Nova"/>
              <a:cs typeface="Proxima Nova"/>
              <a:sym typeface="Proxima Nova"/>
            </a:endParaRPr>
          </a:p>
          <a:p>
            <a:pPr indent="0" lvl="0" marL="0" rtl="0" algn="l">
              <a:spcBef>
                <a:spcPts val="800"/>
              </a:spcBef>
              <a:spcAft>
                <a:spcPts val="0"/>
              </a:spcAft>
              <a:buNone/>
            </a:pPr>
            <a:r>
              <a:t/>
            </a:r>
            <a:endParaRPr sz="2000">
              <a:solidFill>
                <a:schemeClr val="lt1"/>
              </a:solidFill>
              <a:latin typeface="Proxima Nova"/>
              <a:ea typeface="Proxima Nova"/>
              <a:cs typeface="Proxima Nova"/>
              <a:sym typeface="Proxima Nova"/>
            </a:endParaRPr>
          </a:p>
          <a:p>
            <a:pPr indent="-342900" lvl="0" marL="457200" rtl="0" algn="l">
              <a:spcBef>
                <a:spcPts val="800"/>
              </a:spcBef>
              <a:spcAft>
                <a:spcPts val="0"/>
              </a:spcAft>
              <a:buClr>
                <a:schemeClr val="lt1"/>
              </a:buClr>
              <a:buSzPct val="100000"/>
              <a:buFont typeface="Proxima Nova"/>
              <a:buChar char="●"/>
            </a:pPr>
            <a:r>
              <a:rPr lang="en" sz="2000">
                <a:solidFill>
                  <a:schemeClr val="lt1"/>
                </a:solidFill>
                <a:latin typeface="Proxima Nova"/>
                <a:ea typeface="Proxima Nova"/>
                <a:cs typeface="Proxima Nova"/>
                <a:sym typeface="Proxima Nova"/>
              </a:rPr>
              <a:t>Access</a:t>
            </a:r>
            <a:endParaRPr sz="20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ct val="100000"/>
              <a:buFont typeface="Proxima Nova"/>
              <a:buChar char="●"/>
            </a:pPr>
            <a:r>
              <a:rPr lang="en" sz="2000">
                <a:solidFill>
                  <a:schemeClr val="lt1"/>
                </a:solidFill>
                <a:latin typeface="Proxima Nova"/>
                <a:ea typeface="Proxima Nova"/>
                <a:cs typeface="Proxima Nova"/>
                <a:sym typeface="Proxima Nova"/>
              </a:rPr>
              <a:t>Recognition</a:t>
            </a:r>
            <a:endParaRPr sz="20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ct val="100000"/>
              <a:buFont typeface="Proxima Nova"/>
              <a:buChar char="●"/>
            </a:pPr>
            <a:r>
              <a:rPr lang="en" sz="2000">
                <a:solidFill>
                  <a:schemeClr val="lt1"/>
                </a:solidFill>
                <a:latin typeface="Proxima Nova"/>
                <a:ea typeface="Proxima Nova"/>
                <a:cs typeface="Proxima Nova"/>
                <a:sym typeface="Proxima Nova"/>
              </a:rPr>
              <a:t>Inclusion</a:t>
            </a:r>
            <a:endParaRPr sz="20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ct val="100000"/>
              <a:buFont typeface="Proxima Nova"/>
              <a:buChar char="●"/>
            </a:pPr>
            <a:r>
              <a:rPr lang="en" sz="2000">
                <a:solidFill>
                  <a:schemeClr val="lt1"/>
                </a:solidFill>
                <a:latin typeface="Proxima Nova"/>
                <a:ea typeface="Proxima Nova"/>
                <a:cs typeface="Proxima Nova"/>
                <a:sym typeface="Proxima Nova"/>
              </a:rPr>
              <a:t>Preservation and restoration</a:t>
            </a:r>
            <a:endParaRPr sz="20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ct val="100000"/>
              <a:buFont typeface="Proxima Nova"/>
              <a:buChar char="●"/>
            </a:pPr>
            <a:r>
              <a:rPr lang="en" sz="2000">
                <a:solidFill>
                  <a:schemeClr val="lt1"/>
                </a:solidFill>
                <a:latin typeface="Proxima Nova"/>
                <a:ea typeface="Proxima Nova"/>
                <a:cs typeface="Proxima Nova"/>
                <a:sym typeface="Proxima Nova"/>
              </a:rPr>
              <a:t>Practice and application</a:t>
            </a:r>
            <a:endParaRPr sz="2000">
              <a:solidFill>
                <a:schemeClr val="lt1"/>
              </a:solidFill>
              <a:latin typeface="Proxima Nova"/>
              <a:ea typeface="Proxima Nova"/>
              <a:cs typeface="Proxima Nova"/>
              <a:sym typeface="Proxima Nova"/>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534" name="Shape 534"/>
        <p:cNvGrpSpPr/>
        <p:nvPr/>
      </p:nvGrpSpPr>
      <p:grpSpPr>
        <a:xfrm>
          <a:off x="0" y="0"/>
          <a:ext cx="0" cy="0"/>
          <a:chOff x="0" y="0"/>
          <a:chExt cx="0" cy="0"/>
        </a:xfrm>
      </p:grpSpPr>
      <p:sp>
        <p:nvSpPr>
          <p:cNvPr id="535" name="Google Shape;535;p77"/>
          <p:cNvSpPr txBox="1"/>
          <p:nvPr>
            <p:ph type="ctrTitle"/>
          </p:nvPr>
        </p:nvSpPr>
        <p:spPr>
          <a:xfrm>
            <a:off x="226600" y="84200"/>
            <a:ext cx="8666700" cy="8316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39600"/>
              <a:buNone/>
            </a:pPr>
            <a:r>
              <a:rPr b="1" lang="en" sz="2778">
                <a:solidFill>
                  <a:srgbClr val="7ED957"/>
                </a:solidFill>
                <a:latin typeface="Proxima Nova"/>
                <a:ea typeface="Proxima Nova"/>
                <a:cs typeface="Proxima Nova"/>
                <a:sym typeface="Proxima Nova"/>
              </a:rPr>
              <a:t>Ecocultural Restoration &amp; Indigenous Sovereignty Metrics</a:t>
            </a:r>
            <a:endParaRPr b="1" sz="2778">
              <a:solidFill>
                <a:srgbClr val="7ED957"/>
              </a:solidFill>
              <a:latin typeface="Proxima Nova"/>
              <a:ea typeface="Proxima Nova"/>
              <a:cs typeface="Proxima Nova"/>
              <a:sym typeface="Proxima Nova"/>
            </a:endParaRPr>
          </a:p>
          <a:p>
            <a:pPr indent="0" lvl="0" marL="0" rtl="0" algn="l">
              <a:spcBef>
                <a:spcPts val="800"/>
              </a:spcBef>
              <a:spcAft>
                <a:spcPts val="0"/>
              </a:spcAft>
              <a:buSzPct val="36940"/>
              <a:buNone/>
            </a:pPr>
            <a:r>
              <a:t/>
            </a:r>
            <a:endParaRPr sz="2978">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ct val="100000"/>
              <a:buNone/>
            </a:pPr>
            <a:r>
              <a:t/>
            </a:r>
            <a:endParaRPr>
              <a:solidFill>
                <a:srgbClr val="7ED957"/>
              </a:solidFill>
              <a:latin typeface="Hammersmith One"/>
              <a:ea typeface="Hammersmith One"/>
              <a:cs typeface="Hammersmith One"/>
              <a:sym typeface="Hammersmith One"/>
            </a:endParaRPr>
          </a:p>
        </p:txBody>
      </p:sp>
      <p:graphicFrame>
        <p:nvGraphicFramePr>
          <p:cNvPr id="536" name="Google Shape;536;p77"/>
          <p:cNvGraphicFramePr/>
          <p:nvPr/>
        </p:nvGraphicFramePr>
        <p:xfrm>
          <a:off x="330840" y="698329"/>
          <a:ext cx="3000000" cy="3000000"/>
        </p:xfrm>
        <a:graphic>
          <a:graphicData uri="http://schemas.openxmlformats.org/drawingml/2006/table">
            <a:tbl>
              <a:tblPr>
                <a:noFill/>
                <a:tableStyleId>{85CED069-D96A-4F69-AB26-FEDBC44AE582}</a:tableStyleId>
              </a:tblPr>
              <a:tblGrid>
                <a:gridCol w="2278975"/>
                <a:gridCol w="3689350"/>
                <a:gridCol w="2489875"/>
              </a:tblGrid>
              <a:tr h="524300">
                <a:tc>
                  <a:txBody>
                    <a:bodyPr/>
                    <a:lstStyle/>
                    <a:p>
                      <a:pPr indent="0" lvl="0" marL="0" rtl="0" algn="l">
                        <a:spcBef>
                          <a:spcPts val="0"/>
                        </a:spcBef>
                        <a:spcAft>
                          <a:spcPts val="0"/>
                        </a:spcAft>
                        <a:buClr>
                          <a:schemeClr val="dk1"/>
                        </a:buClr>
                        <a:buSzPts val="2800"/>
                        <a:buFont typeface="Arial"/>
                        <a:buNone/>
                      </a:pPr>
                      <a:r>
                        <a:rPr b="1" lang="en" sz="2000">
                          <a:solidFill>
                            <a:schemeClr val="lt1"/>
                          </a:solidFill>
                          <a:latin typeface="Proxima Nova"/>
                          <a:ea typeface="Proxima Nova"/>
                          <a:cs typeface="Proxima Nova"/>
                          <a:sym typeface="Proxima Nova"/>
                        </a:rPr>
                        <a:t>Metric</a:t>
                      </a:r>
                      <a:endParaRPr b="1" sz="600"/>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2000">
                          <a:solidFill>
                            <a:schemeClr val="lt1"/>
                          </a:solidFill>
                          <a:latin typeface="Proxima Nova"/>
                          <a:ea typeface="Proxima Nova"/>
                          <a:cs typeface="Proxima Nova"/>
                          <a:sym typeface="Proxima Nova"/>
                        </a:rPr>
                        <a:t>Definition</a:t>
                      </a:r>
                      <a:endParaRPr b="1" sz="2000">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2000">
                          <a:solidFill>
                            <a:schemeClr val="lt1"/>
                          </a:solidFill>
                          <a:latin typeface="Proxima Nova"/>
                          <a:ea typeface="Proxima Nova"/>
                          <a:cs typeface="Proxima Nova"/>
                          <a:sym typeface="Proxima Nova"/>
                        </a:rPr>
                        <a:t>Measurement</a:t>
                      </a:r>
                      <a:endParaRPr b="1" sz="2000">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r>
              <a:tr h="1609225">
                <a:tc>
                  <a:txBody>
                    <a:bodyPr/>
                    <a:lstStyle/>
                    <a:p>
                      <a:pPr indent="0" lvl="0" marL="0" rtl="0" algn="l">
                        <a:lnSpc>
                          <a:spcPct val="115000"/>
                        </a:lnSpc>
                        <a:spcBef>
                          <a:spcPts val="0"/>
                        </a:spcBef>
                        <a:spcAft>
                          <a:spcPts val="0"/>
                        </a:spcAft>
                        <a:buNone/>
                      </a:pPr>
                      <a:r>
                        <a:rPr b="1" lang="en" sz="1500">
                          <a:solidFill>
                            <a:schemeClr val="lt1"/>
                          </a:solidFill>
                          <a:latin typeface="Proxima Nova"/>
                          <a:ea typeface="Proxima Nova"/>
                          <a:cs typeface="Proxima Nova"/>
                          <a:sym typeface="Proxima Nova"/>
                        </a:rPr>
                        <a:t>Restoration of Native Ecosystems and Ecosystem Functions</a:t>
                      </a:r>
                      <a:endParaRPr b="1"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b="1" sz="1500">
                        <a:solidFill>
                          <a:schemeClr val="lt1"/>
                        </a:solidFill>
                        <a:latin typeface="Proxima Nova"/>
                        <a:ea typeface="Proxima Nova"/>
                        <a:cs typeface="Proxima Nova"/>
                        <a:sym typeface="Proxima Nova"/>
                      </a:endParaRPr>
                    </a:p>
                  </a:txBody>
                  <a:tcPr marT="91425" marB="91425" marR="91425" marL="91425" anchor="ctr">
                    <a:lnT cap="flat" cmpd="sng" w="38100">
                      <a:solidFill>
                        <a:srgbClr val="9E9E9E"/>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500">
                          <a:solidFill>
                            <a:schemeClr val="lt1"/>
                          </a:solidFill>
                          <a:latin typeface="Proxima Nova"/>
                          <a:ea typeface="Proxima Nova"/>
                          <a:cs typeface="Proxima Nova"/>
                          <a:sym typeface="Proxima Nova"/>
                        </a:rPr>
                        <a:t>Recovering, protecting, and enhancing the web of species and ecosystems that are native to the Delta and culturally significant.</a:t>
                      </a:r>
                      <a:endParaRPr b="1" sz="1500">
                        <a:solidFill>
                          <a:schemeClr val="lt1"/>
                        </a:solidFill>
                        <a:latin typeface="Proxima Nova"/>
                        <a:ea typeface="Proxima Nova"/>
                        <a:cs typeface="Proxima Nova"/>
                        <a:sym typeface="Proxima Nova"/>
                      </a:endParaRPr>
                    </a:p>
                  </a:txBody>
                  <a:tcPr marT="91425" marB="91425" marR="91425" marL="91425" anchor="ctr">
                    <a:lnT cap="flat" cmpd="sng" w="38100">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b="1" lang="en" sz="1500">
                          <a:solidFill>
                            <a:schemeClr val="lt1"/>
                          </a:solidFill>
                          <a:latin typeface="Proxima Nova"/>
                          <a:ea typeface="Proxima Nova"/>
                          <a:cs typeface="Proxima Nova"/>
                          <a:sym typeface="Proxima Nova"/>
                        </a:rPr>
                        <a:t>Change in the number of restored acres in each scenario </a:t>
                      </a:r>
                      <a:endParaRPr b="1" sz="1500">
                        <a:solidFill>
                          <a:schemeClr val="lt1"/>
                        </a:solidFill>
                        <a:latin typeface="Proxima Nova"/>
                        <a:ea typeface="Proxima Nova"/>
                        <a:cs typeface="Proxima Nova"/>
                        <a:sym typeface="Proxima Nova"/>
                      </a:endParaRPr>
                    </a:p>
                  </a:txBody>
                  <a:tcPr marT="91425" marB="91425" marR="91425" marL="91425" anchor="ctr">
                    <a:lnT cap="flat" cmpd="sng" w="38100">
                      <a:solidFill>
                        <a:srgbClr val="9E9E9E"/>
                      </a:solidFill>
                      <a:prstDash val="solid"/>
                      <a:round/>
                      <a:headEnd len="sm" w="sm" type="none"/>
                      <a:tailEnd len="sm" w="sm" type="none"/>
                    </a:lnT>
                  </a:tcPr>
                </a:tc>
              </a:tr>
              <a:tr h="1929450">
                <a:tc>
                  <a:txBody>
                    <a:bodyPr/>
                    <a:lstStyle/>
                    <a:p>
                      <a:pPr indent="0" lvl="0" marL="0" rtl="0" algn="l">
                        <a:lnSpc>
                          <a:spcPct val="115000"/>
                        </a:lnSpc>
                        <a:spcBef>
                          <a:spcPts val="0"/>
                        </a:spcBef>
                        <a:spcAft>
                          <a:spcPts val="0"/>
                        </a:spcAft>
                        <a:buNone/>
                      </a:pPr>
                      <a:r>
                        <a:rPr b="1" lang="en" sz="1500">
                          <a:solidFill>
                            <a:schemeClr val="lt1"/>
                          </a:solidFill>
                          <a:latin typeface="Proxima Nova"/>
                          <a:ea typeface="Proxima Nova"/>
                          <a:cs typeface="Proxima Nova"/>
                          <a:sym typeface="Proxima Nova"/>
                        </a:rPr>
                        <a:t>Increased access to Landscapes for Stewardship, Subsistence, Ceremony, and Cultural Practices</a:t>
                      </a:r>
                      <a:endParaRPr b="1" sz="1500">
                        <a:solidFill>
                          <a:schemeClr val="lt1"/>
                        </a:solidFill>
                        <a:latin typeface="Proxima Nova"/>
                        <a:ea typeface="Proxima Nova"/>
                        <a:cs typeface="Proxima Nova"/>
                        <a:sym typeface="Proxima Nova"/>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b="1" lang="en" sz="1500">
                          <a:solidFill>
                            <a:schemeClr val="lt1"/>
                          </a:solidFill>
                          <a:latin typeface="Proxima Nova"/>
                          <a:ea typeface="Proxima Nova"/>
                          <a:cs typeface="Proxima Nova"/>
                          <a:sym typeface="Proxima Nova"/>
                        </a:rPr>
                        <a:t>Includes potential efforts to return land to Tribes or co-manage land with Tribes and Tribal governments.</a:t>
                      </a:r>
                      <a:endParaRPr b="1" sz="1500">
                        <a:solidFill>
                          <a:schemeClr val="lt1"/>
                        </a:solidFill>
                        <a:latin typeface="Proxima Nova"/>
                        <a:ea typeface="Proxima Nova"/>
                        <a:cs typeface="Proxima Nova"/>
                        <a:sym typeface="Proxima Nova"/>
                      </a:endParaRPr>
                    </a:p>
                  </a:txBody>
                  <a:tcPr marT="91425" marB="91425" marR="91425" marL="91425" anchor="ctr">
                    <a:lnL cap="flat" cmpd="sng" w="9525">
                      <a:solidFill>
                        <a:schemeClr val="lt1"/>
                      </a:solidFill>
                      <a:prstDash val="solid"/>
                      <a:round/>
                      <a:headEnd len="sm" w="sm" type="none"/>
                      <a:tailEnd len="sm" w="sm" type="none"/>
                    </a:lnL>
                  </a:tcPr>
                </a:tc>
                <a:tc>
                  <a:txBody>
                    <a:bodyPr/>
                    <a:lstStyle/>
                    <a:p>
                      <a:pPr indent="0" lvl="0" marL="0" rtl="0" algn="l">
                        <a:spcBef>
                          <a:spcPts val="0"/>
                        </a:spcBef>
                        <a:spcAft>
                          <a:spcPts val="0"/>
                        </a:spcAft>
                        <a:buNone/>
                      </a:pPr>
                      <a:r>
                        <a:rPr b="1" lang="en" sz="1500">
                          <a:solidFill>
                            <a:schemeClr val="lt1"/>
                          </a:solidFill>
                          <a:latin typeface="Proxima Nova"/>
                          <a:ea typeface="Proxima Nova"/>
                          <a:cs typeface="Proxima Nova"/>
                          <a:sym typeface="Proxima Nova"/>
                        </a:rPr>
                        <a:t>Lists the kind of agreements that can facilitate </a:t>
                      </a:r>
                      <a:endParaRPr b="1"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1500">
                          <a:solidFill>
                            <a:schemeClr val="lt1"/>
                          </a:solidFill>
                          <a:latin typeface="Proxima Nova"/>
                          <a:ea typeface="Proxima Nova"/>
                          <a:cs typeface="Proxima Nova"/>
                          <a:sym typeface="Proxima Nova"/>
                        </a:rPr>
                        <a:t>increased access to land for Tribal </a:t>
                      </a:r>
                      <a:r>
                        <a:rPr b="1" lang="en" sz="1500">
                          <a:solidFill>
                            <a:schemeClr val="lt1"/>
                          </a:solidFill>
                          <a:latin typeface="Proxima Nova"/>
                          <a:ea typeface="Proxima Nova"/>
                          <a:cs typeface="Proxima Nova"/>
                          <a:sym typeface="Proxima Nova"/>
                        </a:rPr>
                        <a:t>communities</a:t>
                      </a:r>
                      <a:endParaRPr b="1" sz="1500">
                        <a:solidFill>
                          <a:schemeClr val="lt1"/>
                        </a:solidFill>
                        <a:latin typeface="Proxima Nova"/>
                        <a:ea typeface="Proxima Nova"/>
                        <a:cs typeface="Proxima Nova"/>
                        <a:sym typeface="Proxima Nova"/>
                      </a:endParaRPr>
                    </a:p>
                  </a:txBody>
                  <a:tcPr marT="91425" marB="91425" marR="91425" marL="91425" anchor="ct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540" name="Shape 540"/>
        <p:cNvGrpSpPr/>
        <p:nvPr/>
      </p:nvGrpSpPr>
      <p:grpSpPr>
        <a:xfrm>
          <a:off x="0" y="0"/>
          <a:ext cx="0" cy="0"/>
          <a:chOff x="0" y="0"/>
          <a:chExt cx="0" cy="0"/>
        </a:xfrm>
      </p:grpSpPr>
      <p:sp>
        <p:nvSpPr>
          <p:cNvPr id="541" name="Google Shape;541;p78"/>
          <p:cNvSpPr txBox="1"/>
          <p:nvPr>
            <p:ph type="ctrTitle"/>
          </p:nvPr>
        </p:nvSpPr>
        <p:spPr>
          <a:xfrm>
            <a:off x="256375" y="96950"/>
            <a:ext cx="8520600" cy="5502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39600"/>
              <a:buNone/>
            </a:pPr>
            <a:r>
              <a:rPr b="1" lang="en" sz="2778">
                <a:solidFill>
                  <a:srgbClr val="7ED957"/>
                </a:solidFill>
                <a:latin typeface="Proxima Nova"/>
                <a:ea typeface="Proxima Nova"/>
                <a:cs typeface="Proxima Nova"/>
                <a:sym typeface="Proxima Nova"/>
              </a:rPr>
              <a:t>Ecocultural Restoration &amp; Indigenous Sovereignty</a:t>
            </a:r>
            <a:r>
              <a:rPr b="1" lang="en" sz="2778">
                <a:solidFill>
                  <a:srgbClr val="7ED957"/>
                </a:solidFill>
                <a:latin typeface="Proxima Nova"/>
                <a:ea typeface="Proxima Nova"/>
                <a:cs typeface="Proxima Nova"/>
                <a:sym typeface="Proxima Nova"/>
              </a:rPr>
              <a:t> Metrics</a:t>
            </a:r>
            <a:endParaRPr b="1" sz="2778">
              <a:solidFill>
                <a:srgbClr val="7ED957"/>
              </a:solidFill>
              <a:latin typeface="Proxima Nova"/>
              <a:ea typeface="Proxima Nova"/>
              <a:cs typeface="Proxima Nova"/>
              <a:sym typeface="Proxima Nova"/>
            </a:endParaRPr>
          </a:p>
          <a:p>
            <a:pPr indent="0" lvl="0" marL="0" rtl="0" algn="l">
              <a:spcBef>
                <a:spcPts val="800"/>
              </a:spcBef>
              <a:spcAft>
                <a:spcPts val="0"/>
              </a:spcAft>
              <a:buSzPct val="36940"/>
              <a:buNone/>
            </a:pPr>
            <a:r>
              <a:t/>
            </a:r>
            <a:endParaRPr sz="2978">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ct val="100000"/>
              <a:buNone/>
            </a:pPr>
            <a:r>
              <a:t/>
            </a:r>
            <a:endParaRPr>
              <a:solidFill>
                <a:srgbClr val="7ED957"/>
              </a:solidFill>
              <a:latin typeface="Hammersmith One"/>
              <a:ea typeface="Hammersmith One"/>
              <a:cs typeface="Hammersmith One"/>
              <a:sym typeface="Hammersmith One"/>
            </a:endParaRPr>
          </a:p>
        </p:txBody>
      </p:sp>
      <p:graphicFrame>
        <p:nvGraphicFramePr>
          <p:cNvPr id="542" name="Google Shape;542;p78"/>
          <p:cNvGraphicFramePr/>
          <p:nvPr/>
        </p:nvGraphicFramePr>
        <p:xfrm>
          <a:off x="342890" y="739529"/>
          <a:ext cx="3000000" cy="3000000"/>
        </p:xfrm>
        <a:graphic>
          <a:graphicData uri="http://schemas.openxmlformats.org/drawingml/2006/table">
            <a:tbl>
              <a:tblPr>
                <a:noFill/>
                <a:tableStyleId>{85CED069-D96A-4F69-AB26-FEDBC44AE582}</a:tableStyleId>
              </a:tblPr>
              <a:tblGrid>
                <a:gridCol w="2190650"/>
                <a:gridCol w="4034975"/>
                <a:gridCol w="2232575"/>
              </a:tblGrid>
              <a:tr h="485325">
                <a:tc>
                  <a:txBody>
                    <a:bodyPr/>
                    <a:lstStyle/>
                    <a:p>
                      <a:pPr indent="0" lvl="0" marL="0" rtl="0" algn="l">
                        <a:spcBef>
                          <a:spcPts val="0"/>
                        </a:spcBef>
                        <a:spcAft>
                          <a:spcPts val="0"/>
                        </a:spcAft>
                        <a:buClr>
                          <a:schemeClr val="dk1"/>
                        </a:buClr>
                        <a:buSzPts val="2800"/>
                        <a:buFont typeface="Arial"/>
                        <a:buNone/>
                      </a:pPr>
                      <a:r>
                        <a:rPr b="1" lang="en" sz="2000">
                          <a:solidFill>
                            <a:schemeClr val="lt1"/>
                          </a:solidFill>
                          <a:latin typeface="Proxima Nova"/>
                          <a:ea typeface="Proxima Nova"/>
                          <a:cs typeface="Proxima Nova"/>
                          <a:sym typeface="Proxima Nova"/>
                        </a:rPr>
                        <a:t>Metric</a:t>
                      </a:r>
                      <a:endParaRPr b="1" sz="600"/>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2000">
                          <a:solidFill>
                            <a:schemeClr val="lt1"/>
                          </a:solidFill>
                          <a:latin typeface="Proxima Nova"/>
                          <a:ea typeface="Proxima Nova"/>
                          <a:cs typeface="Proxima Nova"/>
                          <a:sym typeface="Proxima Nova"/>
                        </a:rPr>
                        <a:t>Definition</a:t>
                      </a:r>
                      <a:endParaRPr b="1" sz="2000">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2000">
                          <a:solidFill>
                            <a:schemeClr val="lt1"/>
                          </a:solidFill>
                          <a:latin typeface="Proxima Nova"/>
                          <a:ea typeface="Proxima Nova"/>
                          <a:cs typeface="Proxima Nova"/>
                          <a:sym typeface="Proxima Nova"/>
                        </a:rPr>
                        <a:t>Measurement</a:t>
                      </a:r>
                      <a:endParaRPr b="1" sz="2000">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r>
              <a:tr h="1615275">
                <a:tc>
                  <a:txBody>
                    <a:bodyPr/>
                    <a:lstStyle/>
                    <a:p>
                      <a:pPr indent="0" lvl="0" marL="0" rtl="0" algn="l">
                        <a:lnSpc>
                          <a:spcPct val="115000"/>
                        </a:lnSpc>
                        <a:spcBef>
                          <a:spcPts val="0"/>
                        </a:spcBef>
                        <a:spcAft>
                          <a:spcPts val="0"/>
                        </a:spcAft>
                        <a:buNone/>
                      </a:pPr>
                      <a:r>
                        <a:rPr b="1" lang="en">
                          <a:solidFill>
                            <a:schemeClr val="lt1"/>
                          </a:solidFill>
                          <a:latin typeface="Proxima Nova"/>
                          <a:ea typeface="Proxima Nova"/>
                          <a:cs typeface="Proxima Nova"/>
                          <a:sym typeface="Proxima Nova"/>
                        </a:rPr>
                        <a:t>Implementation and Application of Indigenous Science &amp; Traditional Ecological Knowledge (TEK)</a:t>
                      </a:r>
                      <a:endParaRPr b="1">
                        <a:solidFill>
                          <a:schemeClr val="lt1"/>
                        </a:solidFill>
                        <a:latin typeface="Proxima Nova"/>
                        <a:ea typeface="Proxima Nova"/>
                        <a:cs typeface="Proxima Nova"/>
                        <a:sym typeface="Proxima Nova"/>
                      </a:endParaRPr>
                    </a:p>
                    <a:p>
                      <a:pPr indent="0" lvl="0" marL="0" rtl="0" algn="l">
                        <a:spcBef>
                          <a:spcPts val="0"/>
                        </a:spcBef>
                        <a:spcAft>
                          <a:spcPts val="0"/>
                        </a:spcAft>
                        <a:buClr>
                          <a:schemeClr val="dk1"/>
                        </a:buClr>
                        <a:buSzPts val="2800"/>
                        <a:buFont typeface="Arial"/>
                        <a:buNone/>
                      </a:pPr>
                      <a:r>
                        <a:t/>
                      </a:r>
                      <a:endParaRPr b="1">
                        <a:solidFill>
                          <a:schemeClr val="lt1"/>
                        </a:solidFill>
                        <a:latin typeface="Proxima Nova"/>
                        <a:ea typeface="Proxima Nova"/>
                        <a:cs typeface="Proxima Nova"/>
                        <a:sym typeface="Proxima Nova"/>
                      </a:endParaRPr>
                    </a:p>
                  </a:txBody>
                  <a:tcPr marT="91425" marB="91425" marR="91425" marL="91425" anchor="ctr">
                    <a:lnT cap="flat" cmpd="sng" w="38100">
                      <a:solidFill>
                        <a:srgbClr val="9E9E9E"/>
                      </a:solidFill>
                      <a:prstDash val="solid"/>
                      <a:round/>
                      <a:headEnd len="sm" w="sm" type="none"/>
                      <a:tailEnd len="sm" w="sm" type="none"/>
                    </a:lnT>
                  </a:tcPr>
                </a:tc>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Incorporating TEK in the form of best practices into Western management, stewardship, and land-use decisions in partnership and/or consultation with Tribal representatives and TEK practitioners. </a:t>
                      </a:r>
                      <a:endParaRPr b="1">
                        <a:solidFill>
                          <a:schemeClr val="lt1"/>
                        </a:solidFill>
                        <a:latin typeface="Proxima Nova"/>
                        <a:ea typeface="Proxima Nova"/>
                        <a:cs typeface="Proxima Nova"/>
                        <a:sym typeface="Proxima Nova"/>
                      </a:endParaRPr>
                    </a:p>
                  </a:txBody>
                  <a:tcPr marT="91425" marB="91425" marR="91425" marL="91425" anchor="ctr">
                    <a:lnT cap="flat" cmpd="sng" w="38100">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Avenues by which TEK applications can be facilitated</a:t>
                      </a:r>
                      <a:endParaRPr b="1">
                        <a:solidFill>
                          <a:schemeClr val="lt1"/>
                        </a:solidFill>
                        <a:latin typeface="Proxima Nova"/>
                        <a:ea typeface="Proxima Nova"/>
                        <a:cs typeface="Proxima Nova"/>
                        <a:sym typeface="Proxima Nova"/>
                      </a:endParaRPr>
                    </a:p>
                  </a:txBody>
                  <a:tcPr marT="91425" marB="91425" marR="91425" marL="91425" anchor="ctr">
                    <a:lnT cap="flat" cmpd="sng" w="38100">
                      <a:solidFill>
                        <a:srgbClr val="9E9E9E"/>
                      </a:solidFill>
                      <a:prstDash val="solid"/>
                      <a:round/>
                      <a:headEnd len="sm" w="sm" type="none"/>
                      <a:tailEnd len="sm" w="sm" type="none"/>
                    </a:lnT>
                  </a:tcPr>
                </a:tc>
              </a:tr>
              <a:tr h="2177775">
                <a:tc>
                  <a:txBody>
                    <a:bodyPr/>
                    <a:lstStyle/>
                    <a:p>
                      <a:pPr indent="0" lvl="0" marL="0" rtl="0" algn="l">
                        <a:lnSpc>
                          <a:spcPct val="115000"/>
                        </a:lnSpc>
                        <a:spcBef>
                          <a:spcPts val="0"/>
                        </a:spcBef>
                        <a:spcAft>
                          <a:spcPts val="0"/>
                        </a:spcAft>
                        <a:buNone/>
                      </a:pPr>
                      <a:r>
                        <a:rPr b="1" lang="en">
                          <a:solidFill>
                            <a:schemeClr val="lt1"/>
                          </a:solidFill>
                          <a:latin typeface="Proxima Nova"/>
                          <a:ea typeface="Proxima Nova"/>
                          <a:cs typeface="Proxima Nova"/>
                          <a:sym typeface="Proxima Nova"/>
                        </a:rPr>
                        <a:t>Recognition and application of Indigenous sovereignty, Tribal governance, and rights</a:t>
                      </a:r>
                      <a:endParaRPr b="1">
                        <a:solidFill>
                          <a:schemeClr val="lt1"/>
                        </a:solidFill>
                        <a:latin typeface="Proxima Nova"/>
                        <a:ea typeface="Proxima Nova"/>
                        <a:cs typeface="Proxima Nova"/>
                        <a:sym typeface="Proxima Nova"/>
                      </a:endParaRPr>
                    </a:p>
                  </a:txBody>
                  <a:tcPr marT="91425" marB="91425" marR="91425" marL="91425" anchor="ctr"/>
                </a:tc>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Advancing the inherent right of Indigenous peoples to govern themselves, their lands, and resources, and to maintain their cultures and Traditional ways of life.</a:t>
                      </a:r>
                      <a:endParaRPr b="1">
                        <a:solidFill>
                          <a:schemeClr val="lt1"/>
                        </a:solidFill>
                        <a:latin typeface="Proxima Nova"/>
                        <a:ea typeface="Proxima Nova"/>
                        <a:cs typeface="Proxima Nova"/>
                        <a:sym typeface="Proxima Nova"/>
                      </a:endParaRPr>
                    </a:p>
                  </a:txBody>
                  <a:tcPr marT="91425" marB="91425" marR="91425" marL="91425" anchor="ctr"/>
                </a:tc>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lt1"/>
                          </a:solidFill>
                          <a:latin typeface="Proxima Nova"/>
                          <a:ea typeface="Proxima Nova"/>
                          <a:cs typeface="Proxima Nova"/>
                          <a:sym typeface="Proxima Nova"/>
                        </a:rPr>
                        <a:t>Instances and mechanisms of recognition and application of Indigenous sovereignty, Tribal governance, and rights. </a:t>
                      </a:r>
                      <a:endParaRPr b="1">
                        <a:solidFill>
                          <a:schemeClr val="lt1"/>
                        </a:solidFill>
                        <a:latin typeface="Proxima Nova"/>
                        <a:ea typeface="Proxima Nova"/>
                        <a:cs typeface="Proxima Nova"/>
                        <a:sym typeface="Proxima Nova"/>
                      </a:endParaRPr>
                    </a:p>
                  </a:txBody>
                  <a:tcPr marT="91425" marB="91425" marR="91425" marL="91425" anchor="ct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546" name="Shape 546"/>
        <p:cNvGrpSpPr/>
        <p:nvPr/>
      </p:nvGrpSpPr>
      <p:grpSpPr>
        <a:xfrm>
          <a:off x="0" y="0"/>
          <a:ext cx="0" cy="0"/>
          <a:chOff x="0" y="0"/>
          <a:chExt cx="0" cy="0"/>
        </a:xfrm>
      </p:grpSpPr>
      <p:sp>
        <p:nvSpPr>
          <p:cNvPr id="547" name="Google Shape;547;p79"/>
          <p:cNvSpPr txBox="1"/>
          <p:nvPr/>
        </p:nvSpPr>
        <p:spPr>
          <a:xfrm>
            <a:off x="365750" y="201178"/>
            <a:ext cx="8412600" cy="94830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lang="en" sz="2900">
                <a:solidFill>
                  <a:srgbClr val="7ED957"/>
                </a:solidFill>
                <a:latin typeface="Proxima Nova"/>
                <a:ea typeface="Proxima Nova"/>
                <a:cs typeface="Proxima Nova"/>
                <a:sym typeface="Proxima Nova"/>
              </a:rPr>
              <a:t>Restoration Results &amp; Scenario Ranking: Adaptation Scenarios</a:t>
            </a:r>
            <a:endParaRPr sz="1500"/>
          </a:p>
        </p:txBody>
      </p:sp>
      <p:graphicFrame>
        <p:nvGraphicFramePr>
          <p:cNvPr id="548" name="Google Shape;548;p79"/>
          <p:cNvGraphicFramePr/>
          <p:nvPr/>
        </p:nvGraphicFramePr>
        <p:xfrm>
          <a:off x="365760" y="1149480"/>
          <a:ext cx="3000000" cy="3000000"/>
        </p:xfrm>
        <a:graphic>
          <a:graphicData uri="http://schemas.openxmlformats.org/drawingml/2006/table">
            <a:tbl>
              <a:tblPr>
                <a:noFill/>
                <a:tableStyleId>{0CC4AB25-8DFD-4ACA-88D2-885EBE8A8D3D}</a:tableStyleId>
              </a:tblPr>
              <a:tblGrid>
                <a:gridCol w="2377450"/>
                <a:gridCol w="548650"/>
                <a:gridCol w="548650"/>
                <a:gridCol w="548650"/>
                <a:gridCol w="548650"/>
                <a:gridCol w="548650"/>
                <a:gridCol w="548650"/>
                <a:gridCol w="548650"/>
                <a:gridCol w="548650"/>
                <a:gridCol w="548650"/>
                <a:gridCol w="548650"/>
                <a:gridCol w="548650"/>
              </a:tblGrid>
              <a:tr h="508600">
                <a:tc>
                  <a:txBody>
                    <a:bodyPr/>
                    <a:lstStyle/>
                    <a:p>
                      <a:pPr indent="0" lvl="0" marL="0" marR="0" rtl="0" algn="l">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Scenario</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-5</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-4</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-3</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-2</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-1</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0</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+1</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+2</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+3</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+4</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+5</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r>
              <a:tr h="508600">
                <a:tc>
                  <a:txBody>
                    <a:bodyPr/>
                    <a:lstStyle/>
                    <a:p>
                      <a:pPr indent="0" lvl="0" marL="0" marR="0" rtl="0" algn="l">
                        <a:lnSpc>
                          <a:spcPct val="100000"/>
                        </a:lnSpc>
                        <a:spcBef>
                          <a:spcPts val="0"/>
                        </a:spcBef>
                        <a:spcAft>
                          <a:spcPts val="0"/>
                        </a:spcAft>
                        <a:buNone/>
                      </a:pPr>
                      <a:r>
                        <a:rPr i="0" lang="en" sz="1600" u="none" cap="none" strike="noStrike">
                          <a:solidFill>
                            <a:srgbClr val="FFFFFF"/>
                          </a:solidFill>
                          <a:latin typeface="Proxima Nova"/>
                          <a:ea typeface="Proxima Nova"/>
                          <a:cs typeface="Proxima Nova"/>
                          <a:sym typeface="Proxima Nova"/>
                        </a:rPr>
                        <a:t>Business As Usual</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i="0" lang="en" sz="1600" u="none" cap="none" strike="noStrike">
                          <a:solidFill>
                            <a:srgbClr val="FFFFFF"/>
                          </a:solidFill>
                          <a:latin typeface="Proxima Nova"/>
                          <a:ea typeface="Proxima Nova"/>
                          <a:cs typeface="Proxima Nova"/>
                          <a:sym typeface="Proxima Nova"/>
                        </a:rPr>
                        <a:t>●</a:t>
                      </a:r>
                      <a:endParaRPr sz="1600">
                        <a:solidFill>
                          <a:srgbClr val="7ED957"/>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508600">
                <a:tc>
                  <a:txBody>
                    <a:bodyPr/>
                    <a:lstStyle/>
                    <a:p>
                      <a:pPr indent="0" lvl="0" marL="0" rtl="0" algn="l">
                        <a:spcBef>
                          <a:spcPts val="0"/>
                        </a:spcBef>
                        <a:spcAft>
                          <a:spcPts val="0"/>
                        </a:spcAft>
                        <a:buNone/>
                      </a:pPr>
                      <a:r>
                        <a:rPr lang="en" sz="1600">
                          <a:solidFill>
                            <a:schemeClr val="lt1"/>
                          </a:solidFill>
                          <a:latin typeface="Proxima Nova"/>
                          <a:ea typeface="Proxima Nova"/>
                          <a:cs typeface="Proxima Nova"/>
                          <a:sym typeface="Proxima Nova"/>
                        </a:rPr>
                        <a:t>Bolster and Fortify</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SzPts val="1100"/>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rPr lang="en" sz="1600">
                          <a:solidFill>
                            <a:schemeClr val="lt1"/>
                          </a:solidFill>
                          <a:latin typeface="Proxima Nova"/>
                          <a:ea typeface="Proxima Nova"/>
                          <a:cs typeface="Proxima Nova"/>
                          <a:sym typeface="Proxima Nova"/>
                        </a:rPr>
                        <a:t>●</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r h="508600">
                <a:tc>
                  <a:txBody>
                    <a:bodyPr/>
                    <a:lstStyle/>
                    <a:p>
                      <a:pPr indent="0" lvl="0" marL="0" rtl="0" algn="l">
                        <a:spcBef>
                          <a:spcPts val="0"/>
                        </a:spcBef>
                        <a:spcAft>
                          <a:spcPts val="0"/>
                        </a:spcAft>
                        <a:buNone/>
                      </a:pPr>
                      <a:r>
                        <a:rPr lang="en" sz="1600">
                          <a:solidFill>
                            <a:schemeClr val="lt1"/>
                          </a:solidFill>
                          <a:latin typeface="Proxima Nova"/>
                          <a:ea typeface="Proxima Nova"/>
                          <a:cs typeface="Proxima Nova"/>
                          <a:sym typeface="Proxima Nova"/>
                        </a:rPr>
                        <a:t>Eco Machine</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SzPts val="1100"/>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508600">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New Green Watershed</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SzPts val="1100"/>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r h="508600">
                <a:tc>
                  <a:txBody>
                    <a:bodyPr/>
                    <a:lstStyle/>
                    <a:p>
                      <a:pPr indent="0" lvl="0" marL="0" rtl="0" algn="l">
                        <a:spcBef>
                          <a:spcPts val="0"/>
                        </a:spcBef>
                        <a:spcAft>
                          <a:spcPts val="0"/>
                        </a:spcAft>
                        <a:buNone/>
                      </a:pPr>
                      <a:r>
                        <a:rPr lang="en" sz="1600">
                          <a:solidFill>
                            <a:schemeClr val="lt1"/>
                          </a:solidFill>
                          <a:latin typeface="Proxima Nova"/>
                          <a:ea typeface="Proxima Nova"/>
                          <a:cs typeface="Proxima Nova"/>
                          <a:sym typeface="Proxima Nova"/>
                        </a:rPr>
                        <a:t>Calling on Reserves</a:t>
                      </a:r>
                      <a:endParaRPr sz="1600">
                        <a:solidFill>
                          <a:srgbClr val="FFFFFF"/>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508600">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A Tunnel</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552" name="Shape 552"/>
        <p:cNvGrpSpPr/>
        <p:nvPr/>
      </p:nvGrpSpPr>
      <p:grpSpPr>
        <a:xfrm>
          <a:off x="0" y="0"/>
          <a:ext cx="0" cy="0"/>
          <a:chOff x="0" y="0"/>
          <a:chExt cx="0" cy="0"/>
        </a:xfrm>
      </p:grpSpPr>
      <p:sp>
        <p:nvSpPr>
          <p:cNvPr id="553" name="Google Shape;553;p80"/>
          <p:cNvSpPr txBox="1"/>
          <p:nvPr>
            <p:ph type="ctrTitle"/>
          </p:nvPr>
        </p:nvSpPr>
        <p:spPr>
          <a:xfrm>
            <a:off x="256375" y="96950"/>
            <a:ext cx="8520600" cy="6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sz="3000">
                <a:solidFill>
                  <a:srgbClr val="7ED957"/>
                </a:solidFill>
                <a:latin typeface="Proxima Nova"/>
                <a:ea typeface="Proxima Nova"/>
                <a:cs typeface="Proxima Nova"/>
                <a:sym typeface="Proxima Nova"/>
              </a:rPr>
              <a:t>Restoration Ranges</a:t>
            </a:r>
            <a:endParaRPr b="1" sz="3000">
              <a:solidFill>
                <a:srgbClr val="7ED957"/>
              </a:solidFill>
              <a:latin typeface="Proxima Nova"/>
              <a:ea typeface="Proxima Nova"/>
              <a:cs typeface="Proxima Nova"/>
              <a:sym typeface="Proxima Nova"/>
            </a:endParaRPr>
          </a:p>
          <a:p>
            <a:pPr indent="0" lvl="0" marL="0" rtl="0" algn="l">
              <a:spcBef>
                <a:spcPts val="800"/>
              </a:spcBef>
              <a:spcAft>
                <a:spcPts val="800"/>
              </a:spcAft>
              <a:buNone/>
            </a:pPr>
            <a:r>
              <a:t/>
            </a:r>
            <a:endParaRPr sz="2000">
              <a:solidFill>
                <a:schemeClr val="lt1"/>
              </a:solidFill>
              <a:latin typeface="Proxima Nova"/>
              <a:ea typeface="Proxima Nova"/>
              <a:cs typeface="Proxima Nova"/>
              <a:sym typeface="Proxima Nova"/>
            </a:endParaRPr>
          </a:p>
        </p:txBody>
      </p:sp>
      <p:sp>
        <p:nvSpPr>
          <p:cNvPr id="554" name="Google Shape;554;p80"/>
          <p:cNvSpPr/>
          <p:nvPr/>
        </p:nvSpPr>
        <p:spPr>
          <a:xfrm>
            <a:off x="349375" y="867300"/>
            <a:ext cx="4059300" cy="3978600"/>
          </a:xfrm>
          <a:prstGeom prst="rect">
            <a:avLst/>
          </a:prstGeom>
          <a:solidFill>
            <a:srgbClr val="2F444B"/>
          </a:solidFill>
          <a:ln>
            <a:noFill/>
          </a:ln>
        </p:spPr>
        <p:txBody>
          <a:bodyPr anchorCtr="0" anchor="ctr" bIns="104350" lIns="208775" spcFirstLastPara="1" rIns="208775" wrap="square" tIns="104350">
            <a:noAutofit/>
          </a:bodyPr>
          <a:lstStyle/>
          <a:p>
            <a:pPr indent="0" lvl="0" marL="0" marR="0" rtl="0" algn="ctr">
              <a:lnSpc>
                <a:spcPct val="100000"/>
              </a:lnSpc>
              <a:spcBef>
                <a:spcPts val="0"/>
              </a:spcBef>
              <a:spcAft>
                <a:spcPts val="0"/>
              </a:spcAft>
              <a:buNone/>
            </a:pPr>
            <a:r>
              <a:t/>
            </a:r>
            <a:endParaRPr b="0" i="0" sz="3197" u="none" cap="none" strike="noStrike">
              <a:solidFill>
                <a:srgbClr val="000000"/>
              </a:solidFill>
              <a:latin typeface="Arial"/>
              <a:ea typeface="Arial"/>
              <a:cs typeface="Arial"/>
              <a:sym typeface="Arial"/>
            </a:endParaRPr>
          </a:p>
        </p:txBody>
      </p:sp>
      <p:sp>
        <p:nvSpPr>
          <p:cNvPr id="555" name="Google Shape;555;p80"/>
          <p:cNvSpPr txBox="1"/>
          <p:nvPr/>
        </p:nvSpPr>
        <p:spPr>
          <a:xfrm>
            <a:off x="364225" y="867300"/>
            <a:ext cx="3936000" cy="3852900"/>
          </a:xfrm>
          <a:prstGeom prst="rect">
            <a:avLst/>
          </a:prstGeom>
          <a:noFill/>
          <a:ln>
            <a:noFill/>
          </a:ln>
        </p:spPr>
        <p:txBody>
          <a:bodyPr anchorCtr="0" anchor="t" bIns="62650" lIns="104350" spcFirstLastPara="1" rIns="104350" wrap="square" tIns="62650">
            <a:spAutoFit/>
          </a:bodyPr>
          <a:lstStyle/>
          <a:p>
            <a:pPr indent="0" lvl="0" marL="0" marR="0" rtl="0" algn="l">
              <a:lnSpc>
                <a:spcPct val="100000"/>
              </a:lnSpc>
              <a:spcBef>
                <a:spcPts val="1370"/>
              </a:spcBef>
              <a:spcAft>
                <a:spcPts val="0"/>
              </a:spcAft>
              <a:buNone/>
            </a:pPr>
            <a:r>
              <a:rPr b="1" lang="en" sz="2200">
                <a:solidFill>
                  <a:srgbClr val="46BEC6"/>
                </a:solidFill>
                <a:latin typeface="Proxima Nova"/>
                <a:ea typeface="Proxima Nova"/>
                <a:cs typeface="Proxima Nova"/>
                <a:sym typeface="Proxima Nova"/>
              </a:rPr>
              <a:t>ECO MACHINE</a:t>
            </a:r>
            <a:endParaRPr b="1" sz="2200">
              <a:solidFill>
                <a:srgbClr val="46BEC6"/>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rPr lang="en" sz="2000">
                <a:solidFill>
                  <a:schemeClr val="lt1"/>
                </a:solidFill>
                <a:latin typeface="Proxima Nova"/>
                <a:ea typeface="Proxima Nova"/>
                <a:cs typeface="Proxima Nova"/>
                <a:sym typeface="Proxima Nova"/>
              </a:rPr>
              <a:t>In-Delta restoration only</a:t>
            </a:r>
            <a:endParaRPr sz="2000">
              <a:solidFill>
                <a:schemeClr val="lt1"/>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t/>
            </a:r>
            <a:endParaRPr sz="2000">
              <a:solidFill>
                <a:schemeClr val="lt1"/>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rPr lang="en" sz="2000">
                <a:solidFill>
                  <a:schemeClr val="lt1"/>
                </a:solidFill>
                <a:latin typeface="Proxima Nova"/>
                <a:ea typeface="Proxima Nova"/>
                <a:cs typeface="Proxima Nova"/>
                <a:sym typeface="Proxima Nova"/>
              </a:rPr>
              <a:t>Suisun Marsh</a:t>
            </a:r>
            <a:endParaRPr sz="2000">
              <a:solidFill>
                <a:schemeClr val="lt1"/>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rPr lang="en" sz="1600">
                <a:solidFill>
                  <a:schemeClr val="lt1"/>
                </a:solidFill>
                <a:latin typeface="Proxima Nova"/>
                <a:ea typeface="Proxima Nova"/>
                <a:cs typeface="Proxima Nova"/>
                <a:sym typeface="Proxima Nova"/>
              </a:rPr>
              <a:t>Tidal wetland restoration: </a:t>
            </a:r>
            <a:r>
              <a:rPr lang="en" sz="1700">
                <a:solidFill>
                  <a:schemeClr val="lt1"/>
                </a:solidFill>
                <a:latin typeface="Proxima Nova"/>
                <a:ea typeface="Proxima Nova"/>
                <a:cs typeface="Proxima Nova"/>
                <a:sym typeface="Proxima Nova"/>
              </a:rPr>
              <a:t>41,720 acres</a:t>
            </a:r>
            <a:endParaRPr sz="17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7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2000">
                <a:solidFill>
                  <a:schemeClr val="lt1"/>
                </a:solidFill>
                <a:latin typeface="Proxima Nova"/>
                <a:ea typeface="Proxima Nova"/>
                <a:cs typeface="Proxima Nova"/>
                <a:sym typeface="Proxima Nova"/>
              </a:rPr>
              <a:t>Franks Tract</a:t>
            </a:r>
            <a:endParaRPr sz="2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600">
                <a:solidFill>
                  <a:schemeClr val="lt1"/>
                </a:solidFill>
                <a:latin typeface="Proxima Nova"/>
                <a:ea typeface="Proxima Nova"/>
                <a:cs typeface="Proxima Nova"/>
                <a:sym typeface="Proxima Nova"/>
              </a:rPr>
              <a:t>Tidal wetland restoration: 1,380 acres</a:t>
            </a:r>
            <a:endParaRPr sz="1600">
              <a:solidFill>
                <a:schemeClr val="lt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700">
              <a:solidFill>
                <a:schemeClr val="lt1"/>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t/>
            </a:r>
            <a:endParaRPr sz="1600">
              <a:solidFill>
                <a:schemeClr val="lt1"/>
              </a:solidFill>
              <a:latin typeface="Proxima Nova"/>
              <a:ea typeface="Proxima Nova"/>
              <a:cs typeface="Proxima Nova"/>
              <a:sym typeface="Proxima Nova"/>
            </a:endParaRPr>
          </a:p>
        </p:txBody>
      </p:sp>
      <p:sp>
        <p:nvSpPr>
          <p:cNvPr id="556" name="Google Shape;556;p80"/>
          <p:cNvSpPr/>
          <p:nvPr/>
        </p:nvSpPr>
        <p:spPr>
          <a:xfrm>
            <a:off x="4789950" y="867300"/>
            <a:ext cx="4059300" cy="3978600"/>
          </a:xfrm>
          <a:prstGeom prst="rect">
            <a:avLst/>
          </a:prstGeom>
          <a:solidFill>
            <a:srgbClr val="2F444B"/>
          </a:solidFill>
          <a:ln>
            <a:noFill/>
          </a:ln>
        </p:spPr>
        <p:txBody>
          <a:bodyPr anchorCtr="0" anchor="ctr" bIns="104350" lIns="208775" spcFirstLastPara="1" rIns="208775" wrap="square" tIns="104350">
            <a:noAutofit/>
          </a:bodyPr>
          <a:lstStyle/>
          <a:p>
            <a:pPr indent="0" lvl="0" marL="0" marR="0" rtl="0" algn="ctr">
              <a:lnSpc>
                <a:spcPct val="100000"/>
              </a:lnSpc>
              <a:spcBef>
                <a:spcPts val="0"/>
              </a:spcBef>
              <a:spcAft>
                <a:spcPts val="0"/>
              </a:spcAft>
              <a:buNone/>
            </a:pPr>
            <a:r>
              <a:t/>
            </a:r>
            <a:endParaRPr b="0" i="0" sz="3197" u="none" cap="none" strike="noStrike">
              <a:solidFill>
                <a:srgbClr val="000000"/>
              </a:solidFill>
              <a:latin typeface="Arial"/>
              <a:ea typeface="Arial"/>
              <a:cs typeface="Arial"/>
              <a:sym typeface="Arial"/>
            </a:endParaRPr>
          </a:p>
        </p:txBody>
      </p:sp>
      <p:sp>
        <p:nvSpPr>
          <p:cNvPr id="557" name="Google Shape;557;p80"/>
          <p:cNvSpPr txBox="1"/>
          <p:nvPr/>
        </p:nvSpPr>
        <p:spPr>
          <a:xfrm>
            <a:off x="4804800" y="842950"/>
            <a:ext cx="3936000" cy="3827100"/>
          </a:xfrm>
          <a:prstGeom prst="rect">
            <a:avLst/>
          </a:prstGeom>
          <a:noFill/>
          <a:ln>
            <a:noFill/>
          </a:ln>
        </p:spPr>
        <p:txBody>
          <a:bodyPr anchorCtr="0" anchor="t" bIns="62650" lIns="104350" spcFirstLastPara="1" rIns="104350" wrap="square" tIns="62650">
            <a:spAutoFit/>
          </a:bodyPr>
          <a:lstStyle/>
          <a:p>
            <a:pPr indent="0" lvl="0" marL="0" marR="0" rtl="0" algn="l">
              <a:lnSpc>
                <a:spcPct val="100000"/>
              </a:lnSpc>
              <a:spcBef>
                <a:spcPts val="1370"/>
              </a:spcBef>
              <a:spcAft>
                <a:spcPts val="0"/>
              </a:spcAft>
              <a:buNone/>
            </a:pPr>
            <a:r>
              <a:rPr b="1" lang="en" sz="2200">
                <a:solidFill>
                  <a:srgbClr val="46BEC6"/>
                </a:solidFill>
                <a:latin typeface="Proxima Nova"/>
                <a:ea typeface="Proxima Nova"/>
                <a:cs typeface="Proxima Nova"/>
                <a:sym typeface="Proxima Nova"/>
              </a:rPr>
              <a:t>NEW GREEN WATERSHED</a:t>
            </a:r>
            <a:endParaRPr b="1" sz="2200">
              <a:solidFill>
                <a:srgbClr val="46BEC6"/>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rPr lang="en" sz="2000">
                <a:solidFill>
                  <a:schemeClr val="lt1"/>
                </a:solidFill>
                <a:latin typeface="Proxima Nova"/>
                <a:ea typeface="Proxima Nova"/>
                <a:cs typeface="Proxima Nova"/>
                <a:sym typeface="Proxima Nova"/>
              </a:rPr>
              <a:t>In-Delta and upland restoration</a:t>
            </a:r>
            <a:endParaRPr sz="20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7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700" u="sng">
                <a:solidFill>
                  <a:schemeClr val="lt1"/>
                </a:solidFill>
                <a:latin typeface="Proxima Nova"/>
                <a:ea typeface="Proxima Nova"/>
                <a:cs typeface="Proxima Nova"/>
                <a:sym typeface="Proxima Nova"/>
              </a:rPr>
              <a:t>In-Delta</a:t>
            </a:r>
            <a:r>
              <a:rPr lang="en" sz="1700">
                <a:solidFill>
                  <a:schemeClr val="lt1"/>
                </a:solidFill>
                <a:latin typeface="Proxima Nova"/>
                <a:ea typeface="Proxima Nova"/>
                <a:cs typeface="Proxima Nova"/>
                <a:sym typeface="Proxima Nova"/>
              </a:rPr>
              <a:t>: 248,815 restored acres</a:t>
            </a:r>
            <a:endParaRPr sz="17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700">
                <a:solidFill>
                  <a:schemeClr val="lt1"/>
                </a:solidFill>
                <a:latin typeface="Proxima Nova"/>
                <a:ea typeface="Proxima Nova"/>
                <a:cs typeface="Proxima Nova"/>
                <a:sym typeface="Proxima Nova"/>
              </a:rPr>
              <a:t>Wetlands, rice, restored landscapes</a:t>
            </a:r>
            <a:endParaRPr sz="17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7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700" u="sng">
                <a:solidFill>
                  <a:schemeClr val="lt1"/>
                </a:solidFill>
                <a:latin typeface="Proxima Nova"/>
                <a:ea typeface="Proxima Nova"/>
                <a:cs typeface="Proxima Nova"/>
                <a:sym typeface="Proxima Nova"/>
              </a:rPr>
              <a:t>Watershed (upland)</a:t>
            </a:r>
            <a:r>
              <a:rPr lang="en" sz="1700">
                <a:solidFill>
                  <a:schemeClr val="lt1"/>
                </a:solidFill>
                <a:latin typeface="Proxima Nova"/>
                <a:ea typeface="Proxima Nova"/>
                <a:cs typeface="Proxima Nova"/>
                <a:sym typeface="Proxima Nova"/>
              </a:rPr>
              <a:t>:</a:t>
            </a:r>
            <a:endParaRPr sz="17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700">
                <a:solidFill>
                  <a:schemeClr val="lt1"/>
                </a:solidFill>
                <a:latin typeface="Proxima Nova"/>
                <a:ea typeface="Proxima Nova"/>
                <a:cs typeface="Proxima Nova"/>
                <a:sym typeface="Proxima Nova"/>
              </a:rPr>
              <a:t>Managed wetland acreage:</a:t>
            </a:r>
            <a:endParaRPr sz="17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700">
                <a:solidFill>
                  <a:schemeClr val="lt1"/>
                </a:solidFill>
                <a:latin typeface="Proxima Nova"/>
                <a:ea typeface="Proxima Nova"/>
                <a:cs typeface="Proxima Nova"/>
                <a:sym typeface="Proxima Nova"/>
              </a:rPr>
              <a:t>48,213 - 207,004</a:t>
            </a:r>
            <a:endParaRPr sz="17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7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700">
                <a:solidFill>
                  <a:schemeClr val="lt1"/>
                </a:solidFill>
                <a:latin typeface="Proxima Nova"/>
                <a:ea typeface="Proxima Nova"/>
                <a:cs typeface="Proxima Nova"/>
                <a:sym typeface="Proxima Nova"/>
              </a:rPr>
              <a:t>Meadow acreage: 11,586 - 347,591</a:t>
            </a:r>
            <a:endParaRPr sz="17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7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700">
                <a:solidFill>
                  <a:schemeClr val="lt1"/>
                </a:solidFill>
                <a:latin typeface="Proxima Nova"/>
                <a:ea typeface="Proxima Nova"/>
                <a:cs typeface="Proxima Nova"/>
                <a:sym typeface="Proxima Nova"/>
              </a:rPr>
              <a:t>Floodplain acreage: 6,360 - 303,372</a:t>
            </a:r>
            <a:endParaRPr sz="1600">
              <a:solidFill>
                <a:schemeClr val="lt1"/>
              </a:solidFill>
              <a:latin typeface="Proxima Nova"/>
              <a:ea typeface="Proxima Nova"/>
              <a:cs typeface="Proxima Nova"/>
              <a:sym typeface="Proxima Nova"/>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561" name="Shape 561"/>
        <p:cNvGrpSpPr/>
        <p:nvPr/>
      </p:nvGrpSpPr>
      <p:grpSpPr>
        <a:xfrm>
          <a:off x="0" y="0"/>
          <a:ext cx="0" cy="0"/>
          <a:chOff x="0" y="0"/>
          <a:chExt cx="0" cy="0"/>
        </a:xfrm>
      </p:grpSpPr>
      <p:sp>
        <p:nvSpPr>
          <p:cNvPr id="562" name="Google Shape;562;p81"/>
          <p:cNvSpPr txBox="1"/>
          <p:nvPr>
            <p:ph type="ctrTitle"/>
          </p:nvPr>
        </p:nvSpPr>
        <p:spPr>
          <a:xfrm>
            <a:off x="274325" y="67675"/>
            <a:ext cx="8520600" cy="8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800"/>
              </a:spcAft>
              <a:buSzPts val="1100"/>
              <a:buNone/>
            </a:pPr>
            <a:r>
              <a:rPr b="1" lang="en" sz="2400">
                <a:solidFill>
                  <a:srgbClr val="7ED957"/>
                </a:solidFill>
                <a:latin typeface="Proxima Nova"/>
                <a:ea typeface="Proxima Nova"/>
                <a:cs typeface="Proxima Nova"/>
                <a:sym typeface="Proxima Nova"/>
              </a:rPr>
              <a:t>Increased Access to Landscapes for Stewardship, Subsistence, Ceremony, and Cultural Practices </a:t>
            </a:r>
            <a:endParaRPr sz="2400">
              <a:solidFill>
                <a:schemeClr val="lt1"/>
              </a:solidFill>
              <a:latin typeface="Proxima Nova"/>
              <a:ea typeface="Proxima Nova"/>
              <a:cs typeface="Proxima Nova"/>
              <a:sym typeface="Proxima Nova"/>
            </a:endParaRPr>
          </a:p>
        </p:txBody>
      </p:sp>
      <p:sp>
        <p:nvSpPr>
          <p:cNvPr id="563" name="Google Shape;563;p81"/>
          <p:cNvSpPr/>
          <p:nvPr/>
        </p:nvSpPr>
        <p:spPr>
          <a:xfrm>
            <a:off x="284400" y="941875"/>
            <a:ext cx="8422800" cy="563700"/>
          </a:xfrm>
          <a:prstGeom prst="rect">
            <a:avLst/>
          </a:prstGeom>
          <a:solidFill>
            <a:srgbClr val="2F444B"/>
          </a:solidFill>
          <a:ln>
            <a:noFill/>
          </a:ln>
        </p:spPr>
        <p:txBody>
          <a:bodyPr anchorCtr="0" anchor="ctr" bIns="45450" lIns="90975" spcFirstLastPara="1" rIns="90975" wrap="square" tIns="45450">
            <a:noAutofit/>
          </a:bodyPr>
          <a:lstStyle/>
          <a:p>
            <a:pPr indent="0" lvl="0" marL="0" marR="0" rtl="0" algn="ctr">
              <a:lnSpc>
                <a:spcPct val="100000"/>
              </a:lnSpc>
              <a:spcBef>
                <a:spcPts val="0"/>
              </a:spcBef>
              <a:spcAft>
                <a:spcPts val="0"/>
              </a:spcAft>
              <a:buNone/>
            </a:pPr>
            <a:r>
              <a:t/>
            </a:r>
            <a:endParaRPr b="0" i="0" sz="1393" u="none" cap="none" strike="noStrike">
              <a:solidFill>
                <a:srgbClr val="000000"/>
              </a:solidFill>
              <a:latin typeface="Arial"/>
              <a:ea typeface="Arial"/>
              <a:cs typeface="Arial"/>
              <a:sym typeface="Arial"/>
            </a:endParaRPr>
          </a:p>
        </p:txBody>
      </p:sp>
      <p:sp>
        <p:nvSpPr>
          <p:cNvPr id="564" name="Google Shape;564;p81"/>
          <p:cNvSpPr txBox="1"/>
          <p:nvPr/>
        </p:nvSpPr>
        <p:spPr>
          <a:xfrm>
            <a:off x="284400" y="1000825"/>
            <a:ext cx="8422800" cy="363000"/>
          </a:xfrm>
          <a:prstGeom prst="rect">
            <a:avLst/>
          </a:prstGeom>
          <a:noFill/>
          <a:ln>
            <a:noFill/>
          </a:ln>
        </p:spPr>
        <p:txBody>
          <a:bodyPr anchorCtr="0" anchor="t" bIns="27300" lIns="45450" spcFirstLastPara="1" rIns="45450" wrap="square" tIns="27300">
            <a:spAutoFit/>
          </a:bodyPr>
          <a:lstStyle/>
          <a:p>
            <a:pPr indent="0" lvl="0" marL="0" marR="0" rtl="0" algn="ctr">
              <a:lnSpc>
                <a:spcPct val="100000"/>
              </a:lnSpc>
              <a:spcBef>
                <a:spcPts val="0"/>
              </a:spcBef>
              <a:spcAft>
                <a:spcPts val="0"/>
              </a:spcAft>
              <a:buNone/>
            </a:pPr>
            <a:r>
              <a:rPr lang="en" sz="2000">
                <a:solidFill>
                  <a:schemeClr val="lt1"/>
                </a:solidFill>
                <a:latin typeface="Proxima Nova"/>
                <a:ea typeface="Proxima Nova"/>
                <a:cs typeface="Proxima Nova"/>
                <a:sym typeface="Proxima Nova"/>
              </a:rPr>
              <a:t>Most preferred mode of land access:</a:t>
            </a:r>
            <a:r>
              <a:rPr lang="en" sz="2000">
                <a:solidFill>
                  <a:schemeClr val="lt1"/>
                </a:solidFill>
              </a:rPr>
              <a:t> </a:t>
            </a:r>
            <a:r>
              <a:rPr b="1" lang="en" sz="2000">
                <a:solidFill>
                  <a:srgbClr val="46BEC6"/>
                </a:solidFill>
              </a:rPr>
              <a:t>Tribal Ownership</a:t>
            </a:r>
            <a:endParaRPr b="1" sz="2000">
              <a:solidFill>
                <a:srgbClr val="46BEC6"/>
              </a:solidFill>
            </a:endParaRPr>
          </a:p>
        </p:txBody>
      </p:sp>
      <p:sp>
        <p:nvSpPr>
          <p:cNvPr id="565" name="Google Shape;565;p81"/>
          <p:cNvSpPr/>
          <p:nvPr/>
        </p:nvSpPr>
        <p:spPr>
          <a:xfrm>
            <a:off x="284400" y="1650925"/>
            <a:ext cx="8422800" cy="911400"/>
          </a:xfrm>
          <a:prstGeom prst="rect">
            <a:avLst/>
          </a:prstGeom>
          <a:solidFill>
            <a:srgbClr val="2F444B"/>
          </a:solidFill>
          <a:ln>
            <a:noFill/>
          </a:ln>
        </p:spPr>
        <p:txBody>
          <a:bodyPr anchorCtr="0" anchor="ctr" bIns="45450" lIns="90975" spcFirstLastPara="1" rIns="90975" wrap="square" tIns="45450">
            <a:noAutofit/>
          </a:bodyPr>
          <a:lstStyle/>
          <a:p>
            <a:pPr indent="0" lvl="0" marL="0" marR="0" rtl="0" algn="ctr">
              <a:lnSpc>
                <a:spcPct val="100000"/>
              </a:lnSpc>
              <a:spcBef>
                <a:spcPts val="0"/>
              </a:spcBef>
              <a:spcAft>
                <a:spcPts val="0"/>
              </a:spcAft>
              <a:buNone/>
            </a:pPr>
            <a:r>
              <a:t/>
            </a:r>
            <a:endParaRPr b="0" i="0" sz="1393" u="none" cap="none" strike="noStrike">
              <a:solidFill>
                <a:srgbClr val="000000"/>
              </a:solidFill>
              <a:latin typeface="Arial"/>
              <a:ea typeface="Arial"/>
              <a:cs typeface="Arial"/>
              <a:sym typeface="Arial"/>
            </a:endParaRPr>
          </a:p>
        </p:txBody>
      </p:sp>
      <p:sp>
        <p:nvSpPr>
          <p:cNvPr id="566" name="Google Shape;566;p81"/>
          <p:cNvSpPr txBox="1"/>
          <p:nvPr/>
        </p:nvSpPr>
        <p:spPr>
          <a:xfrm>
            <a:off x="284400" y="1650925"/>
            <a:ext cx="8422800" cy="976200"/>
          </a:xfrm>
          <a:prstGeom prst="rect">
            <a:avLst/>
          </a:prstGeom>
          <a:noFill/>
          <a:ln>
            <a:noFill/>
          </a:ln>
        </p:spPr>
        <p:txBody>
          <a:bodyPr anchorCtr="0" anchor="ctr" bIns="27300" lIns="45450" spcFirstLastPara="1" rIns="45450" wrap="square" tIns="27300">
            <a:noAutofit/>
          </a:bodyPr>
          <a:lstStyle/>
          <a:p>
            <a:pPr indent="0" lvl="0" marL="0" marR="0" rtl="0" algn="ctr">
              <a:lnSpc>
                <a:spcPct val="100000"/>
              </a:lnSpc>
              <a:spcBef>
                <a:spcPts val="0"/>
              </a:spcBef>
              <a:spcAft>
                <a:spcPts val="0"/>
              </a:spcAft>
              <a:buNone/>
            </a:pPr>
            <a:r>
              <a:rPr b="1" lang="en" sz="1900">
                <a:solidFill>
                  <a:srgbClr val="7ED957"/>
                </a:solidFill>
                <a:latin typeface="Proxima Nova"/>
                <a:ea typeface="Proxima Nova"/>
                <a:cs typeface="Proxima Nova"/>
                <a:sym typeface="Proxima Nova"/>
              </a:rPr>
              <a:t>Land Trust Partnership</a:t>
            </a:r>
            <a:endParaRPr sz="1900"/>
          </a:p>
          <a:p>
            <a:pPr indent="0" lvl="0" marL="0" rtl="0" algn="ctr">
              <a:spcBef>
                <a:spcPts val="0"/>
              </a:spcBef>
              <a:spcAft>
                <a:spcPts val="800"/>
              </a:spcAft>
              <a:buNone/>
            </a:pPr>
            <a:r>
              <a:rPr lang="en" sz="1800">
                <a:solidFill>
                  <a:schemeClr val="lt1"/>
                </a:solidFill>
                <a:latin typeface="Proxima Nova"/>
                <a:ea typeface="Proxima Nova"/>
                <a:cs typeface="Proxima Nova"/>
                <a:sym typeface="Proxima Nova"/>
              </a:rPr>
              <a:t>Agreements between land trusts, conservation organizations, and/or Indigenous communities</a:t>
            </a:r>
            <a:endParaRPr sz="1800"/>
          </a:p>
        </p:txBody>
      </p:sp>
      <p:sp>
        <p:nvSpPr>
          <p:cNvPr id="567" name="Google Shape;567;p81"/>
          <p:cNvSpPr/>
          <p:nvPr/>
        </p:nvSpPr>
        <p:spPr>
          <a:xfrm>
            <a:off x="284400" y="2707675"/>
            <a:ext cx="8422800" cy="1115100"/>
          </a:xfrm>
          <a:prstGeom prst="rect">
            <a:avLst/>
          </a:prstGeom>
          <a:solidFill>
            <a:srgbClr val="2F444B"/>
          </a:solidFill>
          <a:ln>
            <a:noFill/>
          </a:ln>
        </p:spPr>
        <p:txBody>
          <a:bodyPr anchorCtr="0" anchor="ctr" bIns="45450" lIns="90975" spcFirstLastPara="1" rIns="90975" wrap="square" tIns="45450">
            <a:noAutofit/>
          </a:bodyPr>
          <a:lstStyle/>
          <a:p>
            <a:pPr indent="0" lvl="0" marL="0" marR="0" rtl="0" algn="ctr">
              <a:lnSpc>
                <a:spcPct val="100000"/>
              </a:lnSpc>
              <a:spcBef>
                <a:spcPts val="0"/>
              </a:spcBef>
              <a:spcAft>
                <a:spcPts val="0"/>
              </a:spcAft>
              <a:buNone/>
            </a:pPr>
            <a:r>
              <a:t/>
            </a:r>
            <a:endParaRPr b="0" i="0" sz="1393" u="none" cap="none" strike="noStrike">
              <a:solidFill>
                <a:srgbClr val="000000"/>
              </a:solidFill>
              <a:latin typeface="Arial"/>
              <a:ea typeface="Arial"/>
              <a:cs typeface="Arial"/>
              <a:sym typeface="Arial"/>
            </a:endParaRPr>
          </a:p>
        </p:txBody>
      </p:sp>
      <p:sp>
        <p:nvSpPr>
          <p:cNvPr id="568" name="Google Shape;568;p81"/>
          <p:cNvSpPr txBox="1"/>
          <p:nvPr/>
        </p:nvSpPr>
        <p:spPr>
          <a:xfrm>
            <a:off x="284400" y="2766625"/>
            <a:ext cx="8422800" cy="1056000"/>
          </a:xfrm>
          <a:prstGeom prst="rect">
            <a:avLst/>
          </a:prstGeom>
          <a:noFill/>
          <a:ln>
            <a:noFill/>
          </a:ln>
        </p:spPr>
        <p:txBody>
          <a:bodyPr anchorCtr="0" anchor="ctr" bIns="27300" lIns="45450" spcFirstLastPara="1" rIns="45450" wrap="square" tIns="27300">
            <a:noAutofit/>
          </a:bodyPr>
          <a:lstStyle/>
          <a:p>
            <a:pPr indent="0" lvl="0" marL="0" marR="0" rtl="0" algn="ctr">
              <a:lnSpc>
                <a:spcPct val="100000"/>
              </a:lnSpc>
              <a:spcBef>
                <a:spcPts val="0"/>
              </a:spcBef>
              <a:spcAft>
                <a:spcPts val="0"/>
              </a:spcAft>
              <a:buNone/>
            </a:pPr>
            <a:r>
              <a:rPr b="1" lang="en" sz="1900">
                <a:solidFill>
                  <a:srgbClr val="7ED957"/>
                </a:solidFill>
                <a:latin typeface="Proxima Nova"/>
                <a:ea typeface="Proxima Nova"/>
                <a:cs typeface="Proxima Nova"/>
                <a:sym typeface="Proxima Nova"/>
              </a:rPr>
              <a:t>Conservation Easements (CE), Cultural Conservation Easements (CCE)</a:t>
            </a:r>
            <a:endParaRPr sz="1900"/>
          </a:p>
          <a:p>
            <a:pPr indent="0" lvl="0" marL="0" rtl="0" algn="ctr">
              <a:spcBef>
                <a:spcPts val="0"/>
              </a:spcBef>
              <a:spcAft>
                <a:spcPts val="0"/>
              </a:spcAft>
              <a:buNone/>
            </a:pPr>
            <a:r>
              <a:rPr lang="en" sz="1800">
                <a:solidFill>
                  <a:schemeClr val="lt1"/>
                </a:solidFill>
                <a:latin typeface="Proxima Nova"/>
                <a:ea typeface="Proxima Nova"/>
                <a:cs typeface="Proxima Nova"/>
                <a:sym typeface="Proxima Nova"/>
              </a:rPr>
              <a:t>Legally-binding, development restrictions for cultural and ecological protection</a:t>
            </a:r>
            <a:endParaRPr sz="1800">
              <a:solidFill>
                <a:schemeClr val="lt1"/>
              </a:solidFill>
              <a:latin typeface="Proxima Nova"/>
              <a:ea typeface="Proxima Nova"/>
              <a:cs typeface="Proxima Nova"/>
              <a:sym typeface="Proxima Nova"/>
            </a:endParaRPr>
          </a:p>
          <a:p>
            <a:pPr indent="0" lvl="0" marL="0" rtl="0" algn="ctr">
              <a:spcBef>
                <a:spcPts val="800"/>
              </a:spcBef>
              <a:spcAft>
                <a:spcPts val="800"/>
              </a:spcAft>
              <a:buNone/>
            </a:pPr>
            <a:r>
              <a:rPr lang="en" sz="1800">
                <a:solidFill>
                  <a:schemeClr val="lt1"/>
                </a:solidFill>
                <a:latin typeface="Proxima Nova"/>
                <a:ea typeface="Proxima Nova"/>
                <a:cs typeface="Proxima Nova"/>
                <a:sym typeface="Proxima Nova"/>
              </a:rPr>
              <a:t>Perpetual access, even if land is sold</a:t>
            </a:r>
            <a:endParaRPr sz="1800">
              <a:solidFill>
                <a:schemeClr val="lt1"/>
              </a:solidFill>
              <a:latin typeface="Proxima Nova"/>
              <a:ea typeface="Proxima Nova"/>
              <a:cs typeface="Proxima Nova"/>
              <a:sym typeface="Proxima Nova"/>
            </a:endParaRPr>
          </a:p>
        </p:txBody>
      </p:sp>
      <p:sp>
        <p:nvSpPr>
          <p:cNvPr id="569" name="Google Shape;569;p81"/>
          <p:cNvSpPr/>
          <p:nvPr/>
        </p:nvSpPr>
        <p:spPr>
          <a:xfrm>
            <a:off x="284400" y="3903475"/>
            <a:ext cx="8422800" cy="1115100"/>
          </a:xfrm>
          <a:prstGeom prst="rect">
            <a:avLst/>
          </a:prstGeom>
          <a:solidFill>
            <a:srgbClr val="2F444B"/>
          </a:solidFill>
          <a:ln>
            <a:noFill/>
          </a:ln>
        </p:spPr>
        <p:txBody>
          <a:bodyPr anchorCtr="0" anchor="ctr" bIns="45450" lIns="90975" spcFirstLastPara="1" rIns="90975" wrap="square" tIns="45450">
            <a:noAutofit/>
          </a:bodyPr>
          <a:lstStyle/>
          <a:p>
            <a:pPr indent="0" lvl="0" marL="0" marR="0" rtl="0" algn="ctr">
              <a:lnSpc>
                <a:spcPct val="100000"/>
              </a:lnSpc>
              <a:spcBef>
                <a:spcPts val="0"/>
              </a:spcBef>
              <a:spcAft>
                <a:spcPts val="0"/>
              </a:spcAft>
              <a:buNone/>
            </a:pPr>
            <a:r>
              <a:t/>
            </a:r>
            <a:endParaRPr b="0" i="0" sz="1393" u="none" cap="none" strike="noStrike">
              <a:solidFill>
                <a:srgbClr val="000000"/>
              </a:solidFill>
              <a:latin typeface="Arial"/>
              <a:ea typeface="Arial"/>
              <a:cs typeface="Arial"/>
              <a:sym typeface="Arial"/>
            </a:endParaRPr>
          </a:p>
        </p:txBody>
      </p:sp>
      <p:sp>
        <p:nvSpPr>
          <p:cNvPr id="570" name="Google Shape;570;p81"/>
          <p:cNvSpPr txBox="1"/>
          <p:nvPr/>
        </p:nvSpPr>
        <p:spPr>
          <a:xfrm>
            <a:off x="284400" y="3962425"/>
            <a:ext cx="8422800" cy="1056000"/>
          </a:xfrm>
          <a:prstGeom prst="rect">
            <a:avLst/>
          </a:prstGeom>
          <a:noFill/>
          <a:ln>
            <a:noFill/>
          </a:ln>
        </p:spPr>
        <p:txBody>
          <a:bodyPr anchorCtr="0" anchor="ctr" bIns="27300" lIns="45450" spcFirstLastPara="1" rIns="45450" wrap="square" tIns="27300">
            <a:noAutofit/>
          </a:bodyPr>
          <a:lstStyle/>
          <a:p>
            <a:pPr indent="0" lvl="0" marL="0" marR="0" rtl="0" algn="ctr">
              <a:lnSpc>
                <a:spcPct val="100000"/>
              </a:lnSpc>
              <a:spcBef>
                <a:spcPts val="0"/>
              </a:spcBef>
              <a:spcAft>
                <a:spcPts val="0"/>
              </a:spcAft>
              <a:buNone/>
            </a:pPr>
            <a:r>
              <a:rPr b="1" lang="en" sz="1900">
                <a:solidFill>
                  <a:srgbClr val="7ED957"/>
                </a:solidFill>
                <a:latin typeface="Proxima Nova"/>
                <a:ea typeface="Proxima Nova"/>
                <a:cs typeface="Proxima Nova"/>
                <a:sym typeface="Proxima Nova"/>
              </a:rPr>
              <a:t>Memorandum of Understanding (MOU), Memorandum of Agreement (MOA)</a:t>
            </a:r>
            <a:endParaRPr sz="1900"/>
          </a:p>
          <a:p>
            <a:pPr indent="0" lvl="0" marL="0" rtl="0" algn="ctr">
              <a:spcBef>
                <a:spcPts val="0"/>
              </a:spcBef>
              <a:spcAft>
                <a:spcPts val="800"/>
              </a:spcAft>
              <a:buNone/>
            </a:pPr>
            <a:r>
              <a:rPr lang="en" sz="1800">
                <a:solidFill>
                  <a:schemeClr val="lt1"/>
                </a:solidFill>
                <a:latin typeface="Proxima Nova"/>
                <a:ea typeface="Proxima Nova"/>
                <a:cs typeface="Proxima Nova"/>
                <a:sym typeface="Proxima Nova"/>
              </a:rPr>
              <a:t>Formal agreements between Indigenous Communities and non-Indigenous entities (private landowners, State entities, etc.)</a:t>
            </a:r>
            <a:endParaRPr sz="1800">
              <a:solidFill>
                <a:schemeClr val="lt1"/>
              </a:solidFill>
              <a:latin typeface="Proxima Nova"/>
              <a:ea typeface="Proxima Nova"/>
              <a:cs typeface="Proxima Nova"/>
              <a:sym typeface="Proxima Nova"/>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574" name="Shape 574"/>
        <p:cNvGrpSpPr/>
        <p:nvPr/>
      </p:nvGrpSpPr>
      <p:grpSpPr>
        <a:xfrm>
          <a:off x="0" y="0"/>
          <a:ext cx="0" cy="0"/>
          <a:chOff x="0" y="0"/>
          <a:chExt cx="0" cy="0"/>
        </a:xfrm>
      </p:grpSpPr>
      <p:sp>
        <p:nvSpPr>
          <p:cNvPr id="575" name="Google Shape;575;p82"/>
          <p:cNvSpPr txBox="1"/>
          <p:nvPr>
            <p:ph type="ctrTitle"/>
          </p:nvPr>
        </p:nvSpPr>
        <p:spPr>
          <a:xfrm>
            <a:off x="256375" y="96950"/>
            <a:ext cx="8520600" cy="14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sz="2700">
                <a:solidFill>
                  <a:srgbClr val="7ED957"/>
                </a:solidFill>
                <a:latin typeface="Proxima Nova"/>
                <a:ea typeface="Proxima Nova"/>
                <a:cs typeface="Proxima Nova"/>
                <a:sym typeface="Proxima Nova"/>
              </a:rPr>
              <a:t>Implementation and Application of Indigenous Science and TEK</a:t>
            </a:r>
            <a:endParaRPr b="1" sz="2700">
              <a:solidFill>
                <a:srgbClr val="7ED957"/>
              </a:solidFill>
              <a:latin typeface="Proxima Nova"/>
              <a:ea typeface="Proxima Nova"/>
              <a:cs typeface="Proxima Nova"/>
              <a:sym typeface="Proxima Nova"/>
            </a:endParaRPr>
          </a:p>
          <a:p>
            <a:pPr indent="0" lvl="0" marL="0" rtl="0" algn="l">
              <a:spcBef>
                <a:spcPts val="800"/>
              </a:spcBef>
              <a:spcAft>
                <a:spcPts val="0"/>
              </a:spcAft>
              <a:buClr>
                <a:schemeClr val="dk1"/>
              </a:buClr>
              <a:buSzPts val="1100"/>
              <a:buFont typeface="Arial"/>
              <a:buNone/>
            </a:pPr>
            <a:r>
              <a:rPr lang="en" sz="2000">
                <a:solidFill>
                  <a:schemeClr val="lt1"/>
                </a:solidFill>
                <a:latin typeface="Proxima Nova"/>
                <a:ea typeface="Proxima Nova"/>
                <a:cs typeface="Proxima Nova"/>
                <a:sym typeface="Proxima Nova"/>
              </a:rPr>
              <a:t>Conditions / characteristics necessary:</a:t>
            </a:r>
            <a:endParaRPr sz="2000">
              <a:solidFill>
                <a:schemeClr val="lt1"/>
              </a:solidFill>
              <a:latin typeface="Proxima Nova"/>
              <a:ea typeface="Proxima Nova"/>
              <a:cs typeface="Proxima Nova"/>
              <a:sym typeface="Proxima Nova"/>
            </a:endParaRPr>
          </a:p>
          <a:p>
            <a:pPr indent="0" lvl="0" marL="0" rtl="0" algn="l">
              <a:spcBef>
                <a:spcPts val="800"/>
              </a:spcBef>
              <a:spcAft>
                <a:spcPts val="0"/>
              </a:spcAft>
              <a:buSzPts val="1100"/>
              <a:buNone/>
            </a:pPr>
            <a:r>
              <a:t/>
            </a:r>
            <a:endParaRPr b="1" sz="3000">
              <a:solidFill>
                <a:srgbClr val="7ED957"/>
              </a:solidFill>
              <a:latin typeface="Proxima Nova"/>
              <a:ea typeface="Proxima Nova"/>
              <a:cs typeface="Proxima Nova"/>
              <a:sym typeface="Proxima Nova"/>
            </a:endParaRPr>
          </a:p>
          <a:p>
            <a:pPr indent="0" lvl="0" marL="0" rtl="0" algn="l">
              <a:spcBef>
                <a:spcPts val="800"/>
              </a:spcBef>
              <a:spcAft>
                <a:spcPts val="800"/>
              </a:spcAft>
              <a:buNone/>
            </a:pPr>
            <a:r>
              <a:t/>
            </a:r>
            <a:endParaRPr sz="2000">
              <a:solidFill>
                <a:schemeClr val="lt1"/>
              </a:solidFill>
              <a:latin typeface="Proxima Nova"/>
              <a:ea typeface="Proxima Nova"/>
              <a:cs typeface="Proxima Nova"/>
              <a:sym typeface="Proxima Nova"/>
            </a:endParaRPr>
          </a:p>
        </p:txBody>
      </p:sp>
      <p:sp>
        <p:nvSpPr>
          <p:cNvPr id="576" name="Google Shape;576;p82"/>
          <p:cNvSpPr/>
          <p:nvPr/>
        </p:nvSpPr>
        <p:spPr>
          <a:xfrm>
            <a:off x="303825" y="1481625"/>
            <a:ext cx="2698200" cy="3472800"/>
          </a:xfrm>
          <a:prstGeom prst="rect">
            <a:avLst/>
          </a:prstGeom>
          <a:solidFill>
            <a:srgbClr val="2F444B"/>
          </a:solidFill>
          <a:ln>
            <a:noFill/>
          </a:ln>
        </p:spPr>
        <p:txBody>
          <a:bodyPr anchorCtr="0" anchor="ctr" bIns="104350" lIns="208775" spcFirstLastPara="1" rIns="208775" wrap="square" tIns="104350">
            <a:noAutofit/>
          </a:bodyPr>
          <a:lstStyle/>
          <a:p>
            <a:pPr indent="0" lvl="0" marL="0" marR="0" rtl="0" algn="ctr">
              <a:lnSpc>
                <a:spcPct val="100000"/>
              </a:lnSpc>
              <a:spcBef>
                <a:spcPts val="0"/>
              </a:spcBef>
              <a:spcAft>
                <a:spcPts val="0"/>
              </a:spcAft>
              <a:buNone/>
            </a:pPr>
            <a:r>
              <a:t/>
            </a:r>
            <a:endParaRPr b="0" i="0" sz="3197" u="none" cap="none" strike="noStrike">
              <a:solidFill>
                <a:srgbClr val="000000"/>
              </a:solidFill>
              <a:latin typeface="Arial"/>
              <a:ea typeface="Arial"/>
              <a:cs typeface="Arial"/>
              <a:sym typeface="Arial"/>
            </a:endParaRPr>
          </a:p>
        </p:txBody>
      </p:sp>
      <p:sp>
        <p:nvSpPr>
          <p:cNvPr id="577" name="Google Shape;577;p82"/>
          <p:cNvSpPr txBox="1"/>
          <p:nvPr/>
        </p:nvSpPr>
        <p:spPr>
          <a:xfrm>
            <a:off x="313700" y="1481625"/>
            <a:ext cx="2616300" cy="3892500"/>
          </a:xfrm>
          <a:prstGeom prst="rect">
            <a:avLst/>
          </a:prstGeom>
          <a:noFill/>
          <a:ln>
            <a:noFill/>
          </a:ln>
        </p:spPr>
        <p:txBody>
          <a:bodyPr anchorCtr="0" anchor="t" bIns="62650" lIns="104350" spcFirstLastPara="1" rIns="104350" wrap="square" tIns="62650">
            <a:spAutoFit/>
          </a:bodyPr>
          <a:lstStyle/>
          <a:p>
            <a:pPr indent="0" lvl="0" marL="0" marR="0" rtl="0" algn="l">
              <a:lnSpc>
                <a:spcPct val="100000"/>
              </a:lnSpc>
              <a:spcBef>
                <a:spcPts val="1370"/>
              </a:spcBef>
              <a:spcAft>
                <a:spcPts val="0"/>
              </a:spcAft>
              <a:buNone/>
            </a:pPr>
            <a:r>
              <a:rPr b="1" lang="en" sz="2200">
                <a:solidFill>
                  <a:srgbClr val="46BEC6"/>
                </a:solidFill>
                <a:latin typeface="Proxima Nova"/>
                <a:ea typeface="Proxima Nova"/>
                <a:cs typeface="Proxima Nova"/>
                <a:sym typeface="Proxima Nova"/>
              </a:rPr>
              <a:t>Ensured Privacy</a:t>
            </a:r>
            <a:endParaRPr sz="1600">
              <a:solidFill>
                <a:schemeClr val="lt1"/>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rPr lang="en" sz="1600">
                <a:solidFill>
                  <a:schemeClr val="lt1"/>
                </a:solidFill>
                <a:latin typeface="Proxima Nova"/>
                <a:ea typeface="Proxima Nova"/>
                <a:cs typeface="Proxima Nova"/>
                <a:sym typeface="Proxima Nova"/>
              </a:rPr>
              <a:t>Safety</a:t>
            </a:r>
            <a:endParaRPr sz="1600">
              <a:solidFill>
                <a:schemeClr val="lt1"/>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rPr lang="en" sz="1600">
                <a:solidFill>
                  <a:schemeClr val="lt1"/>
                </a:solidFill>
                <a:latin typeface="Proxima Nova"/>
                <a:ea typeface="Proxima Nova"/>
                <a:cs typeface="Proxima Nova"/>
                <a:sym typeface="Proxima Nova"/>
              </a:rPr>
              <a:t>Free from outside observation (e.g., photography)</a:t>
            </a:r>
            <a:endParaRPr sz="1600">
              <a:solidFill>
                <a:schemeClr val="lt1"/>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rPr lang="en" sz="1600">
                <a:solidFill>
                  <a:schemeClr val="lt1"/>
                </a:solidFill>
                <a:latin typeface="Proxima Nova"/>
                <a:ea typeface="Proxima Nova"/>
                <a:cs typeface="Proxima Nova"/>
                <a:sym typeface="Proxima Nova"/>
              </a:rPr>
              <a:t>Partnering organizations should not ask why or for what purpose specific stewardship activities are executed</a:t>
            </a:r>
            <a:endParaRPr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700">
              <a:solidFill>
                <a:schemeClr val="lt1"/>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t/>
            </a:r>
            <a:endParaRPr sz="1600">
              <a:solidFill>
                <a:schemeClr val="lt1"/>
              </a:solidFill>
              <a:latin typeface="Proxima Nova"/>
              <a:ea typeface="Proxima Nova"/>
              <a:cs typeface="Proxima Nova"/>
              <a:sym typeface="Proxima Nova"/>
            </a:endParaRPr>
          </a:p>
        </p:txBody>
      </p:sp>
      <p:sp>
        <p:nvSpPr>
          <p:cNvPr id="578" name="Google Shape;578;p82"/>
          <p:cNvSpPr/>
          <p:nvPr/>
        </p:nvSpPr>
        <p:spPr>
          <a:xfrm>
            <a:off x="3167575" y="1481625"/>
            <a:ext cx="2698200" cy="3472800"/>
          </a:xfrm>
          <a:prstGeom prst="rect">
            <a:avLst/>
          </a:prstGeom>
          <a:solidFill>
            <a:srgbClr val="2F444B"/>
          </a:solidFill>
          <a:ln>
            <a:noFill/>
          </a:ln>
        </p:spPr>
        <p:txBody>
          <a:bodyPr anchorCtr="0" anchor="ctr" bIns="104350" lIns="208775" spcFirstLastPara="1" rIns="208775" wrap="square" tIns="104350">
            <a:noAutofit/>
          </a:bodyPr>
          <a:lstStyle/>
          <a:p>
            <a:pPr indent="0" lvl="0" marL="0" marR="0" rtl="0" algn="ctr">
              <a:lnSpc>
                <a:spcPct val="100000"/>
              </a:lnSpc>
              <a:spcBef>
                <a:spcPts val="0"/>
              </a:spcBef>
              <a:spcAft>
                <a:spcPts val="0"/>
              </a:spcAft>
              <a:buNone/>
            </a:pPr>
            <a:r>
              <a:t/>
            </a:r>
            <a:endParaRPr b="0" i="0" sz="3197" u="none" cap="none" strike="noStrike">
              <a:solidFill>
                <a:srgbClr val="000000"/>
              </a:solidFill>
              <a:latin typeface="Arial"/>
              <a:ea typeface="Arial"/>
              <a:cs typeface="Arial"/>
              <a:sym typeface="Arial"/>
            </a:endParaRPr>
          </a:p>
        </p:txBody>
      </p:sp>
      <p:sp>
        <p:nvSpPr>
          <p:cNvPr id="579" name="Google Shape;579;p82"/>
          <p:cNvSpPr txBox="1"/>
          <p:nvPr/>
        </p:nvSpPr>
        <p:spPr>
          <a:xfrm>
            <a:off x="3177450" y="1481625"/>
            <a:ext cx="2616300" cy="2386800"/>
          </a:xfrm>
          <a:prstGeom prst="rect">
            <a:avLst/>
          </a:prstGeom>
          <a:noFill/>
          <a:ln>
            <a:noFill/>
          </a:ln>
        </p:spPr>
        <p:txBody>
          <a:bodyPr anchorCtr="0" anchor="t" bIns="62650" lIns="104350" spcFirstLastPara="1" rIns="104350" wrap="square" tIns="62650">
            <a:spAutoFit/>
          </a:bodyPr>
          <a:lstStyle/>
          <a:p>
            <a:pPr indent="0" lvl="0" marL="0" marR="0" rtl="0" algn="l">
              <a:lnSpc>
                <a:spcPct val="100000"/>
              </a:lnSpc>
              <a:spcBef>
                <a:spcPts val="1370"/>
              </a:spcBef>
              <a:spcAft>
                <a:spcPts val="0"/>
              </a:spcAft>
              <a:buNone/>
            </a:pPr>
            <a:r>
              <a:rPr b="1" lang="en" sz="2200">
                <a:solidFill>
                  <a:srgbClr val="46BEC6"/>
                </a:solidFill>
                <a:latin typeface="Proxima Nova"/>
                <a:ea typeface="Proxima Nova"/>
                <a:cs typeface="Proxima Nova"/>
                <a:sym typeface="Proxima Nova"/>
              </a:rPr>
              <a:t>Unrestricted Access</a:t>
            </a:r>
            <a:endParaRPr b="1" sz="2200">
              <a:solidFill>
                <a:srgbClr val="46BEC6"/>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rPr lang="en" sz="1600">
                <a:solidFill>
                  <a:schemeClr val="lt1"/>
                </a:solidFill>
                <a:latin typeface="Proxima Nova"/>
                <a:ea typeface="Proxima Nova"/>
                <a:cs typeface="Proxima Nova"/>
                <a:sym typeface="Proxima Nova"/>
              </a:rPr>
              <a:t>Facilitated by aforementioned agreements and partnerships</a:t>
            </a:r>
            <a:endParaRPr sz="1700">
              <a:solidFill>
                <a:schemeClr val="lt1"/>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t/>
            </a:r>
            <a:endParaRPr sz="1600">
              <a:solidFill>
                <a:schemeClr val="lt1"/>
              </a:solidFill>
              <a:latin typeface="Proxima Nova"/>
              <a:ea typeface="Proxima Nova"/>
              <a:cs typeface="Proxima Nova"/>
              <a:sym typeface="Proxima Nova"/>
            </a:endParaRPr>
          </a:p>
        </p:txBody>
      </p:sp>
      <p:sp>
        <p:nvSpPr>
          <p:cNvPr id="580" name="Google Shape;580;p82"/>
          <p:cNvSpPr/>
          <p:nvPr/>
        </p:nvSpPr>
        <p:spPr>
          <a:xfrm>
            <a:off x="6103350" y="1481625"/>
            <a:ext cx="2698200" cy="3472800"/>
          </a:xfrm>
          <a:prstGeom prst="rect">
            <a:avLst/>
          </a:prstGeom>
          <a:solidFill>
            <a:srgbClr val="2F444B"/>
          </a:solidFill>
          <a:ln>
            <a:noFill/>
          </a:ln>
        </p:spPr>
        <p:txBody>
          <a:bodyPr anchorCtr="0" anchor="ctr" bIns="104350" lIns="208775" spcFirstLastPara="1" rIns="208775" wrap="square" tIns="104350">
            <a:noAutofit/>
          </a:bodyPr>
          <a:lstStyle/>
          <a:p>
            <a:pPr indent="0" lvl="0" marL="0" marR="0" rtl="0" algn="ctr">
              <a:lnSpc>
                <a:spcPct val="100000"/>
              </a:lnSpc>
              <a:spcBef>
                <a:spcPts val="0"/>
              </a:spcBef>
              <a:spcAft>
                <a:spcPts val="0"/>
              </a:spcAft>
              <a:buNone/>
            </a:pPr>
            <a:r>
              <a:t/>
            </a:r>
            <a:endParaRPr b="0" i="0" sz="3197" u="none" cap="none" strike="noStrike">
              <a:solidFill>
                <a:srgbClr val="000000"/>
              </a:solidFill>
              <a:latin typeface="Arial"/>
              <a:ea typeface="Arial"/>
              <a:cs typeface="Arial"/>
              <a:sym typeface="Arial"/>
            </a:endParaRPr>
          </a:p>
        </p:txBody>
      </p:sp>
      <p:sp>
        <p:nvSpPr>
          <p:cNvPr id="581" name="Google Shape;581;p82"/>
          <p:cNvSpPr txBox="1"/>
          <p:nvPr/>
        </p:nvSpPr>
        <p:spPr>
          <a:xfrm>
            <a:off x="6113225" y="1481625"/>
            <a:ext cx="2616300" cy="1894200"/>
          </a:xfrm>
          <a:prstGeom prst="rect">
            <a:avLst/>
          </a:prstGeom>
          <a:noFill/>
          <a:ln>
            <a:noFill/>
          </a:ln>
        </p:spPr>
        <p:txBody>
          <a:bodyPr anchorCtr="0" anchor="t" bIns="62650" lIns="104350" spcFirstLastPara="1" rIns="104350" wrap="square" tIns="62650">
            <a:spAutoFit/>
          </a:bodyPr>
          <a:lstStyle/>
          <a:p>
            <a:pPr indent="0" lvl="0" marL="0" marR="0" rtl="0" algn="l">
              <a:lnSpc>
                <a:spcPct val="100000"/>
              </a:lnSpc>
              <a:spcBef>
                <a:spcPts val="1370"/>
              </a:spcBef>
              <a:spcAft>
                <a:spcPts val="0"/>
              </a:spcAft>
              <a:buNone/>
            </a:pPr>
            <a:r>
              <a:rPr b="1" lang="en" sz="2200">
                <a:solidFill>
                  <a:srgbClr val="46BEC6"/>
                </a:solidFill>
                <a:latin typeface="Proxima Nova"/>
                <a:ea typeface="Proxima Nova"/>
                <a:cs typeface="Proxima Nova"/>
                <a:sym typeface="Proxima Nova"/>
              </a:rPr>
              <a:t>Site Selection Choice</a:t>
            </a:r>
            <a:endParaRPr b="1" sz="2200">
              <a:solidFill>
                <a:srgbClr val="46BEC6"/>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rPr lang="en" sz="1600">
                <a:solidFill>
                  <a:schemeClr val="lt1"/>
                </a:solidFill>
                <a:latin typeface="Proxima Nova"/>
                <a:ea typeface="Proxima Nova"/>
                <a:cs typeface="Proxima Nova"/>
                <a:sym typeface="Proxima Nova"/>
              </a:rPr>
              <a:t>Accessible to Elders</a:t>
            </a:r>
            <a:endParaRPr sz="1600">
              <a:solidFill>
                <a:schemeClr val="lt1"/>
              </a:solidFill>
              <a:latin typeface="Proxima Nova"/>
              <a:ea typeface="Proxima Nova"/>
              <a:cs typeface="Proxima Nova"/>
              <a:sym typeface="Proxima Nova"/>
            </a:endParaRPr>
          </a:p>
          <a:p>
            <a:pPr indent="0" lvl="0" marL="0" marR="0" rtl="0" algn="l">
              <a:lnSpc>
                <a:spcPct val="100000"/>
              </a:lnSpc>
              <a:spcBef>
                <a:spcPts val="1370"/>
              </a:spcBef>
              <a:spcAft>
                <a:spcPts val="0"/>
              </a:spcAft>
              <a:buNone/>
            </a:pPr>
            <a:r>
              <a:rPr lang="en" sz="1600">
                <a:solidFill>
                  <a:schemeClr val="lt1"/>
                </a:solidFill>
                <a:latin typeface="Proxima Nova"/>
                <a:ea typeface="Proxima Nova"/>
                <a:cs typeface="Proxima Nova"/>
                <a:sym typeface="Proxima Nova"/>
              </a:rPr>
              <a:t>Accessible to individuals with restricted mobility</a:t>
            </a:r>
            <a:endParaRPr sz="1600">
              <a:solidFill>
                <a:schemeClr val="lt1"/>
              </a:solidFill>
              <a:latin typeface="Proxima Nova"/>
              <a:ea typeface="Proxima Nova"/>
              <a:cs typeface="Proxima Nova"/>
              <a:sym typeface="Proxima Nova"/>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585" name="Shape 585"/>
        <p:cNvGrpSpPr/>
        <p:nvPr/>
      </p:nvGrpSpPr>
      <p:grpSpPr>
        <a:xfrm>
          <a:off x="0" y="0"/>
          <a:ext cx="0" cy="0"/>
          <a:chOff x="0" y="0"/>
          <a:chExt cx="0" cy="0"/>
        </a:xfrm>
      </p:grpSpPr>
      <p:sp>
        <p:nvSpPr>
          <p:cNvPr id="586" name="Google Shape;586;p83"/>
          <p:cNvSpPr txBox="1"/>
          <p:nvPr>
            <p:ph type="title"/>
          </p:nvPr>
        </p:nvSpPr>
        <p:spPr>
          <a:xfrm>
            <a:off x="320050" y="88908"/>
            <a:ext cx="8520600" cy="967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800"/>
              </a:spcAft>
              <a:buNone/>
            </a:pPr>
            <a:r>
              <a:rPr b="1" lang="en" sz="2700">
                <a:solidFill>
                  <a:srgbClr val="7ED957"/>
                </a:solidFill>
                <a:latin typeface="Proxima Nova"/>
                <a:ea typeface="Proxima Nova"/>
                <a:cs typeface="Proxima Nova"/>
                <a:sym typeface="Proxima Nova"/>
              </a:rPr>
              <a:t>Recognition and Application of Indigenous Sovereignty, Tribal Governance, and Rights</a:t>
            </a:r>
            <a:endParaRPr sz="1400">
              <a:solidFill>
                <a:schemeClr val="lt1"/>
              </a:solidFill>
              <a:latin typeface="Hammersmith One"/>
              <a:ea typeface="Hammersmith One"/>
              <a:cs typeface="Hammersmith One"/>
              <a:sym typeface="Hammersmith One"/>
            </a:endParaRPr>
          </a:p>
        </p:txBody>
      </p:sp>
      <p:sp>
        <p:nvSpPr>
          <p:cNvPr id="587" name="Google Shape;587;p83"/>
          <p:cNvSpPr/>
          <p:nvPr/>
        </p:nvSpPr>
        <p:spPr>
          <a:xfrm>
            <a:off x="320050" y="1056700"/>
            <a:ext cx="8520600" cy="1937100"/>
          </a:xfrm>
          <a:prstGeom prst="rect">
            <a:avLst/>
          </a:prstGeom>
          <a:solidFill>
            <a:srgbClr val="2F444B"/>
          </a:solidFill>
          <a:ln>
            <a:noFill/>
          </a:ln>
        </p:spPr>
        <p:txBody>
          <a:bodyPr anchorCtr="0" anchor="ctr" bIns="104350" lIns="208775" spcFirstLastPara="1" rIns="208775" wrap="square" tIns="104350">
            <a:noAutofit/>
          </a:bodyPr>
          <a:lstStyle/>
          <a:p>
            <a:pPr indent="0" lvl="0" marL="0" marR="0" rtl="0" algn="ctr">
              <a:lnSpc>
                <a:spcPct val="100000"/>
              </a:lnSpc>
              <a:spcBef>
                <a:spcPts val="0"/>
              </a:spcBef>
              <a:spcAft>
                <a:spcPts val="0"/>
              </a:spcAft>
              <a:buNone/>
            </a:pPr>
            <a:r>
              <a:t/>
            </a:r>
            <a:endParaRPr b="0" i="0" sz="3197" u="none" cap="none" strike="noStrike">
              <a:solidFill>
                <a:srgbClr val="000000"/>
              </a:solidFill>
              <a:latin typeface="Arial"/>
              <a:ea typeface="Arial"/>
              <a:cs typeface="Arial"/>
              <a:sym typeface="Arial"/>
            </a:endParaRPr>
          </a:p>
        </p:txBody>
      </p:sp>
      <p:sp>
        <p:nvSpPr>
          <p:cNvPr id="588" name="Google Shape;588;p83"/>
          <p:cNvSpPr/>
          <p:nvPr/>
        </p:nvSpPr>
        <p:spPr>
          <a:xfrm>
            <a:off x="320050" y="3135400"/>
            <a:ext cx="8520600" cy="1599000"/>
          </a:xfrm>
          <a:prstGeom prst="rect">
            <a:avLst/>
          </a:prstGeom>
          <a:solidFill>
            <a:srgbClr val="2F444B"/>
          </a:solidFill>
          <a:ln>
            <a:noFill/>
          </a:ln>
        </p:spPr>
        <p:txBody>
          <a:bodyPr anchorCtr="0" anchor="ctr" bIns="104350" lIns="208775" spcFirstLastPara="1" rIns="208775" wrap="square" tIns="104350">
            <a:noAutofit/>
          </a:bodyPr>
          <a:lstStyle/>
          <a:p>
            <a:pPr indent="0" lvl="0" marL="0" marR="0" rtl="0" algn="ctr">
              <a:lnSpc>
                <a:spcPct val="100000"/>
              </a:lnSpc>
              <a:spcBef>
                <a:spcPts val="0"/>
              </a:spcBef>
              <a:spcAft>
                <a:spcPts val="0"/>
              </a:spcAft>
              <a:buNone/>
            </a:pPr>
            <a:r>
              <a:t/>
            </a:r>
            <a:endParaRPr b="0" i="0" sz="3197" u="none" cap="none" strike="noStrike">
              <a:solidFill>
                <a:srgbClr val="000000"/>
              </a:solidFill>
              <a:latin typeface="Arial"/>
              <a:ea typeface="Arial"/>
              <a:cs typeface="Arial"/>
              <a:sym typeface="Arial"/>
            </a:endParaRPr>
          </a:p>
        </p:txBody>
      </p:sp>
      <p:sp>
        <p:nvSpPr>
          <p:cNvPr id="589" name="Google Shape;589;p83"/>
          <p:cNvSpPr txBox="1"/>
          <p:nvPr>
            <p:ph idx="1" type="body"/>
          </p:nvPr>
        </p:nvSpPr>
        <p:spPr>
          <a:xfrm>
            <a:off x="311700" y="1056700"/>
            <a:ext cx="8520600" cy="377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46BEC6"/>
                </a:solidFill>
                <a:latin typeface="Proxima Nova"/>
                <a:ea typeface="Proxima Nova"/>
                <a:cs typeface="Proxima Nova"/>
                <a:sym typeface="Proxima Nova"/>
              </a:rPr>
              <a:t>GOVERNANCE</a:t>
            </a:r>
            <a:endParaRPr b="1">
              <a:solidFill>
                <a:srgbClr val="46BEC6"/>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Calibri"/>
              <a:buChar char="●"/>
            </a:pPr>
            <a:r>
              <a:rPr lang="en">
                <a:solidFill>
                  <a:schemeClr val="lt1"/>
                </a:solidFill>
                <a:latin typeface="Proxima Nova"/>
                <a:ea typeface="Proxima Nova"/>
                <a:cs typeface="Proxima Nova"/>
                <a:sym typeface="Proxima Nova"/>
              </a:rPr>
              <a:t>Tribal beneficial/cultural uses of water</a:t>
            </a:r>
            <a:endParaRPr>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Calibri"/>
              <a:buChar char="●"/>
            </a:pPr>
            <a:r>
              <a:rPr lang="en">
                <a:solidFill>
                  <a:schemeClr val="lt1"/>
                </a:solidFill>
                <a:latin typeface="Proxima Nova"/>
                <a:ea typeface="Proxima Nova"/>
                <a:cs typeface="Proxima Nova"/>
                <a:sym typeface="Proxima Nova"/>
              </a:rPr>
              <a:t>Recognition of Tribal water rights</a:t>
            </a:r>
            <a:endParaRPr>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Calibri"/>
              <a:buChar char="●"/>
            </a:pPr>
            <a:r>
              <a:rPr lang="en">
                <a:solidFill>
                  <a:schemeClr val="lt1"/>
                </a:solidFill>
                <a:latin typeface="Proxima Nova"/>
                <a:ea typeface="Proxima Nova"/>
                <a:cs typeface="Proxima Nova"/>
                <a:sym typeface="Proxima Nova"/>
              </a:rPr>
              <a:t>Indigenous representation in planning processes</a:t>
            </a:r>
            <a:endParaRPr>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Calibri"/>
              <a:buChar char="●"/>
            </a:pPr>
            <a:r>
              <a:rPr lang="en">
                <a:solidFill>
                  <a:schemeClr val="lt1"/>
                </a:solidFill>
                <a:latin typeface="Proxima Nova"/>
                <a:ea typeface="Proxima Nova"/>
                <a:cs typeface="Proxima Nova"/>
                <a:sym typeface="Proxima Nova"/>
              </a:rPr>
              <a:t>An inter-Tribal Council for the Delta</a:t>
            </a:r>
            <a:endParaRPr>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a:solidFill>
                  <a:schemeClr val="lt1"/>
                </a:solidFill>
                <a:latin typeface="Proxima Nova"/>
                <a:ea typeface="Proxima Nova"/>
                <a:cs typeface="Proxima Nova"/>
                <a:sym typeface="Proxima Nova"/>
              </a:rPr>
              <a:t>Funding for Tribal Stewardship and Indigenous Science Groups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b="1" lang="en">
                <a:solidFill>
                  <a:srgbClr val="46BEC6"/>
                </a:solidFill>
                <a:latin typeface="Proxima Nova"/>
                <a:ea typeface="Proxima Nova"/>
                <a:cs typeface="Proxima Nova"/>
                <a:sym typeface="Proxima Nova"/>
              </a:rPr>
              <a:t>KEY ASPECTS TO ADDRESS</a:t>
            </a:r>
            <a:endParaRPr b="1">
              <a:solidFill>
                <a:srgbClr val="46BEC6"/>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Calibri"/>
              <a:buChar char="●"/>
            </a:pPr>
            <a:r>
              <a:rPr lang="en">
                <a:solidFill>
                  <a:schemeClr val="lt1"/>
                </a:solidFill>
                <a:latin typeface="Proxima Nova"/>
                <a:ea typeface="Proxima Nova"/>
                <a:cs typeface="Proxima Nova"/>
                <a:sym typeface="Proxima Nova"/>
              </a:rPr>
              <a:t>Data Sovereignty</a:t>
            </a:r>
            <a:endParaRPr>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a:solidFill>
                  <a:schemeClr val="lt1"/>
                </a:solidFill>
                <a:latin typeface="Proxima Nova"/>
                <a:ea typeface="Proxima Nova"/>
                <a:cs typeface="Proxima Nova"/>
                <a:sym typeface="Proxima Nova"/>
              </a:rPr>
              <a:t>Education (of colonial legacies and current challenges, especially for youth)</a:t>
            </a:r>
            <a:endParaRPr>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a:solidFill>
                  <a:schemeClr val="lt1"/>
                </a:solidFill>
                <a:latin typeface="Proxima Nova"/>
                <a:ea typeface="Proxima Nova"/>
                <a:cs typeface="Proxima Nova"/>
                <a:sym typeface="Proxima Nova"/>
              </a:rPr>
              <a:t>Food sovereignty </a:t>
            </a:r>
            <a:endParaRPr>
              <a:solidFill>
                <a:schemeClr val="lt1"/>
              </a:solidFill>
              <a:latin typeface="Proxima Nova"/>
              <a:ea typeface="Proxima Nova"/>
              <a:cs typeface="Proxima Nova"/>
              <a:sym typeface="Proxima Nova"/>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593" name="Shape 593"/>
        <p:cNvGrpSpPr/>
        <p:nvPr/>
      </p:nvGrpSpPr>
      <p:grpSpPr>
        <a:xfrm>
          <a:off x="0" y="0"/>
          <a:ext cx="0" cy="0"/>
          <a:chOff x="0" y="0"/>
          <a:chExt cx="0" cy="0"/>
        </a:xfrm>
      </p:grpSpPr>
      <p:sp>
        <p:nvSpPr>
          <p:cNvPr id="594" name="Google Shape;594;p84"/>
          <p:cNvSpPr txBox="1"/>
          <p:nvPr>
            <p:ph type="ctrTitle"/>
          </p:nvPr>
        </p:nvSpPr>
        <p:spPr>
          <a:xfrm>
            <a:off x="256375" y="259775"/>
            <a:ext cx="8520600" cy="7203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800"/>
              </a:spcAft>
              <a:buSzPts val="1100"/>
              <a:buNone/>
            </a:pPr>
            <a:r>
              <a:rPr b="1" lang="en" sz="3000">
                <a:solidFill>
                  <a:srgbClr val="7ED957"/>
                </a:solidFill>
                <a:latin typeface="Proxima Nova"/>
                <a:ea typeface="Proxima Nova"/>
                <a:cs typeface="Proxima Nova"/>
                <a:sym typeface="Proxima Nova"/>
              </a:rPr>
              <a:t>Overall Results Summary</a:t>
            </a:r>
            <a:endParaRPr b="1" sz="3000">
              <a:solidFill>
                <a:srgbClr val="7ED957"/>
              </a:solidFill>
              <a:latin typeface="Proxima Nova"/>
              <a:ea typeface="Proxima Nova"/>
              <a:cs typeface="Proxima Nova"/>
              <a:sym typeface="Proxima Nova"/>
            </a:endParaRPr>
          </a:p>
        </p:txBody>
      </p:sp>
      <p:sp>
        <p:nvSpPr>
          <p:cNvPr id="595" name="Google Shape;595;p84"/>
          <p:cNvSpPr txBox="1"/>
          <p:nvPr/>
        </p:nvSpPr>
        <p:spPr>
          <a:xfrm>
            <a:off x="403925" y="1087075"/>
            <a:ext cx="78732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800"/>
              </a:spcAft>
              <a:buNone/>
            </a:pPr>
            <a:r>
              <a:rPr b="1" lang="en" sz="2100">
                <a:solidFill>
                  <a:schemeClr val="lt1"/>
                </a:solidFill>
                <a:latin typeface="Proxima Nova"/>
                <a:ea typeface="Proxima Nova"/>
                <a:cs typeface="Proxima Nova"/>
                <a:sym typeface="Proxima Nova"/>
              </a:rPr>
              <a:t>Integrated, watershed scale restoration, combined </a:t>
            </a:r>
            <a:r>
              <a:rPr b="1" lang="en" sz="2100">
                <a:solidFill>
                  <a:schemeClr val="lt1"/>
                </a:solidFill>
                <a:latin typeface="Proxima Nova"/>
                <a:ea typeface="Proxima Nova"/>
                <a:cs typeface="Proxima Nova"/>
                <a:sym typeface="Proxima Nova"/>
              </a:rPr>
              <a:t>with</a:t>
            </a:r>
            <a:r>
              <a:rPr b="1" lang="en" sz="2100">
                <a:solidFill>
                  <a:schemeClr val="lt1"/>
                </a:solidFill>
                <a:latin typeface="Proxima Nova"/>
                <a:ea typeface="Proxima Nova"/>
                <a:cs typeface="Proxima Nova"/>
                <a:sym typeface="Proxima Nova"/>
              </a:rPr>
              <a:t> increased flows are the most important/most valued scenario parameters.</a:t>
            </a:r>
            <a:endParaRPr sz="2100">
              <a:solidFill>
                <a:schemeClr val="lt1"/>
              </a:solidFill>
              <a:latin typeface="Proxima Nova"/>
              <a:ea typeface="Proxima Nova"/>
              <a:cs typeface="Proxima Nova"/>
              <a:sym typeface="Proxima Nova"/>
            </a:endParaRPr>
          </a:p>
        </p:txBody>
      </p:sp>
      <p:sp>
        <p:nvSpPr>
          <p:cNvPr id="596" name="Google Shape;596;p84"/>
          <p:cNvSpPr/>
          <p:nvPr/>
        </p:nvSpPr>
        <p:spPr>
          <a:xfrm>
            <a:off x="691250" y="2667675"/>
            <a:ext cx="3680700" cy="1589700"/>
          </a:xfrm>
          <a:prstGeom prst="rect">
            <a:avLst/>
          </a:prstGeom>
          <a:solidFill>
            <a:srgbClr val="2F444B"/>
          </a:solidFill>
          <a:ln>
            <a:noFill/>
          </a:ln>
        </p:spPr>
        <p:txBody>
          <a:bodyPr anchorCtr="0" anchor="ctr" bIns="104350" lIns="208775" spcFirstLastPara="1" rIns="208775" wrap="square" tIns="104350">
            <a:noAutofit/>
          </a:bodyPr>
          <a:lstStyle/>
          <a:p>
            <a:pPr indent="0" lvl="0" marL="0" marR="0" rtl="0" algn="ctr">
              <a:lnSpc>
                <a:spcPct val="100000"/>
              </a:lnSpc>
              <a:spcBef>
                <a:spcPts val="0"/>
              </a:spcBef>
              <a:spcAft>
                <a:spcPts val="0"/>
              </a:spcAft>
              <a:buNone/>
            </a:pPr>
            <a:r>
              <a:rPr b="1" lang="en" sz="2197">
                <a:solidFill>
                  <a:srgbClr val="46BEC6"/>
                </a:solidFill>
                <a:latin typeface="Proxima Nova"/>
                <a:ea typeface="Proxima Nova"/>
                <a:cs typeface="Proxima Nova"/>
                <a:sym typeface="Proxima Nova"/>
              </a:rPr>
              <a:t>Adaptation Scenarios</a:t>
            </a:r>
            <a:endParaRPr b="1" sz="2197">
              <a:solidFill>
                <a:srgbClr val="46BEC6"/>
              </a:solidFill>
              <a:latin typeface="Proxima Nova"/>
              <a:ea typeface="Proxima Nova"/>
              <a:cs typeface="Proxima Nova"/>
              <a:sym typeface="Proxima Nova"/>
            </a:endParaRPr>
          </a:p>
          <a:p>
            <a:pPr indent="0" lvl="0" marL="0" marR="0" rtl="0" algn="ctr">
              <a:lnSpc>
                <a:spcPct val="100000"/>
              </a:lnSpc>
              <a:spcBef>
                <a:spcPts val="0"/>
              </a:spcBef>
              <a:spcAft>
                <a:spcPts val="0"/>
              </a:spcAft>
              <a:buNone/>
            </a:pPr>
            <a:r>
              <a:t/>
            </a:r>
            <a:endParaRPr b="1" sz="1000">
              <a:solidFill>
                <a:srgbClr val="46BEC6"/>
              </a:solidFill>
              <a:latin typeface="Proxima Nova"/>
              <a:ea typeface="Proxima Nova"/>
              <a:cs typeface="Proxima Nova"/>
              <a:sym typeface="Proxima Nova"/>
            </a:endParaRPr>
          </a:p>
          <a:p>
            <a:pPr indent="0" lvl="0" marL="0" marR="0" rtl="0" algn="ctr">
              <a:lnSpc>
                <a:spcPct val="100000"/>
              </a:lnSpc>
              <a:spcBef>
                <a:spcPts val="0"/>
              </a:spcBef>
              <a:spcAft>
                <a:spcPts val="0"/>
              </a:spcAft>
              <a:buNone/>
            </a:pPr>
            <a:r>
              <a:rPr b="1" lang="en" sz="2197">
                <a:solidFill>
                  <a:srgbClr val="7ED957"/>
                </a:solidFill>
                <a:latin typeface="Proxima Nova"/>
                <a:ea typeface="Proxima Nova"/>
                <a:cs typeface="Proxima Nova"/>
                <a:sym typeface="Proxima Nova"/>
              </a:rPr>
              <a:t>NEW GREEN WATERSHED</a:t>
            </a:r>
            <a:endParaRPr b="1" sz="2197">
              <a:solidFill>
                <a:srgbClr val="7ED957"/>
              </a:solidFill>
              <a:latin typeface="Proxima Nova"/>
              <a:ea typeface="Proxima Nova"/>
              <a:cs typeface="Proxima Nova"/>
              <a:sym typeface="Proxima Nova"/>
            </a:endParaRPr>
          </a:p>
        </p:txBody>
      </p:sp>
      <p:sp>
        <p:nvSpPr>
          <p:cNvPr id="597" name="Google Shape;597;p84"/>
          <p:cNvSpPr/>
          <p:nvPr/>
        </p:nvSpPr>
        <p:spPr>
          <a:xfrm>
            <a:off x="4661400" y="2667675"/>
            <a:ext cx="3680700" cy="1589700"/>
          </a:xfrm>
          <a:prstGeom prst="rect">
            <a:avLst/>
          </a:prstGeom>
          <a:solidFill>
            <a:srgbClr val="2F444B"/>
          </a:solidFill>
          <a:ln>
            <a:noFill/>
          </a:ln>
        </p:spPr>
        <p:txBody>
          <a:bodyPr anchorCtr="0" anchor="ctr" bIns="104350" lIns="208775" spcFirstLastPara="1" rIns="208775" wrap="square" tIns="104350">
            <a:noAutofit/>
          </a:bodyPr>
          <a:lstStyle/>
          <a:p>
            <a:pPr indent="0" lvl="0" marL="0" marR="0" rtl="0" algn="ctr">
              <a:lnSpc>
                <a:spcPct val="100000"/>
              </a:lnSpc>
              <a:spcBef>
                <a:spcPts val="0"/>
              </a:spcBef>
              <a:spcAft>
                <a:spcPts val="0"/>
              </a:spcAft>
              <a:buNone/>
            </a:pPr>
            <a:r>
              <a:rPr b="1" lang="en" sz="2197">
                <a:solidFill>
                  <a:srgbClr val="46BEC6"/>
                </a:solidFill>
                <a:latin typeface="Proxima Nova"/>
                <a:ea typeface="Proxima Nova"/>
                <a:cs typeface="Proxima Nova"/>
                <a:sym typeface="Proxima Nova"/>
              </a:rPr>
              <a:t>Tiered Outflow Scenarios</a:t>
            </a:r>
            <a:endParaRPr b="1" sz="2197">
              <a:solidFill>
                <a:srgbClr val="46BEC6"/>
              </a:solidFill>
              <a:latin typeface="Proxima Nova"/>
              <a:ea typeface="Proxima Nova"/>
              <a:cs typeface="Proxima Nova"/>
              <a:sym typeface="Proxima Nova"/>
            </a:endParaRPr>
          </a:p>
          <a:p>
            <a:pPr indent="0" lvl="0" marL="0" marR="0" rtl="0" algn="ctr">
              <a:lnSpc>
                <a:spcPct val="100000"/>
              </a:lnSpc>
              <a:spcBef>
                <a:spcPts val="0"/>
              </a:spcBef>
              <a:spcAft>
                <a:spcPts val="0"/>
              </a:spcAft>
              <a:buNone/>
            </a:pPr>
            <a:r>
              <a:t/>
            </a:r>
            <a:endParaRPr b="1" sz="1000">
              <a:solidFill>
                <a:srgbClr val="46BEC6"/>
              </a:solidFill>
              <a:latin typeface="Proxima Nova"/>
              <a:ea typeface="Proxima Nova"/>
              <a:cs typeface="Proxima Nova"/>
              <a:sym typeface="Proxima Nova"/>
            </a:endParaRPr>
          </a:p>
          <a:p>
            <a:pPr indent="0" lvl="0" marL="0" marR="0" rtl="0" algn="ctr">
              <a:lnSpc>
                <a:spcPct val="100000"/>
              </a:lnSpc>
              <a:spcBef>
                <a:spcPts val="0"/>
              </a:spcBef>
              <a:spcAft>
                <a:spcPts val="0"/>
              </a:spcAft>
              <a:buNone/>
            </a:pPr>
            <a:r>
              <a:rPr b="1" lang="en" sz="2197">
                <a:solidFill>
                  <a:srgbClr val="7ED957"/>
                </a:solidFill>
                <a:latin typeface="Proxima Nova"/>
                <a:ea typeface="Proxima Nova"/>
                <a:cs typeface="Proxima Nova"/>
                <a:sym typeface="Proxima Nova"/>
              </a:rPr>
              <a:t>30% OUTFLOW INCREASE</a:t>
            </a:r>
            <a:endParaRPr b="1" sz="2197">
              <a:solidFill>
                <a:srgbClr val="7ED957"/>
              </a:solidFill>
              <a:latin typeface="Proxima Nova"/>
              <a:ea typeface="Proxima Nova"/>
              <a:cs typeface="Proxima Nova"/>
              <a:sym typeface="Proxima Nova"/>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601" name="Shape 601"/>
        <p:cNvGrpSpPr/>
        <p:nvPr/>
      </p:nvGrpSpPr>
      <p:grpSpPr>
        <a:xfrm>
          <a:off x="0" y="0"/>
          <a:ext cx="0" cy="0"/>
          <a:chOff x="0" y="0"/>
          <a:chExt cx="0" cy="0"/>
        </a:xfrm>
      </p:grpSpPr>
      <p:sp>
        <p:nvSpPr>
          <p:cNvPr id="602" name="Google Shape;602;p85"/>
          <p:cNvSpPr txBox="1"/>
          <p:nvPr/>
        </p:nvSpPr>
        <p:spPr>
          <a:xfrm>
            <a:off x="365760" y="201168"/>
            <a:ext cx="8412600" cy="48630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lang="en" sz="2800">
                <a:solidFill>
                  <a:srgbClr val="7ED957"/>
                </a:solidFill>
                <a:latin typeface="Proxima Nova"/>
                <a:ea typeface="Proxima Nova"/>
                <a:cs typeface="Proxima Nova"/>
                <a:sym typeface="Proxima Nova"/>
              </a:rPr>
              <a:t>Overall Score: Tiered Outflows</a:t>
            </a:r>
            <a:endParaRPr/>
          </a:p>
        </p:txBody>
      </p:sp>
      <p:graphicFrame>
        <p:nvGraphicFramePr>
          <p:cNvPr id="603" name="Google Shape;603;p85"/>
          <p:cNvGraphicFramePr/>
          <p:nvPr/>
        </p:nvGraphicFramePr>
        <p:xfrm>
          <a:off x="365710" y="1165805"/>
          <a:ext cx="3000000" cy="3000000"/>
        </p:xfrm>
        <a:graphic>
          <a:graphicData uri="http://schemas.openxmlformats.org/drawingml/2006/table">
            <a:tbl>
              <a:tblPr>
                <a:noFill/>
                <a:tableStyleId>{0CC4AB25-8DFD-4ACA-88D2-885EBE8A8D3D}</a:tableStyleId>
              </a:tblPr>
              <a:tblGrid>
                <a:gridCol w="2377450"/>
                <a:gridCol w="548650"/>
                <a:gridCol w="548650"/>
                <a:gridCol w="548650"/>
                <a:gridCol w="548650"/>
                <a:gridCol w="548650"/>
                <a:gridCol w="548650"/>
                <a:gridCol w="548650"/>
                <a:gridCol w="548650"/>
                <a:gridCol w="548650"/>
                <a:gridCol w="548650"/>
                <a:gridCol w="548650"/>
              </a:tblGrid>
              <a:tr h="702975">
                <a:tc>
                  <a:txBody>
                    <a:bodyPr/>
                    <a:lstStyle/>
                    <a:p>
                      <a:pPr indent="0" lvl="0" marL="0" marR="0" rtl="0" algn="l">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Scenario</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-5</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-4</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-3</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-2</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-1</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0</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+1</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+2</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+3</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+4</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+5</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r>
              <a:tr h="702975">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Historic Baseline</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i="0" lang="en" sz="1600" u="none" cap="none" strike="noStrike">
                          <a:solidFill>
                            <a:srgbClr val="FFFFFF"/>
                          </a:solidFill>
                          <a:latin typeface="Proxima Nova"/>
                          <a:ea typeface="Proxima Nova"/>
                          <a:cs typeface="Proxima Nova"/>
                          <a:sym typeface="Proxima Nova"/>
                        </a:rPr>
                        <a:t>●</a:t>
                      </a:r>
                      <a:endParaRPr sz="1600">
                        <a:solidFill>
                          <a:srgbClr val="7ED957"/>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702975">
                <a:tc>
                  <a:txBody>
                    <a:bodyPr/>
                    <a:lstStyle/>
                    <a:p>
                      <a:pPr indent="0" lvl="0" marL="0" rtl="0" algn="l">
                        <a:spcBef>
                          <a:spcPts val="0"/>
                        </a:spcBef>
                        <a:spcAft>
                          <a:spcPts val="0"/>
                        </a:spcAft>
                        <a:buNone/>
                      </a:pPr>
                      <a:r>
                        <a:rPr lang="en" sz="1600">
                          <a:solidFill>
                            <a:schemeClr val="lt1"/>
                          </a:solidFill>
                          <a:latin typeface="Proxima Nova"/>
                          <a:ea typeface="Proxima Nova"/>
                          <a:cs typeface="Proxima Nova"/>
                          <a:sym typeface="Proxima Nova"/>
                        </a:rPr>
                        <a:t>30% Flow Increase</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r h="702975">
                <a:tc>
                  <a:txBody>
                    <a:bodyPr/>
                    <a:lstStyle/>
                    <a:p>
                      <a:pPr indent="0" lvl="0" marL="0" rtl="0" algn="l">
                        <a:spcBef>
                          <a:spcPts val="0"/>
                        </a:spcBef>
                        <a:spcAft>
                          <a:spcPts val="0"/>
                        </a:spcAft>
                        <a:buNone/>
                      </a:pPr>
                      <a:r>
                        <a:rPr lang="en" sz="1600">
                          <a:solidFill>
                            <a:schemeClr val="lt1"/>
                          </a:solidFill>
                          <a:latin typeface="Proxima Nova"/>
                          <a:ea typeface="Proxima Nova"/>
                          <a:cs typeface="Proxima Nova"/>
                          <a:sym typeface="Proxima Nova"/>
                        </a:rPr>
                        <a:t>10% Flow Decrease</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bl>
          </a:graphicData>
        </a:graphic>
      </p:graphicFrame>
      <p:sp>
        <p:nvSpPr>
          <p:cNvPr id="604" name="Google Shape;604;p85"/>
          <p:cNvSpPr txBox="1"/>
          <p:nvPr/>
        </p:nvSpPr>
        <p:spPr>
          <a:xfrm>
            <a:off x="498975" y="4235475"/>
            <a:ext cx="8227200" cy="6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Proxima Nova"/>
                <a:ea typeface="Proxima Nova"/>
                <a:cs typeface="Proxima Nova"/>
                <a:sym typeface="Proxima Nova"/>
              </a:rPr>
              <a:t>Flow</a:t>
            </a:r>
            <a:r>
              <a:rPr lang="en" sz="1800">
                <a:solidFill>
                  <a:schemeClr val="lt1"/>
                </a:solidFill>
                <a:latin typeface="Proxima Nova"/>
                <a:ea typeface="Proxima Nova"/>
                <a:cs typeface="Proxima Nova"/>
                <a:sym typeface="Proxima Nova"/>
              </a:rPr>
              <a:t> is extremely important. The health of the Delta directly coincides with the health of Indigenous communities.</a:t>
            </a:r>
            <a:endParaRPr sz="1800">
              <a:solidFill>
                <a:schemeClr val="lt1"/>
              </a:solidFill>
              <a:latin typeface="Proxima Nova"/>
              <a:ea typeface="Proxima Nova"/>
              <a:cs typeface="Proxima Nova"/>
              <a:sym typeface="Proxima Nova"/>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608" name="Shape 608"/>
        <p:cNvGrpSpPr/>
        <p:nvPr/>
      </p:nvGrpSpPr>
      <p:grpSpPr>
        <a:xfrm>
          <a:off x="0" y="0"/>
          <a:ext cx="0" cy="0"/>
          <a:chOff x="0" y="0"/>
          <a:chExt cx="0" cy="0"/>
        </a:xfrm>
      </p:grpSpPr>
      <p:sp>
        <p:nvSpPr>
          <p:cNvPr id="609" name="Google Shape;609;p86"/>
          <p:cNvSpPr txBox="1"/>
          <p:nvPr/>
        </p:nvSpPr>
        <p:spPr>
          <a:xfrm>
            <a:off x="365760" y="201168"/>
            <a:ext cx="8412600" cy="48630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lang="en" sz="2800">
                <a:solidFill>
                  <a:srgbClr val="7ED957"/>
                </a:solidFill>
                <a:latin typeface="Proxima Nova"/>
                <a:ea typeface="Proxima Nova"/>
                <a:cs typeface="Proxima Nova"/>
                <a:sym typeface="Proxima Nova"/>
              </a:rPr>
              <a:t>Overall Score: Adaptation Scenarios</a:t>
            </a:r>
            <a:endParaRPr/>
          </a:p>
        </p:txBody>
      </p:sp>
      <p:graphicFrame>
        <p:nvGraphicFramePr>
          <p:cNvPr id="610" name="Google Shape;610;p86"/>
          <p:cNvGraphicFramePr/>
          <p:nvPr/>
        </p:nvGraphicFramePr>
        <p:xfrm>
          <a:off x="469647" y="687480"/>
          <a:ext cx="3000000" cy="3000000"/>
        </p:xfrm>
        <a:graphic>
          <a:graphicData uri="http://schemas.openxmlformats.org/drawingml/2006/table">
            <a:tbl>
              <a:tblPr>
                <a:noFill/>
                <a:tableStyleId>{0CC4AB25-8DFD-4ACA-88D2-885EBE8A8D3D}</a:tableStyleId>
              </a:tblPr>
              <a:tblGrid>
                <a:gridCol w="2348050"/>
                <a:gridCol w="541875"/>
                <a:gridCol w="541875"/>
                <a:gridCol w="541875"/>
                <a:gridCol w="541875"/>
                <a:gridCol w="541875"/>
                <a:gridCol w="541875"/>
                <a:gridCol w="541875"/>
                <a:gridCol w="541875"/>
                <a:gridCol w="541875"/>
                <a:gridCol w="541875"/>
                <a:gridCol w="541875"/>
              </a:tblGrid>
              <a:tr h="615775">
                <a:tc>
                  <a:txBody>
                    <a:bodyPr/>
                    <a:lstStyle/>
                    <a:p>
                      <a:pPr indent="0" lvl="0" marL="0" marR="0" rtl="0" algn="l">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Scenario</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-5</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-4</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-3</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-2</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-1</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0</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+1</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+2</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+3</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+4</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+5</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r>
              <a:tr h="615775">
                <a:tc>
                  <a:txBody>
                    <a:bodyPr/>
                    <a:lstStyle/>
                    <a:p>
                      <a:pPr indent="0" lvl="0" marL="0" marR="0" rtl="0" algn="l">
                        <a:lnSpc>
                          <a:spcPct val="100000"/>
                        </a:lnSpc>
                        <a:spcBef>
                          <a:spcPts val="0"/>
                        </a:spcBef>
                        <a:spcAft>
                          <a:spcPts val="0"/>
                        </a:spcAft>
                        <a:buNone/>
                      </a:pPr>
                      <a:r>
                        <a:rPr lang="en" sz="1600">
                          <a:solidFill>
                            <a:srgbClr val="FFFFFF"/>
                          </a:solidFill>
                          <a:latin typeface="Proxima Nova"/>
                          <a:ea typeface="Proxima Nova"/>
                          <a:cs typeface="Proxima Nova"/>
                          <a:sym typeface="Proxima Nova"/>
                        </a:rPr>
                        <a:t>Business As Usual</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i="0" lang="en" sz="1600" u="none" cap="none" strike="noStrike">
                          <a:solidFill>
                            <a:srgbClr val="FFFFFF"/>
                          </a:solidFill>
                          <a:latin typeface="Proxima Nova"/>
                          <a:ea typeface="Proxima Nova"/>
                          <a:cs typeface="Proxima Nova"/>
                          <a:sym typeface="Proxima Nova"/>
                        </a:rPr>
                        <a:t>●</a:t>
                      </a:r>
                      <a:endParaRPr sz="1600">
                        <a:solidFill>
                          <a:srgbClr val="7ED957"/>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615775">
                <a:tc>
                  <a:txBody>
                    <a:bodyPr/>
                    <a:lstStyle/>
                    <a:p>
                      <a:pPr indent="0" lvl="0" marL="0" rtl="0" algn="l">
                        <a:spcBef>
                          <a:spcPts val="0"/>
                        </a:spcBef>
                        <a:spcAft>
                          <a:spcPts val="0"/>
                        </a:spcAft>
                        <a:buNone/>
                      </a:pPr>
                      <a:r>
                        <a:rPr lang="en" sz="1600">
                          <a:solidFill>
                            <a:schemeClr val="lt1"/>
                          </a:solidFill>
                          <a:latin typeface="Proxima Nova"/>
                          <a:ea typeface="Proxima Nova"/>
                          <a:cs typeface="Proxima Nova"/>
                          <a:sym typeface="Proxima Nova"/>
                        </a:rPr>
                        <a:t>Bolster and Fortify</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r h="615775">
                <a:tc>
                  <a:txBody>
                    <a:bodyPr/>
                    <a:lstStyle/>
                    <a:p>
                      <a:pPr indent="0" lvl="0" marL="0" rtl="0" algn="l">
                        <a:spcBef>
                          <a:spcPts val="0"/>
                        </a:spcBef>
                        <a:spcAft>
                          <a:spcPts val="0"/>
                        </a:spcAft>
                        <a:buNone/>
                      </a:pPr>
                      <a:r>
                        <a:rPr lang="en" sz="1600">
                          <a:solidFill>
                            <a:schemeClr val="lt1"/>
                          </a:solidFill>
                          <a:latin typeface="Proxima Nova"/>
                          <a:ea typeface="Proxima Nova"/>
                          <a:cs typeface="Proxima Nova"/>
                          <a:sym typeface="Proxima Nova"/>
                        </a:rPr>
                        <a:t>Eco Machine</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Clr>
                          <a:schemeClr val="dk1"/>
                        </a:buClr>
                        <a:buSzPts val="1100"/>
                        <a:buFont typeface="Arial"/>
                        <a:buNone/>
                      </a:pPr>
                      <a:r>
                        <a:rPr lang="en" sz="1600">
                          <a:solidFill>
                            <a:schemeClr val="lt1"/>
                          </a:solidFill>
                          <a:latin typeface="Proxima Nova"/>
                          <a:ea typeface="Proxima Nova"/>
                          <a:cs typeface="Proxima Nova"/>
                          <a:sym typeface="Proxima Nova"/>
                        </a:rPr>
                        <a:t>●</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615775">
                <a:tc>
                  <a:txBody>
                    <a:bodyPr/>
                    <a:lstStyle/>
                    <a:p>
                      <a:pPr indent="0" lvl="0" marL="0" rtl="0" algn="l">
                        <a:spcBef>
                          <a:spcPts val="0"/>
                        </a:spcBef>
                        <a:spcAft>
                          <a:spcPts val="0"/>
                        </a:spcAft>
                        <a:buNone/>
                      </a:pPr>
                      <a:r>
                        <a:rPr lang="en" sz="1600">
                          <a:solidFill>
                            <a:schemeClr val="lt1"/>
                          </a:solidFill>
                          <a:latin typeface="Proxima Nova"/>
                          <a:ea typeface="Proxima Nova"/>
                          <a:cs typeface="Proxima Nova"/>
                          <a:sym typeface="Proxima Nova"/>
                        </a:rPr>
                        <a:t>New Green Watershed</a:t>
                      </a:r>
                      <a:endParaRPr sz="1600">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t/>
                      </a:r>
                      <a:endParaRPr sz="1600">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Clr>
                          <a:schemeClr val="dk1"/>
                        </a:buClr>
                        <a:buSzPts val="1100"/>
                        <a:buFont typeface="Arial"/>
                        <a:buNone/>
                      </a:pPr>
                      <a:r>
                        <a:rPr lang="en" sz="1600">
                          <a:solidFill>
                            <a:schemeClr val="lt1"/>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615775">
                <a:tc>
                  <a:txBody>
                    <a:bodyPr/>
                    <a:lstStyle/>
                    <a:p>
                      <a:pPr indent="0" lvl="0" marL="0" rtl="0" algn="l">
                        <a:spcBef>
                          <a:spcPts val="0"/>
                        </a:spcBef>
                        <a:spcAft>
                          <a:spcPts val="0"/>
                        </a:spcAft>
                        <a:buNone/>
                      </a:pPr>
                      <a:r>
                        <a:rPr lang="en" sz="1600">
                          <a:solidFill>
                            <a:schemeClr val="lt1"/>
                          </a:solidFill>
                          <a:latin typeface="Proxima Nova"/>
                          <a:ea typeface="Proxima Nova"/>
                          <a:cs typeface="Proxima Nova"/>
                          <a:sym typeface="Proxima Nova"/>
                        </a:rPr>
                        <a:t>Calling on Reserves</a:t>
                      </a:r>
                      <a:endParaRPr sz="1600">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t/>
                      </a:r>
                      <a:endParaRPr sz="1600">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615775">
                <a:tc>
                  <a:txBody>
                    <a:bodyPr/>
                    <a:lstStyle/>
                    <a:p>
                      <a:pPr indent="0" lvl="0" marL="0" rtl="0" algn="l">
                        <a:spcBef>
                          <a:spcPts val="0"/>
                        </a:spcBef>
                        <a:spcAft>
                          <a:spcPts val="0"/>
                        </a:spcAft>
                        <a:buNone/>
                      </a:pPr>
                      <a:r>
                        <a:rPr lang="en" sz="1600">
                          <a:solidFill>
                            <a:schemeClr val="lt1"/>
                          </a:solidFill>
                          <a:latin typeface="Proxima Nova"/>
                          <a:ea typeface="Proxima Nova"/>
                          <a:cs typeface="Proxima Nova"/>
                          <a:sym typeface="Proxima Nova"/>
                        </a:rPr>
                        <a:t>A Tunnel</a:t>
                      </a:r>
                      <a:endParaRPr sz="1600">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Clr>
                          <a:schemeClr val="dk1"/>
                        </a:buClr>
                        <a:buFont typeface="Arial"/>
                        <a:buNone/>
                      </a:pPr>
                      <a:r>
                        <a:rPr lang="en" sz="1600">
                          <a:solidFill>
                            <a:schemeClr val="lt1"/>
                          </a:solidFill>
                          <a:latin typeface="Proxima Nova"/>
                          <a:ea typeface="Proxima Nova"/>
                          <a:cs typeface="Proxima Nova"/>
                          <a:sym typeface="Proxima Nova"/>
                        </a:rPr>
                        <a:t>●</a:t>
                      </a:r>
                      <a:endParaRPr sz="1600">
                        <a:solidFill>
                          <a:schemeClr val="lt1"/>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t/>
                      </a:r>
                      <a:endParaRPr sz="1600">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rtl="0" algn="l">
                        <a:spcBef>
                          <a:spcPts val="0"/>
                        </a:spcBef>
                        <a:spcAft>
                          <a:spcPts val="0"/>
                        </a:spcAft>
                        <a:buNone/>
                      </a:pPr>
                      <a:r>
                        <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i="0" sz="1600" u="none" cap="none" strike="noStrike">
                        <a:solidFill>
                          <a:srgbClr val="000000"/>
                        </a:solidFill>
                        <a:latin typeface="Proxima Nova"/>
                        <a:ea typeface="Proxima Nova"/>
                        <a:cs typeface="Proxima Nova"/>
                        <a:sym typeface="Proxima Nova"/>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614" name="Shape 614"/>
        <p:cNvGrpSpPr/>
        <p:nvPr/>
      </p:nvGrpSpPr>
      <p:grpSpPr>
        <a:xfrm>
          <a:off x="0" y="0"/>
          <a:ext cx="0" cy="0"/>
          <a:chOff x="0" y="0"/>
          <a:chExt cx="0" cy="0"/>
        </a:xfrm>
      </p:grpSpPr>
      <p:sp>
        <p:nvSpPr>
          <p:cNvPr id="615" name="Google Shape;615;p87"/>
          <p:cNvSpPr txBox="1"/>
          <p:nvPr>
            <p:ph type="ctrTitle"/>
          </p:nvPr>
        </p:nvSpPr>
        <p:spPr>
          <a:xfrm>
            <a:off x="274325" y="366242"/>
            <a:ext cx="8520600" cy="3414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100"/>
              <a:buNone/>
            </a:pPr>
            <a:r>
              <a:rPr b="1" lang="en" sz="4533">
                <a:solidFill>
                  <a:srgbClr val="7ED957"/>
                </a:solidFill>
                <a:latin typeface="Proxima Nova"/>
                <a:ea typeface="Proxima Nova"/>
                <a:cs typeface="Proxima Nova"/>
                <a:sym typeface="Proxima Nova"/>
              </a:rPr>
              <a:t>RECREATION</a:t>
            </a:r>
            <a:endParaRPr b="1" sz="4533">
              <a:solidFill>
                <a:srgbClr val="7ED957"/>
              </a:solidFill>
              <a:latin typeface="Proxima Nova"/>
              <a:ea typeface="Proxima Nova"/>
              <a:cs typeface="Proxima Nova"/>
              <a:sym typeface="Proxima Nova"/>
            </a:endParaRPr>
          </a:p>
          <a:p>
            <a:pPr indent="0" lvl="0" marL="0" rtl="0" algn="l">
              <a:spcBef>
                <a:spcPts val="800"/>
              </a:spcBef>
              <a:spcAft>
                <a:spcPts val="0"/>
              </a:spcAft>
              <a:buClr>
                <a:schemeClr val="dk1"/>
              </a:buClr>
              <a:buSzPts val="1100"/>
              <a:buFont typeface="Arial"/>
              <a:buNone/>
            </a:pPr>
            <a:r>
              <a:rPr i="1" lang="en" sz="2978">
                <a:solidFill>
                  <a:srgbClr val="7ED957"/>
                </a:solidFill>
                <a:latin typeface="Proxima Nova"/>
                <a:ea typeface="Proxima Nova"/>
                <a:cs typeface="Proxima Nova"/>
                <a:sym typeface="Proxima Nova"/>
              </a:rPr>
              <a:t>Water-dependent recreational responses to Runoff and Salinity levels in the Delta</a:t>
            </a:r>
            <a:endParaRPr i="1" sz="2978">
              <a:solidFill>
                <a:srgbClr val="7ED957"/>
              </a:solidFill>
              <a:latin typeface="Proxima Nova"/>
              <a:ea typeface="Proxima Nova"/>
              <a:cs typeface="Proxima Nova"/>
              <a:sym typeface="Proxima Nova"/>
            </a:endParaRPr>
          </a:p>
          <a:p>
            <a:pPr indent="0" lvl="0" marL="0" rtl="0" algn="ctr">
              <a:lnSpc>
                <a:spcPct val="100000"/>
              </a:lnSpc>
              <a:spcBef>
                <a:spcPts val="800"/>
              </a:spcBef>
              <a:spcAft>
                <a:spcPts val="0"/>
              </a:spcAft>
              <a:buClr>
                <a:srgbClr val="000000"/>
              </a:buClr>
              <a:buSzPts val="5200"/>
              <a:buFont typeface="Arial"/>
              <a:buNone/>
            </a:pPr>
            <a:r>
              <a:t/>
            </a:r>
            <a:endParaRPr>
              <a:solidFill>
                <a:srgbClr val="7ED957"/>
              </a:solidFill>
              <a:latin typeface="Hammersmith One"/>
              <a:ea typeface="Hammersmith One"/>
              <a:cs typeface="Hammersmith One"/>
              <a:sym typeface="Hammersmith One"/>
            </a:endParaRPr>
          </a:p>
        </p:txBody>
      </p:sp>
      <p:sp>
        <p:nvSpPr>
          <p:cNvPr id="616" name="Google Shape;616;p87"/>
          <p:cNvSpPr txBox="1"/>
          <p:nvPr/>
        </p:nvSpPr>
        <p:spPr>
          <a:xfrm>
            <a:off x="600850" y="3668325"/>
            <a:ext cx="53064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000"/>
              <a:buFont typeface="Arial"/>
              <a:buNone/>
            </a:pPr>
            <a:r>
              <a:rPr lang="en" sz="2500">
                <a:solidFill>
                  <a:srgbClr val="51A2BD"/>
                </a:solidFill>
                <a:latin typeface="Proxima Nova"/>
                <a:ea typeface="Proxima Nova"/>
                <a:cs typeface="Proxima Nova"/>
                <a:sym typeface="Proxima Nova"/>
              </a:rPr>
              <a:t>Jeff Jenkins &amp; </a:t>
            </a:r>
            <a:r>
              <a:rPr lang="en" sz="2500">
                <a:solidFill>
                  <a:srgbClr val="51A2BD"/>
                </a:solidFill>
                <a:latin typeface="Proxima Nova"/>
                <a:ea typeface="Proxima Nova"/>
                <a:cs typeface="Proxima Nova"/>
                <a:sym typeface="Proxima Nova"/>
              </a:rPr>
              <a:t>Isaac Sanchez </a:t>
            </a:r>
            <a:endParaRPr b="0" i="0" sz="2500" u="none" cap="none" strike="noStrike">
              <a:solidFill>
                <a:srgbClr val="51A2BD"/>
              </a:solidFill>
              <a:latin typeface="Proxima Nova"/>
              <a:ea typeface="Proxima Nova"/>
              <a:cs typeface="Proxima Nova"/>
              <a:sym typeface="Proxima Nova"/>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620" name="Shape 620"/>
        <p:cNvGrpSpPr/>
        <p:nvPr/>
      </p:nvGrpSpPr>
      <p:grpSpPr>
        <a:xfrm>
          <a:off x="0" y="0"/>
          <a:ext cx="0" cy="0"/>
          <a:chOff x="0" y="0"/>
          <a:chExt cx="0" cy="0"/>
        </a:xfrm>
      </p:grpSpPr>
      <p:sp>
        <p:nvSpPr>
          <p:cNvPr id="621" name="Google Shape;621;p88"/>
          <p:cNvSpPr txBox="1"/>
          <p:nvPr>
            <p:ph type="ctrTitle"/>
          </p:nvPr>
        </p:nvSpPr>
        <p:spPr>
          <a:xfrm>
            <a:off x="274325" y="366250"/>
            <a:ext cx="8516400" cy="44859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38298"/>
              <a:buNone/>
            </a:pPr>
            <a:r>
              <a:rPr b="1" lang="en" sz="2872">
                <a:solidFill>
                  <a:srgbClr val="7ED957"/>
                </a:solidFill>
                <a:latin typeface="Proxima Nova"/>
                <a:ea typeface="Proxima Nova"/>
                <a:cs typeface="Proxima Nova"/>
                <a:sym typeface="Proxima Nova"/>
              </a:rPr>
              <a:t>Criterion Definition</a:t>
            </a:r>
            <a:endParaRPr b="1" sz="2872">
              <a:solidFill>
                <a:srgbClr val="7ED957"/>
              </a:solidFill>
              <a:latin typeface="Proxima Nova"/>
              <a:ea typeface="Proxima Nova"/>
              <a:cs typeface="Proxima Nova"/>
              <a:sym typeface="Proxima Nova"/>
            </a:endParaRPr>
          </a:p>
          <a:p>
            <a:pPr indent="0" lvl="0" marL="0" rtl="0" algn="l">
              <a:spcBef>
                <a:spcPts val="800"/>
              </a:spcBef>
              <a:spcAft>
                <a:spcPts val="0"/>
              </a:spcAft>
              <a:buSzPct val="38298"/>
              <a:buNone/>
            </a:pPr>
            <a:r>
              <a:t/>
            </a:r>
            <a:endParaRPr b="1" sz="2872">
              <a:solidFill>
                <a:srgbClr val="7ED957"/>
              </a:solidFill>
              <a:latin typeface="Proxima Nova"/>
              <a:ea typeface="Proxima Nova"/>
              <a:cs typeface="Proxima Nova"/>
              <a:sym typeface="Proxima Nova"/>
            </a:endParaRPr>
          </a:p>
          <a:p>
            <a:pPr indent="-358775" lvl="0" marL="457200" rtl="0" algn="l">
              <a:lnSpc>
                <a:spcPct val="100000"/>
              </a:lnSpc>
              <a:spcBef>
                <a:spcPts val="800"/>
              </a:spcBef>
              <a:spcAft>
                <a:spcPts val="0"/>
              </a:spcAft>
              <a:buClr>
                <a:schemeClr val="lt1"/>
              </a:buClr>
              <a:buSzPct val="100000"/>
              <a:buFont typeface="Proxima Nova"/>
              <a:buChar char="●"/>
            </a:pPr>
            <a:r>
              <a:rPr lang="en" sz="2278">
                <a:solidFill>
                  <a:schemeClr val="lt1"/>
                </a:solidFill>
                <a:latin typeface="Proxima Nova"/>
                <a:ea typeface="Proxima Nova"/>
                <a:cs typeface="Proxima Nova"/>
                <a:sym typeface="Proxima Nova"/>
              </a:rPr>
              <a:t>Water-dependent recreation adaptation scenarios measure how salinity and water temperature affect the volume &amp; timing of visitors</a:t>
            </a:r>
            <a:endParaRPr sz="2278">
              <a:solidFill>
                <a:schemeClr val="lt1"/>
              </a:solidFill>
              <a:latin typeface="Proxima Nova"/>
              <a:ea typeface="Proxima Nova"/>
              <a:cs typeface="Proxima Nova"/>
              <a:sym typeface="Proxima Nova"/>
            </a:endParaRPr>
          </a:p>
          <a:p>
            <a:pPr indent="-358775" lvl="0" marL="457200" rtl="0" algn="l">
              <a:lnSpc>
                <a:spcPct val="100000"/>
              </a:lnSpc>
              <a:spcBef>
                <a:spcPts val="1000"/>
              </a:spcBef>
              <a:spcAft>
                <a:spcPts val="0"/>
              </a:spcAft>
              <a:buClr>
                <a:schemeClr val="lt1"/>
              </a:buClr>
              <a:buSzPct val="100000"/>
              <a:buFont typeface="Proxima Nova"/>
              <a:buChar char="●"/>
            </a:pPr>
            <a:r>
              <a:rPr lang="en" sz="2278">
                <a:solidFill>
                  <a:schemeClr val="lt1"/>
                </a:solidFill>
                <a:latin typeface="Proxima Nova"/>
                <a:ea typeface="Proxima Nova"/>
                <a:cs typeface="Proxima Nova"/>
                <a:sym typeface="Proxima Nova"/>
              </a:rPr>
              <a:t>Access and recreational species thresholds are measured in </a:t>
            </a:r>
            <a:r>
              <a:rPr lang="en" sz="2278">
                <a:solidFill>
                  <a:schemeClr val="lt1"/>
                </a:solidFill>
                <a:latin typeface="Proxima Nova"/>
                <a:ea typeface="Proxima Nova"/>
                <a:cs typeface="Proxima Nova"/>
                <a:sym typeface="Proxima Nova"/>
              </a:rPr>
              <a:t>proximity</a:t>
            </a:r>
            <a:r>
              <a:rPr lang="en" sz="2278">
                <a:solidFill>
                  <a:schemeClr val="lt1"/>
                </a:solidFill>
                <a:latin typeface="Proxima Nova"/>
                <a:ea typeface="Proxima Nova"/>
                <a:cs typeface="Proxima Nova"/>
                <a:sym typeface="Proxima Nova"/>
              </a:rPr>
              <a:t> to parks and wildlife reserves throughout four Delta regions</a:t>
            </a:r>
            <a:endParaRPr sz="2278">
              <a:solidFill>
                <a:schemeClr val="lt1"/>
              </a:solidFill>
              <a:latin typeface="Proxima Nova"/>
              <a:ea typeface="Proxima Nova"/>
              <a:cs typeface="Proxima Nova"/>
              <a:sym typeface="Proxima Nova"/>
            </a:endParaRPr>
          </a:p>
          <a:p>
            <a:pPr indent="-358775" lvl="0" marL="457200" rtl="0" algn="l">
              <a:lnSpc>
                <a:spcPct val="100000"/>
              </a:lnSpc>
              <a:spcBef>
                <a:spcPts val="1000"/>
              </a:spcBef>
              <a:spcAft>
                <a:spcPts val="0"/>
              </a:spcAft>
              <a:buClr>
                <a:schemeClr val="lt1"/>
              </a:buClr>
              <a:buSzPct val="100000"/>
              <a:buFont typeface="Proxima Nova"/>
              <a:buChar char="●"/>
            </a:pPr>
            <a:r>
              <a:rPr lang="en" sz="2278">
                <a:solidFill>
                  <a:schemeClr val="lt1"/>
                </a:solidFill>
                <a:latin typeface="Proxima Nova"/>
                <a:ea typeface="Proxima Nova"/>
                <a:cs typeface="Proxima Nova"/>
                <a:sym typeface="Proxima Nova"/>
              </a:rPr>
              <a:t>Visitor outcomes are assessed during peak seasons:</a:t>
            </a:r>
            <a:endParaRPr sz="2278">
              <a:solidFill>
                <a:schemeClr val="lt1"/>
              </a:solidFill>
              <a:latin typeface="Proxima Nova"/>
              <a:ea typeface="Proxima Nova"/>
              <a:cs typeface="Proxima Nova"/>
              <a:sym typeface="Proxima Nova"/>
            </a:endParaRPr>
          </a:p>
          <a:p>
            <a:pPr indent="0" lvl="0" marL="914400" rtl="0" algn="l">
              <a:lnSpc>
                <a:spcPct val="100000"/>
              </a:lnSpc>
              <a:spcBef>
                <a:spcPts val="1000"/>
              </a:spcBef>
              <a:spcAft>
                <a:spcPts val="0"/>
              </a:spcAft>
              <a:buNone/>
            </a:pPr>
            <a:r>
              <a:rPr lang="en" sz="2278">
                <a:solidFill>
                  <a:schemeClr val="lt1"/>
                </a:solidFill>
                <a:latin typeface="Proxima Nova"/>
                <a:ea typeface="Proxima Nova"/>
                <a:cs typeface="Proxima Nova"/>
                <a:sym typeface="Proxima Nova"/>
              </a:rPr>
              <a:t>Winter: waterfowl hunting and bird watching</a:t>
            </a:r>
            <a:endParaRPr sz="2278">
              <a:solidFill>
                <a:schemeClr val="lt1"/>
              </a:solidFill>
              <a:latin typeface="Proxima Nova"/>
              <a:ea typeface="Proxima Nova"/>
              <a:cs typeface="Proxima Nova"/>
              <a:sym typeface="Proxima Nova"/>
            </a:endParaRPr>
          </a:p>
          <a:p>
            <a:pPr indent="0" lvl="0" marL="914400" rtl="0" algn="l">
              <a:lnSpc>
                <a:spcPct val="100000"/>
              </a:lnSpc>
              <a:spcBef>
                <a:spcPts val="1000"/>
              </a:spcBef>
              <a:spcAft>
                <a:spcPts val="0"/>
              </a:spcAft>
              <a:buNone/>
            </a:pPr>
            <a:r>
              <a:rPr lang="en" sz="2278">
                <a:solidFill>
                  <a:schemeClr val="lt1"/>
                </a:solidFill>
                <a:latin typeface="Proxima Nova"/>
                <a:ea typeface="Proxima Nova"/>
                <a:cs typeface="Proxima Nova"/>
                <a:sym typeface="Proxima Nova"/>
              </a:rPr>
              <a:t>Summer: angling, boating, and day users</a:t>
            </a:r>
            <a:endParaRPr sz="2278">
              <a:solidFill>
                <a:schemeClr val="lt1"/>
              </a:solidFill>
              <a:latin typeface="Proxima Nova"/>
              <a:ea typeface="Proxima Nova"/>
              <a:cs typeface="Proxima Nova"/>
              <a:sym typeface="Proxima Nova"/>
            </a:endParaRPr>
          </a:p>
          <a:p>
            <a:pPr indent="0" lvl="0" marL="0" rtl="0" algn="l">
              <a:spcBef>
                <a:spcPts val="1000"/>
              </a:spcBef>
              <a:spcAft>
                <a:spcPts val="0"/>
              </a:spcAft>
              <a:buNone/>
            </a:pPr>
            <a:r>
              <a:t/>
            </a:r>
            <a:endParaRPr sz="2644">
              <a:solidFill>
                <a:schemeClr val="lt1"/>
              </a:solidFill>
              <a:latin typeface="Proxima Nova"/>
              <a:ea typeface="Proxima Nova"/>
              <a:cs typeface="Proxima Nova"/>
              <a:sym typeface="Proxima Nova"/>
            </a:endParaRPr>
          </a:p>
          <a:p>
            <a:pPr indent="0" lvl="0" marL="0" rtl="0" algn="ctr">
              <a:lnSpc>
                <a:spcPct val="100000"/>
              </a:lnSpc>
              <a:spcBef>
                <a:spcPts val="1000"/>
              </a:spcBef>
              <a:spcAft>
                <a:spcPts val="0"/>
              </a:spcAft>
              <a:buSzPct val="100000"/>
              <a:buNone/>
            </a:pPr>
            <a:r>
              <a:rPr lang="en">
                <a:solidFill>
                  <a:srgbClr val="7ED957"/>
                </a:solidFill>
                <a:latin typeface="Hammersmith One"/>
                <a:ea typeface="Hammersmith One"/>
                <a:cs typeface="Hammersmith One"/>
                <a:sym typeface="Hammersmith One"/>
              </a:rPr>
              <a:t>z</a:t>
            </a:r>
            <a:endParaRPr>
              <a:solidFill>
                <a:srgbClr val="7ED957"/>
              </a:solidFill>
              <a:latin typeface="Hammersmith One"/>
              <a:ea typeface="Hammersmith One"/>
              <a:cs typeface="Hammersmith One"/>
              <a:sym typeface="Hammersmith One"/>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625" name="Shape 625"/>
        <p:cNvGrpSpPr/>
        <p:nvPr/>
      </p:nvGrpSpPr>
      <p:grpSpPr>
        <a:xfrm>
          <a:off x="0" y="0"/>
          <a:ext cx="0" cy="0"/>
          <a:chOff x="0" y="0"/>
          <a:chExt cx="0" cy="0"/>
        </a:xfrm>
      </p:grpSpPr>
      <p:sp>
        <p:nvSpPr>
          <p:cNvPr id="626" name="Google Shape;626;p89"/>
          <p:cNvSpPr txBox="1"/>
          <p:nvPr>
            <p:ph type="ctrTitle"/>
          </p:nvPr>
        </p:nvSpPr>
        <p:spPr>
          <a:xfrm>
            <a:off x="268700" y="158250"/>
            <a:ext cx="8520600" cy="46938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100"/>
              <a:buNone/>
            </a:pPr>
            <a:r>
              <a:rPr b="1" lang="en" sz="2567">
                <a:solidFill>
                  <a:srgbClr val="7ED957"/>
                </a:solidFill>
                <a:latin typeface="Proxima Nova"/>
                <a:ea typeface="Proxima Nova"/>
                <a:cs typeface="Proxima Nova"/>
                <a:sym typeface="Proxima Nova"/>
              </a:rPr>
              <a:t>Why this criterion matters</a:t>
            </a:r>
            <a:endParaRPr b="1" sz="2567">
              <a:solidFill>
                <a:srgbClr val="7ED957"/>
              </a:solidFill>
              <a:latin typeface="Proxima Nova"/>
              <a:ea typeface="Proxima Nova"/>
              <a:cs typeface="Proxima Nova"/>
              <a:sym typeface="Proxima Nova"/>
            </a:endParaRPr>
          </a:p>
          <a:p>
            <a:pPr indent="-362655" lvl="0" marL="457200" rtl="0" algn="l">
              <a:spcBef>
                <a:spcPts val="800"/>
              </a:spcBef>
              <a:spcAft>
                <a:spcPts val="0"/>
              </a:spcAft>
              <a:buClr>
                <a:schemeClr val="lt1"/>
              </a:buClr>
              <a:buSzPts val="2111"/>
              <a:buFont typeface="Proxima Nova"/>
              <a:buChar char="●"/>
            </a:pPr>
            <a:r>
              <a:rPr lang="en" sz="2111">
                <a:solidFill>
                  <a:schemeClr val="lt1"/>
                </a:solidFill>
                <a:latin typeface="Proxima Nova"/>
                <a:ea typeface="Proxima Nova"/>
                <a:cs typeface="Proxima Nova"/>
                <a:sym typeface="Proxima Nova"/>
              </a:rPr>
              <a:t>The Delta’s recreation and tourism sector has fluctuated over the past two decades, yet remains the second largest sector behind agriculture</a:t>
            </a:r>
            <a:endParaRPr sz="2111">
              <a:solidFill>
                <a:schemeClr val="lt1"/>
              </a:solidFill>
              <a:latin typeface="Proxima Nova"/>
              <a:ea typeface="Proxima Nova"/>
              <a:cs typeface="Proxima Nova"/>
              <a:sym typeface="Proxima Nova"/>
            </a:endParaRPr>
          </a:p>
          <a:p>
            <a:pPr indent="-355600" lvl="1" marL="914400" rtl="0" algn="l">
              <a:spcBef>
                <a:spcPts val="1000"/>
              </a:spcBef>
              <a:spcAft>
                <a:spcPts val="0"/>
              </a:spcAft>
              <a:buClr>
                <a:schemeClr val="lt1"/>
              </a:buClr>
              <a:buSzPts val="2000"/>
              <a:buFont typeface="Proxima Nova"/>
              <a:buChar char="○"/>
            </a:pPr>
            <a:r>
              <a:rPr lang="en" sz="2000">
                <a:solidFill>
                  <a:schemeClr val="lt1"/>
                </a:solidFill>
                <a:latin typeface="Proxima Nova"/>
                <a:ea typeface="Proxima Nova"/>
                <a:cs typeface="Proxima Nova"/>
                <a:sym typeface="Proxima Nova"/>
              </a:rPr>
              <a:t>down from a visitor sector high of $</a:t>
            </a:r>
            <a:r>
              <a:rPr lang="en" sz="2000" u="sng">
                <a:solidFill>
                  <a:schemeClr val="lt1"/>
                </a:solidFill>
                <a:latin typeface="Proxima Nova"/>
                <a:ea typeface="Proxima Nova"/>
                <a:cs typeface="Proxima Nova"/>
                <a:sym typeface="Proxima Nova"/>
              </a:rPr>
              <a:t>312</a:t>
            </a:r>
            <a:r>
              <a:rPr lang="en" sz="2000">
                <a:solidFill>
                  <a:schemeClr val="lt1"/>
                </a:solidFill>
                <a:latin typeface="Proxima Nova"/>
                <a:ea typeface="Proxima Nova"/>
                <a:cs typeface="Proxima Nova"/>
                <a:sym typeface="Proxima Nova"/>
              </a:rPr>
              <a:t> million in 2012</a:t>
            </a:r>
            <a:endParaRPr sz="2000">
              <a:solidFill>
                <a:schemeClr val="lt1"/>
              </a:solidFill>
              <a:latin typeface="Proxima Nova"/>
              <a:ea typeface="Proxima Nova"/>
              <a:cs typeface="Proxima Nova"/>
              <a:sym typeface="Proxima Nova"/>
            </a:endParaRPr>
          </a:p>
          <a:p>
            <a:pPr indent="-355600" lvl="1" marL="914400" rtl="0" algn="l">
              <a:spcBef>
                <a:spcPts val="0"/>
              </a:spcBef>
              <a:spcAft>
                <a:spcPts val="0"/>
              </a:spcAft>
              <a:buClr>
                <a:schemeClr val="lt1"/>
              </a:buClr>
              <a:buSzPts val="2000"/>
              <a:buFont typeface="Proxima Nova"/>
              <a:buChar char="○"/>
            </a:pPr>
            <a:r>
              <a:rPr lang="en" sz="2000">
                <a:solidFill>
                  <a:schemeClr val="lt1"/>
                </a:solidFill>
                <a:latin typeface="Proxima Nova"/>
                <a:ea typeface="Proxima Nova"/>
                <a:cs typeface="Proxima Nova"/>
                <a:sym typeface="Proxima Nova"/>
              </a:rPr>
              <a:t>produces $</a:t>
            </a:r>
            <a:r>
              <a:rPr lang="en" sz="2000" u="sng">
                <a:solidFill>
                  <a:schemeClr val="lt1"/>
                </a:solidFill>
                <a:latin typeface="Proxima Nova"/>
                <a:ea typeface="Proxima Nova"/>
                <a:cs typeface="Proxima Nova"/>
                <a:sym typeface="Proxima Nova"/>
              </a:rPr>
              <a:t>250</a:t>
            </a:r>
            <a:r>
              <a:rPr lang="en" sz="2000">
                <a:solidFill>
                  <a:schemeClr val="lt1"/>
                </a:solidFill>
                <a:latin typeface="Proxima Nova"/>
                <a:ea typeface="Proxima Nova"/>
                <a:cs typeface="Proxima Nova"/>
                <a:sym typeface="Proxima Nova"/>
              </a:rPr>
              <a:t> million in tourism related trips in 2020</a:t>
            </a:r>
            <a:endParaRPr sz="2000">
              <a:solidFill>
                <a:schemeClr val="lt1"/>
              </a:solidFill>
              <a:latin typeface="Proxima Nova"/>
              <a:ea typeface="Proxima Nova"/>
              <a:cs typeface="Proxima Nova"/>
              <a:sym typeface="Proxima Nova"/>
            </a:endParaRPr>
          </a:p>
          <a:p>
            <a:pPr indent="-355600" lvl="0" marL="457200" rtl="0" algn="l">
              <a:spcBef>
                <a:spcPts val="1000"/>
              </a:spcBef>
              <a:spcAft>
                <a:spcPts val="0"/>
              </a:spcAft>
              <a:buClr>
                <a:schemeClr val="lt1"/>
              </a:buClr>
              <a:buSzPts val="2000"/>
              <a:buFont typeface="Proxima Nova"/>
              <a:buChar char="●"/>
            </a:pPr>
            <a:r>
              <a:rPr lang="en" sz="2000">
                <a:solidFill>
                  <a:schemeClr val="lt1"/>
                </a:solidFill>
                <a:latin typeface="Proxima Nova"/>
                <a:ea typeface="Proxima Nova"/>
                <a:cs typeface="Proxima Nova"/>
                <a:sym typeface="Proxima Nova"/>
              </a:rPr>
              <a:t>Delta water-dependent recreation exists under climate</a:t>
            </a:r>
            <a:r>
              <a:rPr lang="en" sz="2000">
                <a:solidFill>
                  <a:schemeClr val="lt1"/>
                </a:solidFill>
                <a:latin typeface="Proxima Nova"/>
                <a:ea typeface="Proxima Nova"/>
                <a:cs typeface="Proxima Nova"/>
                <a:sym typeface="Proxima Nova"/>
              </a:rPr>
              <a:t> </a:t>
            </a:r>
            <a:r>
              <a:rPr i="1" lang="en" sz="2000">
                <a:solidFill>
                  <a:schemeClr val="lt1"/>
                </a:solidFill>
                <a:latin typeface="Proxima Nova"/>
                <a:ea typeface="Proxima Nova"/>
                <a:cs typeface="Proxima Nova"/>
                <a:sym typeface="Proxima Nova"/>
              </a:rPr>
              <a:t>“whiplash”</a:t>
            </a:r>
            <a:r>
              <a:rPr lang="en" sz="2000">
                <a:solidFill>
                  <a:schemeClr val="lt1"/>
                </a:solidFill>
                <a:latin typeface="Proxima Nova"/>
                <a:ea typeface="Proxima Nova"/>
                <a:cs typeface="Proxima Nova"/>
                <a:sym typeface="Proxima Nova"/>
              </a:rPr>
              <a:t> </a:t>
            </a:r>
            <a:endParaRPr sz="2000">
              <a:solidFill>
                <a:schemeClr val="lt1"/>
              </a:solidFill>
              <a:latin typeface="Proxima Nova"/>
              <a:ea typeface="Proxima Nova"/>
              <a:cs typeface="Proxima Nova"/>
              <a:sym typeface="Proxima Nova"/>
            </a:endParaRPr>
          </a:p>
          <a:p>
            <a:pPr indent="-355600" lvl="1" marL="914400" rtl="0" algn="l">
              <a:spcBef>
                <a:spcPts val="1000"/>
              </a:spcBef>
              <a:spcAft>
                <a:spcPts val="0"/>
              </a:spcAft>
              <a:buClr>
                <a:schemeClr val="lt1"/>
              </a:buClr>
              <a:buSzPts val="2000"/>
              <a:buFont typeface="Proxima Nova"/>
              <a:buChar char="○"/>
            </a:pPr>
            <a:r>
              <a:rPr lang="en" sz="2000">
                <a:solidFill>
                  <a:schemeClr val="lt1"/>
                </a:solidFill>
                <a:latin typeface="Proxima Nova"/>
                <a:ea typeface="Proxima Nova"/>
                <a:cs typeface="Proxima Nova"/>
                <a:sym typeface="Proxima Nova"/>
              </a:rPr>
              <a:t>2017 a (wet year), </a:t>
            </a:r>
            <a:r>
              <a:rPr lang="en" sz="2000">
                <a:solidFill>
                  <a:schemeClr val="lt1"/>
                </a:solidFill>
                <a:latin typeface="Proxima Nova"/>
                <a:ea typeface="Proxima Nova"/>
                <a:cs typeface="Proxima Nova"/>
                <a:sym typeface="Proxima Nova"/>
              </a:rPr>
              <a:t>preceded</a:t>
            </a:r>
            <a:r>
              <a:rPr lang="en" sz="2000">
                <a:solidFill>
                  <a:schemeClr val="lt1"/>
                </a:solidFill>
                <a:latin typeface="Proxima Nova"/>
                <a:ea typeface="Proxima Nova"/>
                <a:cs typeface="Proxima Nova"/>
                <a:sym typeface="Proxima Nova"/>
              </a:rPr>
              <a:t> by prolonged drought (2012-2016)</a:t>
            </a:r>
            <a:endParaRPr sz="2000">
              <a:solidFill>
                <a:schemeClr val="lt1"/>
              </a:solidFill>
              <a:latin typeface="Proxima Nova"/>
              <a:ea typeface="Proxima Nova"/>
              <a:cs typeface="Proxima Nova"/>
              <a:sym typeface="Proxima Nova"/>
            </a:endParaRPr>
          </a:p>
          <a:p>
            <a:pPr indent="-355600" lvl="1" marL="914400" rtl="0" algn="l">
              <a:spcBef>
                <a:spcPts val="0"/>
              </a:spcBef>
              <a:spcAft>
                <a:spcPts val="0"/>
              </a:spcAft>
              <a:buClr>
                <a:schemeClr val="lt1"/>
              </a:buClr>
              <a:buSzPts val="2000"/>
              <a:buFont typeface="Proxima Nova"/>
              <a:buChar char="○"/>
            </a:pPr>
            <a:r>
              <a:rPr lang="en" sz="2000">
                <a:solidFill>
                  <a:schemeClr val="lt1"/>
                </a:solidFill>
                <a:latin typeface="Proxima Nova"/>
                <a:ea typeface="Proxima Nova"/>
                <a:cs typeface="Proxima Nova"/>
                <a:sym typeface="Proxima Nova"/>
              </a:rPr>
              <a:t>Dry </a:t>
            </a:r>
            <a:r>
              <a:rPr lang="en" sz="2000">
                <a:solidFill>
                  <a:schemeClr val="lt1"/>
                </a:solidFill>
                <a:latin typeface="Proxima Nova"/>
                <a:ea typeface="Proxima Nova"/>
                <a:cs typeface="Proxima Nova"/>
                <a:sym typeface="Proxima Nova"/>
              </a:rPr>
              <a:t>three year period (2020-2022)</a:t>
            </a:r>
            <a:r>
              <a:rPr lang="en" sz="2000">
                <a:solidFill>
                  <a:schemeClr val="lt1"/>
                </a:solidFill>
                <a:latin typeface="Proxima Nova"/>
                <a:ea typeface="Proxima Nova"/>
                <a:cs typeface="Proxima Nova"/>
                <a:sym typeface="Proxima Nova"/>
              </a:rPr>
              <a:t>, followed by record wet (2023)</a:t>
            </a:r>
            <a:endParaRPr sz="2000">
              <a:solidFill>
                <a:schemeClr val="lt1"/>
              </a:solidFill>
              <a:latin typeface="Proxima Nova"/>
              <a:ea typeface="Proxima Nova"/>
              <a:cs typeface="Proxima Nova"/>
              <a:sym typeface="Proxima Nova"/>
            </a:endParaRPr>
          </a:p>
          <a:p>
            <a:pPr indent="-355600" lvl="0" marL="457200" rtl="0" algn="l">
              <a:spcBef>
                <a:spcPts val="1000"/>
              </a:spcBef>
              <a:spcAft>
                <a:spcPts val="1000"/>
              </a:spcAft>
              <a:buClr>
                <a:schemeClr val="lt1"/>
              </a:buClr>
              <a:buSzPts val="2000"/>
              <a:buFont typeface="Proxima Nova"/>
              <a:buChar char="●"/>
            </a:pPr>
            <a:r>
              <a:rPr lang="en" sz="2000">
                <a:solidFill>
                  <a:schemeClr val="lt1"/>
                </a:solidFill>
                <a:latin typeface="Proxima Nova"/>
                <a:ea typeface="Proxima Nova"/>
                <a:cs typeface="Proxima Nova"/>
                <a:sym typeface="Proxima Nova"/>
              </a:rPr>
              <a:t>HABs, water quality, and lack of boat-in destinations as well as invasive species are problematic concerns for residents and visitors alike</a:t>
            </a:r>
            <a:endParaRPr sz="2000">
              <a:solidFill>
                <a:srgbClr val="7ED957"/>
              </a:solidFill>
              <a:latin typeface="Proxima Nova"/>
              <a:ea typeface="Proxima Nova"/>
              <a:cs typeface="Proxima Nova"/>
              <a:sym typeface="Proxima Nova"/>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630" name="Shape 630"/>
        <p:cNvGrpSpPr/>
        <p:nvPr/>
      </p:nvGrpSpPr>
      <p:grpSpPr>
        <a:xfrm>
          <a:off x="0" y="0"/>
          <a:ext cx="0" cy="0"/>
          <a:chOff x="0" y="0"/>
          <a:chExt cx="0" cy="0"/>
        </a:xfrm>
      </p:grpSpPr>
      <p:sp>
        <p:nvSpPr>
          <p:cNvPr id="631" name="Google Shape;631;p90"/>
          <p:cNvSpPr txBox="1"/>
          <p:nvPr>
            <p:ph type="ctrTitle"/>
          </p:nvPr>
        </p:nvSpPr>
        <p:spPr>
          <a:xfrm>
            <a:off x="257475" y="147000"/>
            <a:ext cx="4959600" cy="48738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100"/>
              <a:buNone/>
            </a:pPr>
            <a:r>
              <a:rPr b="1" lang="en" sz="2872">
                <a:solidFill>
                  <a:srgbClr val="7ED957"/>
                </a:solidFill>
                <a:latin typeface="Proxima Nova"/>
                <a:ea typeface="Proxima Nova"/>
                <a:cs typeface="Proxima Nova"/>
                <a:sym typeface="Proxima Nova"/>
              </a:rPr>
              <a:t>How it was developed</a:t>
            </a:r>
            <a:endParaRPr b="1" sz="2872">
              <a:solidFill>
                <a:srgbClr val="7ED957"/>
              </a:solidFill>
              <a:latin typeface="Proxima Nova"/>
              <a:ea typeface="Proxima Nova"/>
              <a:cs typeface="Proxima Nova"/>
              <a:sym typeface="Proxima Nova"/>
            </a:endParaRPr>
          </a:p>
          <a:p>
            <a:pPr indent="-349955" lvl="0" marL="457200" rtl="0" algn="l">
              <a:spcBef>
                <a:spcPts val="800"/>
              </a:spcBef>
              <a:spcAft>
                <a:spcPts val="0"/>
              </a:spcAft>
              <a:buClr>
                <a:schemeClr val="lt1"/>
              </a:buClr>
              <a:buSzPts val="1911"/>
              <a:buFont typeface="Proxima Nova"/>
              <a:buChar char="●"/>
            </a:pPr>
            <a:r>
              <a:rPr lang="en" sz="1911">
                <a:solidFill>
                  <a:schemeClr val="lt1"/>
                </a:solidFill>
                <a:latin typeface="Proxima Nova"/>
                <a:ea typeface="Proxima Nova"/>
                <a:cs typeface="Proxima Nova"/>
                <a:sym typeface="Proxima Nova"/>
              </a:rPr>
              <a:t>Representative activities for publicly accessible recreation opportunities </a:t>
            </a:r>
            <a:endParaRPr sz="1911">
              <a:solidFill>
                <a:schemeClr val="lt1"/>
              </a:solidFill>
              <a:latin typeface="Proxima Nova"/>
              <a:ea typeface="Proxima Nova"/>
              <a:cs typeface="Proxima Nova"/>
              <a:sym typeface="Proxima Nova"/>
            </a:endParaRPr>
          </a:p>
          <a:p>
            <a:pPr indent="-349955" lvl="0" marL="457200" rtl="0" algn="l">
              <a:spcBef>
                <a:spcPts val="1000"/>
              </a:spcBef>
              <a:spcAft>
                <a:spcPts val="0"/>
              </a:spcAft>
              <a:buClr>
                <a:schemeClr val="lt1"/>
              </a:buClr>
              <a:buSzPts val="1911"/>
              <a:buFont typeface="Proxima Nova"/>
              <a:buChar char="●"/>
            </a:pPr>
            <a:r>
              <a:rPr lang="en" sz="1911">
                <a:solidFill>
                  <a:schemeClr val="lt1"/>
                </a:solidFill>
                <a:latin typeface="Proxima Nova"/>
                <a:ea typeface="Proxima Nova"/>
                <a:cs typeface="Proxima Nova"/>
                <a:sym typeface="Proxima Nova"/>
              </a:rPr>
              <a:t>Water-dependent recreation</a:t>
            </a:r>
            <a:endParaRPr sz="1911">
              <a:solidFill>
                <a:schemeClr val="lt1"/>
              </a:solidFill>
              <a:latin typeface="Proxima Nova"/>
              <a:ea typeface="Proxima Nova"/>
              <a:cs typeface="Proxima Nova"/>
              <a:sym typeface="Proxima Nova"/>
            </a:endParaRPr>
          </a:p>
          <a:p>
            <a:pPr indent="0" lvl="0" marL="0" rtl="0" algn="l">
              <a:spcBef>
                <a:spcPts val="1000"/>
              </a:spcBef>
              <a:spcAft>
                <a:spcPts val="1000"/>
              </a:spcAft>
              <a:buNone/>
            </a:pPr>
            <a:r>
              <a:t/>
            </a:r>
            <a:endParaRPr sz="1911">
              <a:solidFill>
                <a:schemeClr val="lt1"/>
              </a:solidFill>
              <a:latin typeface="Proxima Nova"/>
              <a:ea typeface="Proxima Nova"/>
              <a:cs typeface="Proxima Nova"/>
              <a:sym typeface="Proxima Nova"/>
            </a:endParaRPr>
          </a:p>
        </p:txBody>
      </p:sp>
      <p:pic>
        <p:nvPicPr>
          <p:cNvPr id="632" name="Google Shape;632;p90"/>
          <p:cNvPicPr preferRelativeResize="0"/>
          <p:nvPr/>
        </p:nvPicPr>
        <p:blipFill>
          <a:blip r:embed="rId3">
            <a:alphaModFix/>
          </a:blip>
          <a:stretch>
            <a:fillRect/>
          </a:stretch>
        </p:blipFill>
        <p:spPr>
          <a:xfrm>
            <a:off x="4913575" y="341850"/>
            <a:ext cx="3845700" cy="4484099"/>
          </a:xfrm>
          <a:prstGeom prst="rect">
            <a:avLst/>
          </a:prstGeom>
          <a:noFill/>
          <a:ln>
            <a:noFill/>
          </a:ln>
        </p:spPr>
      </p:pic>
      <p:pic>
        <p:nvPicPr>
          <p:cNvPr id="633" name="Google Shape;633;p90"/>
          <p:cNvPicPr preferRelativeResize="0"/>
          <p:nvPr/>
        </p:nvPicPr>
        <p:blipFill>
          <a:blip r:embed="rId4">
            <a:alphaModFix/>
          </a:blip>
          <a:stretch>
            <a:fillRect/>
          </a:stretch>
        </p:blipFill>
        <p:spPr>
          <a:xfrm>
            <a:off x="892265" y="1864350"/>
            <a:ext cx="3370811" cy="29494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637" name="Shape 637"/>
        <p:cNvGrpSpPr/>
        <p:nvPr/>
      </p:nvGrpSpPr>
      <p:grpSpPr>
        <a:xfrm>
          <a:off x="0" y="0"/>
          <a:ext cx="0" cy="0"/>
          <a:chOff x="0" y="0"/>
          <a:chExt cx="0" cy="0"/>
        </a:xfrm>
      </p:grpSpPr>
      <p:sp>
        <p:nvSpPr>
          <p:cNvPr id="638" name="Google Shape;638;p91"/>
          <p:cNvSpPr txBox="1"/>
          <p:nvPr>
            <p:ph type="ctrTitle"/>
          </p:nvPr>
        </p:nvSpPr>
        <p:spPr>
          <a:xfrm>
            <a:off x="256375" y="96950"/>
            <a:ext cx="8520600" cy="47778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100"/>
              <a:buNone/>
            </a:pPr>
            <a:r>
              <a:rPr b="1" lang="en" sz="2500">
                <a:solidFill>
                  <a:srgbClr val="7ED957"/>
                </a:solidFill>
                <a:latin typeface="Proxima Nova"/>
                <a:ea typeface="Proxima Nova"/>
                <a:cs typeface="Proxima Nova"/>
                <a:sym typeface="Proxima Nova"/>
              </a:rPr>
              <a:t>Recreation</a:t>
            </a:r>
            <a:r>
              <a:rPr b="1" lang="en" sz="2500">
                <a:solidFill>
                  <a:srgbClr val="7ED957"/>
                </a:solidFill>
                <a:latin typeface="Proxima Nova"/>
                <a:ea typeface="Proxima Nova"/>
                <a:cs typeface="Proxima Nova"/>
                <a:sym typeface="Proxima Nova"/>
              </a:rPr>
              <a:t> Metrics</a:t>
            </a:r>
            <a:endParaRPr b="1" sz="2500">
              <a:solidFill>
                <a:srgbClr val="7ED957"/>
              </a:solidFill>
              <a:latin typeface="Proxima Nova"/>
              <a:ea typeface="Proxima Nova"/>
              <a:cs typeface="Proxima Nova"/>
              <a:sym typeface="Proxima Nova"/>
            </a:endParaRPr>
          </a:p>
          <a:p>
            <a:pPr indent="0" lvl="0" marL="0" rtl="0" algn="l">
              <a:spcBef>
                <a:spcPts val="800"/>
              </a:spcBef>
              <a:spcAft>
                <a:spcPts val="0"/>
              </a:spcAft>
              <a:buSzPts val="1100"/>
              <a:buNone/>
            </a:pPr>
            <a:r>
              <a:t/>
            </a:r>
            <a:endParaRPr sz="2978">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ts val="5200"/>
              <a:buNone/>
            </a:pPr>
            <a:r>
              <a:t/>
            </a:r>
            <a:endParaRPr>
              <a:solidFill>
                <a:srgbClr val="7ED957"/>
              </a:solidFill>
              <a:latin typeface="Hammersmith One"/>
              <a:ea typeface="Hammersmith One"/>
              <a:cs typeface="Hammersmith One"/>
              <a:sym typeface="Hammersmith One"/>
            </a:endParaRPr>
          </a:p>
        </p:txBody>
      </p:sp>
      <p:graphicFrame>
        <p:nvGraphicFramePr>
          <p:cNvPr id="639" name="Google Shape;639;p91"/>
          <p:cNvGraphicFramePr/>
          <p:nvPr/>
        </p:nvGraphicFramePr>
        <p:xfrm>
          <a:off x="342890" y="630479"/>
          <a:ext cx="3000000" cy="3000000"/>
        </p:xfrm>
        <a:graphic>
          <a:graphicData uri="http://schemas.openxmlformats.org/drawingml/2006/table">
            <a:tbl>
              <a:tblPr>
                <a:noFill/>
                <a:tableStyleId>{85CED069-D96A-4F69-AB26-FEDBC44AE582}</a:tableStyleId>
              </a:tblPr>
              <a:tblGrid>
                <a:gridCol w="1199500"/>
                <a:gridCol w="3434550"/>
                <a:gridCol w="3829775"/>
              </a:tblGrid>
              <a:tr h="546300">
                <a:tc>
                  <a:txBody>
                    <a:bodyPr/>
                    <a:lstStyle/>
                    <a:p>
                      <a:pPr indent="0" lvl="0" marL="0" rtl="0" algn="ctr">
                        <a:spcBef>
                          <a:spcPts val="0"/>
                        </a:spcBef>
                        <a:spcAft>
                          <a:spcPts val="0"/>
                        </a:spcAft>
                        <a:buClr>
                          <a:schemeClr val="dk1"/>
                        </a:buClr>
                        <a:buSzPts val="2800"/>
                        <a:buFont typeface="Arial"/>
                        <a:buNone/>
                      </a:pPr>
                      <a:r>
                        <a:rPr b="1" lang="en">
                          <a:solidFill>
                            <a:schemeClr val="lt1"/>
                          </a:solidFill>
                          <a:latin typeface="Proxima Nova"/>
                          <a:ea typeface="Proxima Nova"/>
                          <a:cs typeface="Proxima Nova"/>
                          <a:sym typeface="Proxima Nova"/>
                        </a:rPr>
                        <a:t>Metric</a:t>
                      </a:r>
                      <a:endParaRPr b="1">
                        <a:latin typeface="Proxima Nova"/>
                        <a:ea typeface="Proxima Nova"/>
                        <a:cs typeface="Proxima Nova"/>
                        <a:sym typeface="Proxima Nova"/>
                      </a:endParaRPr>
                    </a:p>
                  </a:txBody>
                  <a:tcPr marT="91425" marB="91425" marR="91425" marL="91425">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38100">
                      <a:solidFill>
                        <a:srgbClr val="51A2BD"/>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Definition</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38100">
                      <a:solidFill>
                        <a:srgbClr val="51A2BD"/>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Measurement</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38100">
                      <a:solidFill>
                        <a:srgbClr val="51A2BD"/>
                      </a:solidFill>
                      <a:prstDash val="solid"/>
                      <a:round/>
                      <a:headEnd len="sm" w="sm" type="none"/>
                      <a:tailEnd len="sm" w="sm" type="none"/>
                    </a:lnB>
                  </a:tcPr>
                </a:tc>
              </a:tr>
              <a:tr h="546300">
                <a:tc>
                  <a:txBody>
                    <a:bodyPr/>
                    <a:lstStyle/>
                    <a:p>
                      <a:pPr indent="0" lvl="0" marL="0" rtl="0" algn="ctr">
                        <a:spcBef>
                          <a:spcPts val="0"/>
                        </a:spcBef>
                        <a:spcAft>
                          <a:spcPts val="0"/>
                        </a:spcAft>
                        <a:buNone/>
                      </a:pPr>
                      <a:r>
                        <a:rPr lang="en">
                          <a:solidFill>
                            <a:schemeClr val="lt1"/>
                          </a:solidFill>
                          <a:latin typeface="Proxima Nova"/>
                          <a:ea typeface="Proxima Nova"/>
                          <a:cs typeface="Proxima Nova"/>
                          <a:sym typeface="Proxima Nova"/>
                        </a:rPr>
                        <a:t>Overall Use</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38100">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chemeClr val="lt1"/>
                          </a:solidFill>
                          <a:latin typeface="Proxima Nova"/>
                          <a:ea typeface="Proxima Nova"/>
                          <a:cs typeface="Proxima Nova"/>
                          <a:sym typeface="Proxima Nova"/>
                        </a:rPr>
                        <a:t>Baseline directly and indirectly water-dependent recreational </a:t>
                      </a:r>
                      <a:r>
                        <a:rPr lang="en">
                          <a:solidFill>
                            <a:schemeClr val="lt1"/>
                          </a:solidFill>
                          <a:latin typeface="Proxima Nova"/>
                          <a:ea typeface="Proxima Nova"/>
                          <a:cs typeface="Proxima Nova"/>
                          <a:sym typeface="Proxima Nova"/>
                        </a:rPr>
                        <a:t>opportunities</a:t>
                      </a:r>
                      <a:r>
                        <a:rPr lang="en">
                          <a:solidFill>
                            <a:schemeClr val="lt1"/>
                          </a:solidFill>
                          <a:latin typeface="Proxima Nova"/>
                          <a:ea typeface="Proxima Nova"/>
                          <a:cs typeface="Proxima Nova"/>
                          <a:sym typeface="Proxima Nova"/>
                        </a:rPr>
                        <a:t> at publicly accessible park and refuge units</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38100">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chemeClr val="lt1"/>
                          </a:solidFill>
                          <a:latin typeface="Proxima Nova"/>
                          <a:ea typeface="Proxima Nova"/>
                          <a:cs typeface="Proxima Nova"/>
                          <a:sym typeface="Proxima Nova"/>
                        </a:rPr>
                        <a:t>Direct: angling participation, boat launches, birding</a:t>
                      </a:r>
                      <a:endParaRPr>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
                          <a:solidFill>
                            <a:schemeClr val="lt1"/>
                          </a:solidFill>
                          <a:latin typeface="Proxima Nova"/>
                          <a:ea typeface="Proxima Nova"/>
                          <a:cs typeface="Proxima Nova"/>
                          <a:sym typeface="Proxima Nova"/>
                        </a:rPr>
                        <a:t>Indirect: waterfowl hunting, day uses</a:t>
                      </a:r>
                      <a:endParaRPr b="1">
                        <a:solidFill>
                          <a:schemeClr val="lt1"/>
                        </a:solidFill>
                        <a:latin typeface="Proxima Nova"/>
                        <a:ea typeface="Proxima Nova"/>
                        <a:cs typeface="Proxima Nova"/>
                        <a:sym typeface="Proxima Nova"/>
                      </a:endParaRPr>
                    </a:p>
                  </a:txBody>
                  <a:tcPr marT="91425" marB="91425" marR="91425" marL="91425">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38100">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tcPr>
                </a:tc>
              </a:tr>
              <a:tr h="985675">
                <a:tc>
                  <a:txBody>
                    <a:bodyPr/>
                    <a:lstStyle/>
                    <a:p>
                      <a:pPr indent="0" lvl="0" marL="0" rtl="0" algn="ctr">
                        <a:spcBef>
                          <a:spcPts val="0"/>
                        </a:spcBef>
                        <a:spcAft>
                          <a:spcPts val="0"/>
                        </a:spcAft>
                        <a:buClr>
                          <a:schemeClr val="dk1"/>
                        </a:buClr>
                        <a:buSzPts val="2800"/>
                        <a:buFont typeface="Arial"/>
                        <a:buNone/>
                      </a:pPr>
                      <a:r>
                        <a:rPr lang="en">
                          <a:solidFill>
                            <a:schemeClr val="lt1"/>
                          </a:solidFill>
                          <a:latin typeface="Proxima Nova"/>
                          <a:ea typeface="Proxima Nova"/>
                          <a:cs typeface="Proxima Nova"/>
                          <a:sym typeface="Proxima Nova"/>
                        </a:rPr>
                        <a:t>Seasonal Use</a:t>
                      </a:r>
                      <a:endParaRPr>
                        <a:latin typeface="Proxima Nova"/>
                        <a:ea typeface="Proxima Nova"/>
                        <a:cs typeface="Proxima Nova"/>
                        <a:sym typeface="Proxima Nova"/>
                      </a:endParaRPr>
                    </a:p>
                  </a:txBody>
                  <a:tcPr marT="91425" marB="91425" marR="91425" marL="91425">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Timing and volume of activity relative to yearly salinity and temperature</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txBody>
                  <a:tcPr marT="91425" marB="91425" marR="91425" marL="91425">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Quantitative and narrative comparison of activity peaks vs. temperature/salinity peaks, and flows</a:t>
                      </a:r>
                      <a:endParaRPr>
                        <a:solidFill>
                          <a:schemeClr val="lt1"/>
                        </a:solidFill>
                        <a:latin typeface="Proxima Nova"/>
                        <a:ea typeface="Proxima Nova"/>
                        <a:cs typeface="Proxima Nova"/>
                        <a:sym typeface="Proxima Nova"/>
                      </a:endParaRPr>
                    </a:p>
                  </a:txBody>
                  <a:tcPr marT="91425" marB="91425" marR="91425" marL="91425">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tcPr>
                </a:tc>
              </a:tr>
              <a:tr h="781950">
                <a:tc>
                  <a:txBody>
                    <a:bodyPr/>
                    <a:lstStyle/>
                    <a:p>
                      <a:pPr indent="0" lvl="0" marL="0" rtl="0" algn="ctr">
                        <a:spcBef>
                          <a:spcPts val="0"/>
                        </a:spcBef>
                        <a:spcAft>
                          <a:spcPts val="0"/>
                        </a:spcAft>
                        <a:buClr>
                          <a:schemeClr val="dk1"/>
                        </a:buClr>
                        <a:buSzPts val="2800"/>
                        <a:buFont typeface="Arial"/>
                        <a:buNone/>
                      </a:pPr>
                      <a:r>
                        <a:rPr lang="en">
                          <a:solidFill>
                            <a:schemeClr val="lt1"/>
                          </a:solidFill>
                          <a:latin typeface="Proxima Nova"/>
                          <a:ea typeface="Proxima Nova"/>
                          <a:cs typeface="Proxima Nova"/>
                          <a:sym typeface="Proxima Nova"/>
                        </a:rPr>
                        <a:t>Restoration</a:t>
                      </a:r>
                      <a:endParaRPr>
                        <a:latin typeface="Proxima Nova"/>
                        <a:ea typeface="Proxima Nova"/>
                        <a:cs typeface="Proxima Nova"/>
                        <a:sym typeface="Proxima Nova"/>
                      </a:endParaRPr>
                    </a:p>
                  </a:txBody>
                  <a:tcPr marT="91425" marB="91425" marR="91425" marL="91425">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Accessible acreage gained through wetland restoration</a:t>
                      </a:r>
                      <a:endParaRPr>
                        <a:solidFill>
                          <a:schemeClr val="lt1"/>
                        </a:solidFill>
                        <a:latin typeface="Proxima Nova"/>
                        <a:ea typeface="Proxima Nova"/>
                        <a:cs typeface="Proxima Nova"/>
                        <a:sym typeface="Proxima Nova"/>
                      </a:endParaRPr>
                    </a:p>
                  </a:txBody>
                  <a:tcPr marT="91425" marB="91425" marR="91425" marL="91425">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tcPr>
                </a:tc>
                <a:tc>
                  <a:txBody>
                    <a:bodyPr/>
                    <a:lstStyle/>
                    <a:p>
                      <a:pPr indent="0" lvl="0" marL="0" rtl="0" algn="l">
                        <a:spcBef>
                          <a:spcPts val="0"/>
                        </a:spcBef>
                        <a:spcAft>
                          <a:spcPts val="0"/>
                        </a:spcAft>
                        <a:buClr>
                          <a:schemeClr val="lt1"/>
                        </a:buClr>
                        <a:buFont typeface="Proxima Nova"/>
                        <a:buNone/>
                      </a:pPr>
                      <a:r>
                        <a:rPr lang="en">
                          <a:solidFill>
                            <a:schemeClr val="lt1"/>
                          </a:solidFill>
                          <a:latin typeface="Proxima Nova"/>
                          <a:ea typeface="Proxima Nova"/>
                          <a:cs typeface="Proxima Nova"/>
                          <a:sym typeface="Proxima Nova"/>
                        </a:rPr>
                        <a:t>Quantitative and narrative estimate of added acreage beyond current inventories</a:t>
                      </a:r>
                      <a:endParaRPr>
                        <a:solidFill>
                          <a:schemeClr val="lt1"/>
                        </a:solidFill>
                        <a:latin typeface="Proxima Nova"/>
                        <a:ea typeface="Proxima Nova"/>
                        <a:cs typeface="Proxima Nova"/>
                        <a:sym typeface="Proxima Nova"/>
                      </a:endParaRPr>
                    </a:p>
                  </a:txBody>
                  <a:tcPr marT="91425" marB="91425" marR="91425" marL="91425">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tcPr>
                </a:tc>
              </a:tr>
              <a:tr h="781950">
                <a:tc>
                  <a:txBody>
                    <a:bodyPr/>
                    <a:lstStyle/>
                    <a:p>
                      <a:pPr indent="0" lvl="0" marL="0" rtl="0" algn="ctr">
                        <a:spcBef>
                          <a:spcPts val="0"/>
                        </a:spcBef>
                        <a:spcAft>
                          <a:spcPts val="0"/>
                        </a:spcAft>
                        <a:buClr>
                          <a:schemeClr val="dk1"/>
                        </a:buClr>
                        <a:buSzPts val="2800"/>
                        <a:buFont typeface="Arial"/>
                        <a:buNone/>
                      </a:pPr>
                      <a:r>
                        <a:rPr lang="en">
                          <a:solidFill>
                            <a:schemeClr val="lt1"/>
                          </a:solidFill>
                          <a:latin typeface="Proxima Nova"/>
                          <a:ea typeface="Proxima Nova"/>
                          <a:cs typeface="Proxima Nova"/>
                          <a:sym typeface="Proxima Nova"/>
                        </a:rPr>
                        <a:t>Recreation Economy</a:t>
                      </a:r>
                      <a:endParaRPr>
                        <a:solidFill>
                          <a:schemeClr val="lt1"/>
                        </a:solidFill>
                        <a:latin typeface="Proxima Nova"/>
                        <a:ea typeface="Proxima Nova"/>
                        <a:cs typeface="Proxima Nova"/>
                        <a:sym typeface="Proxima Nova"/>
                      </a:endParaRPr>
                    </a:p>
                  </a:txBody>
                  <a:tcPr marT="91425" marB="91425" marR="91425" marL="91425">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Visitor spending  and decadal shifts by activity</a:t>
                      </a:r>
                      <a:endParaRPr>
                        <a:solidFill>
                          <a:schemeClr val="lt1"/>
                        </a:solidFill>
                        <a:latin typeface="Proxima Nova"/>
                        <a:ea typeface="Proxima Nova"/>
                        <a:cs typeface="Proxima Nova"/>
                        <a:sym typeface="Proxima Nova"/>
                      </a:endParaRPr>
                    </a:p>
                  </a:txBody>
                  <a:tcPr marT="91425" marB="91425" marR="91425" marL="91425">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Narrative grounded in macroeconomic theory and Input-Output visitor spending models</a:t>
                      </a:r>
                      <a:endParaRPr>
                        <a:solidFill>
                          <a:schemeClr val="lt1"/>
                        </a:solidFill>
                        <a:latin typeface="Proxima Nova"/>
                        <a:ea typeface="Proxima Nova"/>
                        <a:cs typeface="Proxima Nova"/>
                        <a:sym typeface="Proxima Nova"/>
                      </a:endParaRPr>
                    </a:p>
                  </a:txBody>
                  <a:tcPr marT="91425" marB="91425" marR="91425" marL="91425">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643" name="Shape 643"/>
        <p:cNvGrpSpPr/>
        <p:nvPr/>
      </p:nvGrpSpPr>
      <p:grpSpPr>
        <a:xfrm>
          <a:off x="0" y="0"/>
          <a:ext cx="0" cy="0"/>
          <a:chOff x="0" y="0"/>
          <a:chExt cx="0" cy="0"/>
        </a:xfrm>
      </p:grpSpPr>
      <p:sp>
        <p:nvSpPr>
          <p:cNvPr id="644" name="Google Shape;644;p92"/>
          <p:cNvSpPr txBox="1"/>
          <p:nvPr>
            <p:ph type="ctrTitle"/>
          </p:nvPr>
        </p:nvSpPr>
        <p:spPr>
          <a:xfrm>
            <a:off x="403925" y="190825"/>
            <a:ext cx="8669700" cy="3414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100"/>
              <a:buNone/>
            </a:pPr>
            <a:r>
              <a:rPr b="1" lang="en" sz="2556">
                <a:solidFill>
                  <a:srgbClr val="7ED957"/>
                </a:solidFill>
                <a:latin typeface="Proxima Nova"/>
                <a:ea typeface="Proxima Nova"/>
                <a:cs typeface="Proxima Nova"/>
                <a:sym typeface="Proxima Nova"/>
              </a:rPr>
              <a:t>Delta </a:t>
            </a:r>
            <a:r>
              <a:rPr b="1" lang="en" sz="2556">
                <a:solidFill>
                  <a:srgbClr val="7ED957"/>
                </a:solidFill>
                <a:latin typeface="Proxima Nova"/>
                <a:ea typeface="Proxima Nova"/>
                <a:cs typeface="Proxima Nova"/>
                <a:sym typeface="Proxima Nova"/>
              </a:rPr>
              <a:t>Sub-regions</a:t>
            </a:r>
            <a:endParaRPr b="1" sz="2556">
              <a:solidFill>
                <a:srgbClr val="7ED957"/>
              </a:solidFill>
              <a:latin typeface="Proxima Nova"/>
              <a:ea typeface="Proxima Nova"/>
              <a:cs typeface="Proxima Nova"/>
              <a:sym typeface="Proxima Nova"/>
            </a:endParaRPr>
          </a:p>
          <a:p>
            <a:pPr indent="0" lvl="0" marL="0" rtl="0" algn="l">
              <a:spcBef>
                <a:spcPts val="800"/>
              </a:spcBef>
              <a:spcAft>
                <a:spcPts val="0"/>
              </a:spcAft>
              <a:buSzPts val="1100"/>
              <a:buNone/>
            </a:pPr>
            <a:r>
              <a:t/>
            </a:r>
            <a:endParaRPr sz="2978">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ts val="5200"/>
              <a:buNone/>
            </a:pPr>
            <a:r>
              <a:t/>
            </a:r>
            <a:endParaRPr>
              <a:solidFill>
                <a:srgbClr val="7ED957"/>
              </a:solidFill>
              <a:latin typeface="Hammersmith One"/>
              <a:ea typeface="Hammersmith One"/>
              <a:cs typeface="Hammersmith One"/>
              <a:sym typeface="Hammersmith One"/>
            </a:endParaRPr>
          </a:p>
        </p:txBody>
      </p:sp>
      <p:sp>
        <p:nvSpPr>
          <p:cNvPr id="645" name="Google Shape;645;p92"/>
          <p:cNvSpPr txBox="1"/>
          <p:nvPr/>
        </p:nvSpPr>
        <p:spPr>
          <a:xfrm>
            <a:off x="403925" y="924575"/>
            <a:ext cx="4593900" cy="3867600"/>
          </a:xfrm>
          <a:prstGeom prst="rect">
            <a:avLst/>
          </a:prstGeom>
          <a:noFill/>
          <a:ln>
            <a:noFill/>
          </a:ln>
        </p:spPr>
        <p:txBody>
          <a:bodyPr anchorCtr="0" anchor="t" bIns="91425" lIns="91425" spcFirstLastPara="1" rIns="91425" wrap="square" tIns="91425">
            <a:spAutoFit/>
          </a:bodyPr>
          <a:lstStyle/>
          <a:p>
            <a:pPr indent="-361950" lvl="0" marL="457200" rtl="0" algn="l">
              <a:lnSpc>
                <a:spcPct val="115000"/>
              </a:lnSpc>
              <a:spcBef>
                <a:spcPts val="0"/>
              </a:spcBef>
              <a:spcAft>
                <a:spcPts val="0"/>
              </a:spcAft>
              <a:buClr>
                <a:schemeClr val="lt1"/>
              </a:buClr>
              <a:buSzPts val="2100"/>
              <a:buFont typeface="Proxima Nova"/>
              <a:buChar char="●"/>
            </a:pPr>
            <a:r>
              <a:rPr lang="en" sz="2100">
                <a:solidFill>
                  <a:schemeClr val="lt1"/>
                </a:solidFill>
                <a:latin typeface="Proxima Nova"/>
                <a:ea typeface="Proxima Nova"/>
                <a:cs typeface="Proxima Nova"/>
                <a:sym typeface="Proxima Nova"/>
              </a:rPr>
              <a:t>Delta regions are influenced by</a:t>
            </a:r>
            <a:r>
              <a:rPr lang="en" sz="2100">
                <a:solidFill>
                  <a:schemeClr val="lt1"/>
                </a:solidFill>
                <a:latin typeface="Proxima Nova"/>
                <a:ea typeface="Proxima Nova"/>
                <a:cs typeface="Proxima Nova"/>
                <a:sym typeface="Proxima Nova"/>
              </a:rPr>
              <a:t> tidal geography, </a:t>
            </a:r>
            <a:r>
              <a:rPr lang="en" sz="2100">
                <a:solidFill>
                  <a:schemeClr val="lt1"/>
                </a:solidFill>
                <a:latin typeface="Proxima Nova"/>
                <a:ea typeface="Proxima Nova"/>
                <a:cs typeface="Proxima Nova"/>
                <a:sym typeface="Proxima Nova"/>
              </a:rPr>
              <a:t>salinity</a:t>
            </a:r>
            <a:r>
              <a:rPr lang="en" sz="2100">
                <a:solidFill>
                  <a:schemeClr val="lt1"/>
                </a:solidFill>
                <a:latin typeface="Proxima Nova"/>
                <a:ea typeface="Proxima Nova"/>
                <a:cs typeface="Proxima Nova"/>
                <a:sym typeface="Proxima Nova"/>
              </a:rPr>
              <a:t> and regional hydrological differences </a:t>
            </a:r>
            <a:r>
              <a:rPr i="1" lang="en" sz="2100">
                <a:solidFill>
                  <a:schemeClr val="lt1"/>
                </a:solidFill>
                <a:latin typeface="Proxima Nova"/>
                <a:ea typeface="Proxima Nova"/>
                <a:cs typeface="Proxima Nova"/>
                <a:sym typeface="Proxima Nova"/>
              </a:rPr>
              <a:t>Andrews, et al., (2017)</a:t>
            </a:r>
            <a:endParaRPr i="1" sz="2100">
              <a:solidFill>
                <a:schemeClr val="lt1"/>
              </a:solidFill>
              <a:latin typeface="Proxima Nova"/>
              <a:ea typeface="Proxima Nova"/>
              <a:cs typeface="Proxima Nova"/>
              <a:sym typeface="Proxima Nova"/>
            </a:endParaRPr>
          </a:p>
          <a:p>
            <a:pPr indent="-361950" lvl="0" marL="457200" rtl="0" algn="l">
              <a:spcBef>
                <a:spcPts val="1000"/>
              </a:spcBef>
              <a:spcAft>
                <a:spcPts val="0"/>
              </a:spcAft>
              <a:buClr>
                <a:schemeClr val="lt1"/>
              </a:buClr>
              <a:buSzPts val="2100"/>
              <a:buFont typeface="Proxima Nova"/>
              <a:buChar char="●"/>
            </a:pPr>
            <a:r>
              <a:rPr lang="en" sz="2100">
                <a:solidFill>
                  <a:schemeClr val="lt1"/>
                </a:solidFill>
                <a:latin typeface="Proxima Nova"/>
                <a:ea typeface="Proxima Nova"/>
                <a:cs typeface="Proxima Nova"/>
                <a:sym typeface="Proxima Nova"/>
              </a:rPr>
              <a:t>Regional access to recreational opportunities and roadway rationale </a:t>
            </a:r>
            <a:r>
              <a:rPr i="1" lang="en" sz="2100">
                <a:solidFill>
                  <a:schemeClr val="lt1"/>
                </a:solidFill>
                <a:latin typeface="Proxima Nova"/>
                <a:ea typeface="Proxima Nova"/>
                <a:cs typeface="Proxima Nova"/>
                <a:sym typeface="Proxima Nova"/>
              </a:rPr>
              <a:t>Delta Plan (2013)</a:t>
            </a:r>
            <a:endParaRPr i="1" sz="2100">
              <a:solidFill>
                <a:schemeClr val="lt1"/>
              </a:solidFill>
              <a:latin typeface="Proxima Nova"/>
              <a:ea typeface="Proxima Nova"/>
              <a:cs typeface="Proxima Nova"/>
              <a:sym typeface="Proxima Nova"/>
            </a:endParaRPr>
          </a:p>
          <a:p>
            <a:pPr indent="-361950" lvl="0" marL="457200" rtl="0" algn="l">
              <a:spcBef>
                <a:spcPts val="1000"/>
              </a:spcBef>
              <a:spcAft>
                <a:spcPts val="1000"/>
              </a:spcAft>
              <a:buClr>
                <a:schemeClr val="lt1"/>
              </a:buClr>
              <a:buSzPts val="2100"/>
              <a:buFont typeface="Proxima Nova"/>
              <a:buChar char="●"/>
            </a:pPr>
            <a:r>
              <a:rPr lang="en" sz="2100">
                <a:solidFill>
                  <a:schemeClr val="lt1"/>
                </a:solidFill>
                <a:latin typeface="Proxima Nova"/>
                <a:ea typeface="Proxima Nova"/>
                <a:cs typeface="Proxima Nova"/>
                <a:sym typeface="Proxima Nova"/>
              </a:rPr>
              <a:t>Natural regional aesthetic and winding waterways </a:t>
            </a:r>
            <a:r>
              <a:rPr i="1" lang="en" sz="2100">
                <a:solidFill>
                  <a:schemeClr val="lt1"/>
                </a:solidFill>
                <a:latin typeface="Proxima Nova"/>
                <a:ea typeface="Proxima Nova"/>
                <a:cs typeface="Proxima Nova"/>
                <a:sym typeface="Proxima Nova"/>
              </a:rPr>
              <a:t>Olmsted Jr. (1929)</a:t>
            </a:r>
            <a:endParaRPr i="1" sz="2100">
              <a:solidFill>
                <a:schemeClr val="lt1"/>
              </a:solidFill>
              <a:latin typeface="Proxima Nova"/>
              <a:ea typeface="Proxima Nova"/>
              <a:cs typeface="Proxima Nova"/>
              <a:sym typeface="Proxima Nova"/>
            </a:endParaRPr>
          </a:p>
        </p:txBody>
      </p:sp>
      <p:pic>
        <p:nvPicPr>
          <p:cNvPr id="646" name="Google Shape;646;p92"/>
          <p:cNvPicPr preferRelativeResize="0"/>
          <p:nvPr/>
        </p:nvPicPr>
        <p:blipFill>
          <a:blip r:embed="rId3">
            <a:alphaModFix/>
          </a:blip>
          <a:stretch>
            <a:fillRect/>
          </a:stretch>
        </p:blipFill>
        <p:spPr>
          <a:xfrm>
            <a:off x="5042154" y="0"/>
            <a:ext cx="4101842" cy="514350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650" name="Shape 650"/>
        <p:cNvGrpSpPr/>
        <p:nvPr/>
      </p:nvGrpSpPr>
      <p:grpSpPr>
        <a:xfrm>
          <a:off x="0" y="0"/>
          <a:ext cx="0" cy="0"/>
          <a:chOff x="0" y="0"/>
          <a:chExt cx="0" cy="0"/>
        </a:xfrm>
      </p:grpSpPr>
      <p:sp>
        <p:nvSpPr>
          <p:cNvPr id="651" name="Google Shape;651;p93"/>
          <p:cNvSpPr txBox="1"/>
          <p:nvPr>
            <p:ph type="ctrTitle"/>
          </p:nvPr>
        </p:nvSpPr>
        <p:spPr>
          <a:xfrm>
            <a:off x="3642775" y="0"/>
            <a:ext cx="3094500" cy="7302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36000"/>
              <a:buNone/>
            </a:pPr>
            <a:r>
              <a:rPr b="1" lang="en" sz="3056">
                <a:solidFill>
                  <a:srgbClr val="7ED957"/>
                </a:solidFill>
                <a:latin typeface="Proxima Nova"/>
                <a:ea typeface="Proxima Nova"/>
                <a:cs typeface="Proxima Nova"/>
                <a:sym typeface="Proxima Nova"/>
              </a:rPr>
              <a:t>Restoration</a:t>
            </a:r>
            <a:endParaRPr b="1" sz="3056">
              <a:solidFill>
                <a:srgbClr val="7ED957"/>
              </a:solidFill>
              <a:latin typeface="Proxima Nova"/>
              <a:ea typeface="Proxima Nova"/>
              <a:cs typeface="Proxima Nova"/>
              <a:sym typeface="Proxima Nova"/>
            </a:endParaRPr>
          </a:p>
          <a:p>
            <a:pPr indent="0" lvl="0" marL="0" rtl="0" algn="l">
              <a:spcBef>
                <a:spcPts val="800"/>
              </a:spcBef>
              <a:spcAft>
                <a:spcPts val="0"/>
              </a:spcAft>
              <a:buSzPct val="36940"/>
              <a:buNone/>
            </a:pPr>
            <a:r>
              <a:t/>
            </a:r>
            <a:endParaRPr sz="2978">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ct val="100000"/>
              <a:buNone/>
            </a:pPr>
            <a:r>
              <a:t/>
            </a:r>
            <a:endParaRPr>
              <a:solidFill>
                <a:srgbClr val="7ED957"/>
              </a:solidFill>
              <a:latin typeface="Hammersmith One"/>
              <a:ea typeface="Hammersmith One"/>
              <a:cs typeface="Hammersmith One"/>
              <a:sym typeface="Hammersmith One"/>
            </a:endParaRPr>
          </a:p>
        </p:txBody>
      </p:sp>
      <p:sp>
        <p:nvSpPr>
          <p:cNvPr id="652" name="Google Shape;652;p93"/>
          <p:cNvSpPr txBox="1"/>
          <p:nvPr/>
        </p:nvSpPr>
        <p:spPr>
          <a:xfrm>
            <a:off x="1701750" y="4559800"/>
            <a:ext cx="5740500" cy="28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9E9E9E"/>
                </a:solidFill>
                <a:latin typeface="Proxima Nova"/>
                <a:ea typeface="Proxima Nova"/>
                <a:cs typeface="Proxima Nova"/>
                <a:sym typeface="Proxima Nova"/>
              </a:rPr>
              <a:t>Deficits derived from CVJV 2020 Habitat Needs for Delta area Waterfowl and Riparian species</a:t>
            </a:r>
            <a:endParaRPr i="1">
              <a:solidFill>
                <a:srgbClr val="9E9E9E"/>
              </a:solidFill>
              <a:latin typeface="Proxima Nova"/>
              <a:ea typeface="Proxima Nova"/>
              <a:cs typeface="Proxima Nova"/>
              <a:sym typeface="Proxima Nova"/>
            </a:endParaRPr>
          </a:p>
        </p:txBody>
      </p:sp>
      <p:pic>
        <p:nvPicPr>
          <p:cNvPr id="653" name="Google Shape;653;p93"/>
          <p:cNvPicPr preferRelativeResize="0"/>
          <p:nvPr/>
        </p:nvPicPr>
        <p:blipFill>
          <a:blip r:embed="rId3">
            <a:alphaModFix/>
          </a:blip>
          <a:stretch>
            <a:fillRect/>
          </a:stretch>
        </p:blipFill>
        <p:spPr>
          <a:xfrm>
            <a:off x="458625" y="934100"/>
            <a:ext cx="4073401" cy="3009999"/>
          </a:xfrm>
          <a:prstGeom prst="rect">
            <a:avLst/>
          </a:prstGeom>
          <a:noFill/>
          <a:ln>
            <a:noFill/>
          </a:ln>
        </p:spPr>
      </p:pic>
      <p:pic>
        <p:nvPicPr>
          <p:cNvPr id="654" name="Google Shape;654;p93"/>
          <p:cNvPicPr preferRelativeResize="0"/>
          <p:nvPr/>
        </p:nvPicPr>
        <p:blipFill>
          <a:blip r:embed="rId4">
            <a:alphaModFix/>
          </a:blip>
          <a:stretch>
            <a:fillRect/>
          </a:stretch>
        </p:blipFill>
        <p:spPr>
          <a:xfrm>
            <a:off x="4532025" y="934100"/>
            <a:ext cx="3845007" cy="3009999"/>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658" name="Shape 658"/>
        <p:cNvGrpSpPr/>
        <p:nvPr/>
      </p:nvGrpSpPr>
      <p:grpSpPr>
        <a:xfrm>
          <a:off x="0" y="0"/>
          <a:ext cx="0" cy="0"/>
          <a:chOff x="0" y="0"/>
          <a:chExt cx="0" cy="0"/>
        </a:xfrm>
      </p:grpSpPr>
      <p:sp>
        <p:nvSpPr>
          <p:cNvPr id="659" name="Google Shape;659;p94"/>
          <p:cNvSpPr txBox="1"/>
          <p:nvPr>
            <p:ph type="ctrTitle"/>
          </p:nvPr>
        </p:nvSpPr>
        <p:spPr>
          <a:xfrm>
            <a:off x="22950" y="40725"/>
            <a:ext cx="2422800" cy="5616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32459"/>
              <a:buNone/>
            </a:pPr>
            <a:r>
              <a:rPr b="1" lang="en" sz="3389">
                <a:solidFill>
                  <a:srgbClr val="7ED957"/>
                </a:solidFill>
                <a:latin typeface="Proxima Nova"/>
                <a:ea typeface="Proxima Nova"/>
                <a:cs typeface="Proxima Nova"/>
                <a:sym typeface="Proxima Nova"/>
              </a:rPr>
              <a:t>Results</a:t>
            </a:r>
            <a:r>
              <a:rPr b="1" lang="en" sz="4056">
                <a:solidFill>
                  <a:srgbClr val="7ED957"/>
                </a:solidFill>
                <a:latin typeface="Proxima Nova"/>
                <a:ea typeface="Proxima Nova"/>
                <a:cs typeface="Proxima Nova"/>
                <a:sym typeface="Proxima Nova"/>
              </a:rPr>
              <a:t> </a:t>
            </a:r>
            <a:endParaRPr b="1" sz="4056">
              <a:solidFill>
                <a:srgbClr val="7ED957"/>
              </a:solidFill>
              <a:latin typeface="Proxima Nova"/>
              <a:ea typeface="Proxima Nova"/>
              <a:cs typeface="Proxima Nova"/>
              <a:sym typeface="Proxima Nova"/>
            </a:endParaRPr>
          </a:p>
          <a:p>
            <a:pPr indent="0" lvl="0" marL="0" rtl="0" algn="l">
              <a:spcBef>
                <a:spcPts val="800"/>
              </a:spcBef>
              <a:spcAft>
                <a:spcPts val="0"/>
              </a:spcAft>
              <a:buSzPct val="36940"/>
              <a:buNone/>
            </a:pPr>
            <a:r>
              <a:t/>
            </a:r>
            <a:endParaRPr sz="2978">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ct val="100000"/>
              <a:buNone/>
            </a:pPr>
            <a:r>
              <a:t/>
            </a:r>
            <a:endParaRPr>
              <a:solidFill>
                <a:srgbClr val="7ED957"/>
              </a:solidFill>
              <a:latin typeface="Hammersmith One"/>
              <a:ea typeface="Hammersmith One"/>
              <a:cs typeface="Hammersmith One"/>
              <a:sym typeface="Hammersmith One"/>
            </a:endParaRPr>
          </a:p>
        </p:txBody>
      </p:sp>
      <p:sp>
        <p:nvSpPr>
          <p:cNvPr id="660" name="Google Shape;660;p94"/>
          <p:cNvSpPr txBox="1"/>
          <p:nvPr/>
        </p:nvSpPr>
        <p:spPr>
          <a:xfrm>
            <a:off x="2063500" y="169425"/>
            <a:ext cx="5250300" cy="73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Proxima Nova Semibold"/>
                <a:ea typeface="Proxima Nova Semibold"/>
                <a:cs typeface="Proxima Nova Semibold"/>
                <a:sym typeface="Proxima Nova Semibold"/>
              </a:rPr>
              <a:t>Birdwatcher Sightings</a:t>
            </a:r>
            <a:endParaRPr sz="2000">
              <a:solidFill>
                <a:schemeClr val="lt1"/>
              </a:solidFill>
              <a:latin typeface="Proxima Nova Semibold"/>
              <a:ea typeface="Proxima Nova Semibold"/>
              <a:cs typeface="Proxima Nova Semibold"/>
              <a:sym typeface="Proxima Nova Semibold"/>
            </a:endParaRPr>
          </a:p>
          <a:p>
            <a:pPr indent="0" lvl="0" marL="0" rtl="0" algn="ctr">
              <a:spcBef>
                <a:spcPts val="0"/>
              </a:spcBef>
              <a:spcAft>
                <a:spcPts val="0"/>
              </a:spcAft>
              <a:buNone/>
            </a:pPr>
            <a:r>
              <a:rPr lang="en" sz="1700">
                <a:solidFill>
                  <a:schemeClr val="lt1"/>
                </a:solidFill>
                <a:latin typeface="Proxima Nova Semibold"/>
                <a:ea typeface="Proxima Nova Semibold"/>
                <a:cs typeface="Proxima Nova Semibold"/>
                <a:sym typeface="Proxima Nova Semibold"/>
              </a:rPr>
              <a:t>Affected by threshold </a:t>
            </a:r>
            <a:r>
              <a:rPr lang="en" sz="1800">
                <a:solidFill>
                  <a:schemeClr val="lt1"/>
                </a:solidFill>
                <a:latin typeface="Proxima Nova Semibold"/>
                <a:ea typeface="Proxima Nova Semibold"/>
                <a:cs typeface="Proxima Nova Semibold"/>
                <a:sym typeface="Proxima Nova Semibold"/>
              </a:rPr>
              <a:t>(2,640 µS/cm)</a:t>
            </a:r>
            <a:r>
              <a:rPr lang="en" sz="1100">
                <a:solidFill>
                  <a:schemeClr val="lt1"/>
                </a:solidFill>
                <a:latin typeface="Proxima Nova Semibold"/>
                <a:ea typeface="Proxima Nova Semibold"/>
                <a:cs typeface="Proxima Nova Semibold"/>
                <a:sym typeface="Proxima Nova Semibold"/>
              </a:rPr>
              <a:t> </a:t>
            </a:r>
            <a:endParaRPr sz="1700">
              <a:solidFill>
                <a:schemeClr val="lt1"/>
              </a:solidFill>
              <a:latin typeface="Proxima Nova Semibold"/>
              <a:ea typeface="Proxima Nova Semibold"/>
              <a:cs typeface="Proxima Nova Semibold"/>
              <a:sym typeface="Proxima Nova Semibold"/>
            </a:endParaRPr>
          </a:p>
        </p:txBody>
      </p:sp>
      <p:sp>
        <p:nvSpPr>
          <p:cNvPr id="661" name="Google Shape;661;p94"/>
          <p:cNvSpPr txBox="1"/>
          <p:nvPr/>
        </p:nvSpPr>
        <p:spPr>
          <a:xfrm>
            <a:off x="7544250" y="40725"/>
            <a:ext cx="1495200" cy="533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100">
                <a:solidFill>
                  <a:schemeClr val="lt1"/>
                </a:solidFill>
              </a:rPr>
              <a:t>Flow exceedances</a:t>
            </a:r>
            <a:endParaRPr b="1" sz="1100">
              <a:solidFill>
                <a:schemeClr val="lt1"/>
              </a:solidFill>
            </a:endParaRPr>
          </a:p>
          <a:p>
            <a:pPr indent="0" lvl="0" marL="0" rtl="0" algn="ctr">
              <a:lnSpc>
                <a:spcPct val="115000"/>
              </a:lnSpc>
              <a:spcBef>
                <a:spcPts val="0"/>
              </a:spcBef>
              <a:spcAft>
                <a:spcPts val="0"/>
              </a:spcAft>
              <a:buNone/>
            </a:pPr>
            <a:r>
              <a:rPr b="1" lang="en" sz="1000">
                <a:solidFill>
                  <a:schemeClr val="lt1"/>
                </a:solidFill>
              </a:rPr>
              <a:t>2,640 µS/cm</a:t>
            </a:r>
            <a:endParaRPr b="1" sz="1000">
              <a:solidFill>
                <a:schemeClr val="lt1"/>
              </a:solidFill>
            </a:endParaRPr>
          </a:p>
        </p:txBody>
      </p:sp>
      <p:pic>
        <p:nvPicPr>
          <p:cNvPr id="662" name="Google Shape;662;p94"/>
          <p:cNvPicPr preferRelativeResize="0"/>
          <p:nvPr/>
        </p:nvPicPr>
        <p:blipFill>
          <a:blip r:embed="rId3">
            <a:alphaModFix/>
          </a:blip>
          <a:stretch>
            <a:fillRect/>
          </a:stretch>
        </p:blipFill>
        <p:spPr>
          <a:xfrm>
            <a:off x="2063625" y="905325"/>
            <a:ext cx="2921375" cy="3216025"/>
          </a:xfrm>
          <a:prstGeom prst="rect">
            <a:avLst/>
          </a:prstGeom>
          <a:noFill/>
          <a:ln>
            <a:noFill/>
          </a:ln>
        </p:spPr>
      </p:pic>
      <p:pic>
        <p:nvPicPr>
          <p:cNvPr id="663" name="Google Shape;663;p94"/>
          <p:cNvPicPr preferRelativeResize="0"/>
          <p:nvPr/>
        </p:nvPicPr>
        <p:blipFill>
          <a:blip r:embed="rId4">
            <a:alphaModFix/>
          </a:blip>
          <a:stretch>
            <a:fillRect/>
          </a:stretch>
        </p:blipFill>
        <p:spPr>
          <a:xfrm>
            <a:off x="4985000" y="905325"/>
            <a:ext cx="2670024" cy="3216024"/>
          </a:xfrm>
          <a:prstGeom prst="rect">
            <a:avLst/>
          </a:prstGeom>
          <a:noFill/>
          <a:ln>
            <a:noFill/>
          </a:ln>
        </p:spPr>
      </p:pic>
      <p:pic>
        <p:nvPicPr>
          <p:cNvPr id="664" name="Google Shape;664;p94"/>
          <p:cNvPicPr preferRelativeResize="0"/>
          <p:nvPr/>
        </p:nvPicPr>
        <p:blipFill>
          <a:blip r:embed="rId5">
            <a:alphaModFix/>
          </a:blip>
          <a:stretch>
            <a:fillRect/>
          </a:stretch>
        </p:blipFill>
        <p:spPr>
          <a:xfrm>
            <a:off x="7663793" y="2078843"/>
            <a:ext cx="1337525" cy="1370859"/>
          </a:xfrm>
          <a:prstGeom prst="rect">
            <a:avLst/>
          </a:prstGeom>
          <a:noFill/>
          <a:ln>
            <a:noFill/>
          </a:ln>
        </p:spPr>
      </p:pic>
      <p:pic>
        <p:nvPicPr>
          <p:cNvPr id="665" name="Google Shape;665;p94"/>
          <p:cNvPicPr preferRelativeResize="0"/>
          <p:nvPr/>
        </p:nvPicPr>
        <p:blipFill>
          <a:blip r:embed="rId6">
            <a:alphaModFix/>
          </a:blip>
          <a:stretch>
            <a:fillRect/>
          </a:stretch>
        </p:blipFill>
        <p:spPr>
          <a:xfrm>
            <a:off x="7663801" y="712173"/>
            <a:ext cx="1337525" cy="1366677"/>
          </a:xfrm>
          <a:prstGeom prst="rect">
            <a:avLst/>
          </a:prstGeom>
          <a:noFill/>
          <a:ln>
            <a:noFill/>
          </a:ln>
        </p:spPr>
      </p:pic>
      <p:pic>
        <p:nvPicPr>
          <p:cNvPr id="666" name="Google Shape;666;p94"/>
          <p:cNvPicPr preferRelativeResize="0"/>
          <p:nvPr/>
        </p:nvPicPr>
        <p:blipFill>
          <a:blip r:embed="rId7">
            <a:alphaModFix/>
          </a:blip>
          <a:stretch>
            <a:fillRect/>
          </a:stretch>
        </p:blipFill>
        <p:spPr>
          <a:xfrm>
            <a:off x="7663793" y="3449693"/>
            <a:ext cx="1337525" cy="1287834"/>
          </a:xfrm>
          <a:prstGeom prst="rect">
            <a:avLst/>
          </a:prstGeom>
          <a:noFill/>
          <a:ln>
            <a:noFill/>
          </a:ln>
        </p:spPr>
      </p:pic>
      <p:graphicFrame>
        <p:nvGraphicFramePr>
          <p:cNvPr id="667" name="Google Shape;667;p94"/>
          <p:cNvGraphicFramePr/>
          <p:nvPr/>
        </p:nvGraphicFramePr>
        <p:xfrm>
          <a:off x="22950" y="990300"/>
          <a:ext cx="3000000" cy="3000000"/>
        </p:xfrm>
        <a:graphic>
          <a:graphicData uri="http://schemas.openxmlformats.org/drawingml/2006/table">
            <a:tbl>
              <a:tblPr>
                <a:noFill/>
                <a:tableStyleId>{85CED069-D96A-4F69-AB26-FEDBC44AE582}</a:tableStyleId>
              </a:tblPr>
              <a:tblGrid>
                <a:gridCol w="680175"/>
                <a:gridCol w="680175"/>
                <a:gridCol w="680175"/>
              </a:tblGrid>
              <a:tr h="588450">
                <a:tc>
                  <a:txBody>
                    <a:bodyPr/>
                    <a:lstStyle/>
                    <a:p>
                      <a:pPr indent="0" lvl="0" marL="0" rtl="0" algn="ctr">
                        <a:spcBef>
                          <a:spcPts val="0"/>
                        </a:spcBef>
                        <a:spcAft>
                          <a:spcPts val="0"/>
                        </a:spcAft>
                        <a:buNone/>
                      </a:pPr>
                      <a:r>
                        <a:rPr lang="en">
                          <a:solidFill>
                            <a:schemeClr val="lt1"/>
                          </a:solidFill>
                        </a:rPr>
                        <a:t>% Mean</a:t>
                      </a:r>
                      <a:endParaRPr>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sz="900">
                          <a:solidFill>
                            <a:schemeClr val="lt1"/>
                          </a:solidFill>
                        </a:rPr>
                        <a:t>Summer</a:t>
                      </a:r>
                      <a:endParaRPr b="1" sz="900">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sz="900">
                          <a:solidFill>
                            <a:schemeClr val="lt1"/>
                          </a:solidFill>
                        </a:rPr>
                        <a:t>Winter</a:t>
                      </a:r>
                      <a:endParaRPr b="1" sz="900">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marR="0" rtl="0" algn="ctr">
                        <a:lnSpc>
                          <a:spcPct val="100000"/>
                        </a:lnSpc>
                        <a:spcBef>
                          <a:spcPts val="0"/>
                        </a:spcBef>
                        <a:spcAft>
                          <a:spcPts val="0"/>
                        </a:spcAft>
                        <a:buNone/>
                      </a:pPr>
                      <a:r>
                        <a:rPr b="1" lang="en" sz="900">
                          <a:solidFill>
                            <a:srgbClr val="FFFFFF"/>
                          </a:solidFill>
                          <a:latin typeface="Proxima Nova"/>
                          <a:ea typeface="Proxima Nova"/>
                          <a:cs typeface="Proxima Nova"/>
                          <a:sym typeface="Proxima Nova"/>
                        </a:rPr>
                        <a:t>Business As Usual</a:t>
                      </a:r>
                      <a:endParaRPr b="1" sz="900">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rgbClr val="7ED957"/>
                          </a:solidFill>
                        </a:rPr>
                        <a:t>40</a:t>
                      </a:r>
                      <a:endParaRPr b="1">
                        <a:solidFill>
                          <a:srgbClr val="7ED957"/>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rPr>
                        <a:t>41</a:t>
                      </a:r>
                      <a:endParaRPr b="1">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Bolster and Fortify</a:t>
                      </a:r>
                      <a:endParaRPr b="1" sz="900">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rPr b="1" lang="en">
                          <a:solidFill>
                            <a:srgbClr val="7ED957"/>
                          </a:solidFill>
                        </a:rPr>
                        <a:t>40</a:t>
                      </a:r>
                      <a:endParaRPr b="1">
                        <a:solidFill>
                          <a:srgbClr val="7ED957"/>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rPr>
                        <a:t>41</a:t>
                      </a:r>
                      <a:endParaRPr b="1">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Eco Machine</a:t>
                      </a:r>
                      <a:endParaRPr b="1" sz="900">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rgbClr val="7ED957"/>
                          </a:solidFill>
                        </a:rPr>
                        <a:t>40</a:t>
                      </a:r>
                      <a:endParaRPr b="1">
                        <a:solidFill>
                          <a:srgbClr val="7ED957"/>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2"/>
                          </a:solidFill>
                        </a:rPr>
                        <a:t>44</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New Green Watershed</a:t>
                      </a:r>
                      <a:endParaRPr b="1" sz="900">
                        <a:solidFill>
                          <a:schemeClr val="lt1"/>
                        </a:solidFill>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chemeClr val="lt2"/>
                          </a:solidFill>
                        </a:rPr>
                        <a:t>41</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2"/>
                          </a:solidFill>
                        </a:rPr>
                        <a:t>44</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Calling on Reserves</a:t>
                      </a:r>
                      <a:endParaRPr b="1" sz="900">
                        <a:solidFill>
                          <a:schemeClr val="lt1"/>
                        </a:solidFill>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Clr>
                          <a:schemeClr val="dk1"/>
                        </a:buClr>
                        <a:buSzPts val="1100"/>
                        <a:buFont typeface="Arial"/>
                        <a:buNone/>
                      </a:pPr>
                      <a:r>
                        <a:rPr b="1" lang="en">
                          <a:solidFill>
                            <a:schemeClr val="lt1"/>
                          </a:solidFill>
                        </a:rPr>
                        <a:t>48</a:t>
                      </a:r>
                      <a:endParaRPr b="1">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FF00"/>
                          </a:solidFill>
                        </a:rPr>
                        <a:t>49</a:t>
                      </a:r>
                      <a:endParaRPr b="1">
                        <a:solidFill>
                          <a:srgbClr val="FFFF00"/>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bl>
          </a:graphicData>
        </a:graphic>
      </p:graphicFrame>
      <p:sp>
        <p:nvSpPr>
          <p:cNvPr id="668" name="Google Shape;668;p94"/>
          <p:cNvSpPr txBox="1"/>
          <p:nvPr/>
        </p:nvSpPr>
        <p:spPr>
          <a:xfrm>
            <a:off x="17325" y="608050"/>
            <a:ext cx="2046300" cy="38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2"/>
                </a:solidFill>
              </a:rPr>
              <a:t>Performance</a:t>
            </a:r>
            <a:r>
              <a:rPr lang="en" sz="1500">
                <a:solidFill>
                  <a:schemeClr val="lt2"/>
                </a:solidFill>
              </a:rPr>
              <a:t> Ranking</a:t>
            </a:r>
            <a:endParaRPr sz="1500">
              <a:solidFill>
                <a:schemeClr val="lt2"/>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672" name="Shape 672"/>
        <p:cNvGrpSpPr/>
        <p:nvPr/>
      </p:nvGrpSpPr>
      <p:grpSpPr>
        <a:xfrm>
          <a:off x="0" y="0"/>
          <a:ext cx="0" cy="0"/>
          <a:chOff x="0" y="0"/>
          <a:chExt cx="0" cy="0"/>
        </a:xfrm>
      </p:grpSpPr>
      <p:sp>
        <p:nvSpPr>
          <p:cNvPr id="673" name="Google Shape;673;p95"/>
          <p:cNvSpPr txBox="1"/>
          <p:nvPr>
            <p:ph type="ctrTitle"/>
          </p:nvPr>
        </p:nvSpPr>
        <p:spPr>
          <a:xfrm>
            <a:off x="0" y="0"/>
            <a:ext cx="2748600" cy="7359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32459"/>
              <a:buNone/>
            </a:pPr>
            <a:r>
              <a:rPr b="1" lang="en" sz="3389">
                <a:solidFill>
                  <a:srgbClr val="7ED957"/>
                </a:solidFill>
                <a:latin typeface="Proxima Nova"/>
                <a:ea typeface="Proxima Nova"/>
                <a:cs typeface="Proxima Nova"/>
                <a:sym typeface="Proxima Nova"/>
              </a:rPr>
              <a:t>Results</a:t>
            </a:r>
            <a:r>
              <a:rPr b="1" lang="en" sz="4056">
                <a:solidFill>
                  <a:srgbClr val="7ED957"/>
                </a:solidFill>
                <a:latin typeface="Proxima Nova"/>
                <a:ea typeface="Proxima Nova"/>
                <a:cs typeface="Proxima Nova"/>
                <a:sym typeface="Proxima Nova"/>
              </a:rPr>
              <a:t> </a:t>
            </a:r>
            <a:endParaRPr b="1" sz="4056">
              <a:solidFill>
                <a:srgbClr val="7ED957"/>
              </a:solidFill>
              <a:latin typeface="Proxima Nova"/>
              <a:ea typeface="Proxima Nova"/>
              <a:cs typeface="Proxima Nova"/>
              <a:sym typeface="Proxima Nova"/>
            </a:endParaRPr>
          </a:p>
          <a:p>
            <a:pPr indent="0" lvl="0" marL="0" rtl="0" algn="l">
              <a:spcBef>
                <a:spcPts val="800"/>
              </a:spcBef>
              <a:spcAft>
                <a:spcPts val="0"/>
              </a:spcAft>
              <a:buNone/>
            </a:pPr>
            <a:r>
              <a:rPr lang="en" sz="1500">
                <a:solidFill>
                  <a:schemeClr val="lt2"/>
                </a:solidFill>
              </a:rPr>
              <a:t>Performance Ranking</a:t>
            </a:r>
            <a:endParaRPr sz="1500">
              <a:solidFill>
                <a:schemeClr val="lt2"/>
              </a:solidFill>
            </a:endParaRPr>
          </a:p>
          <a:p>
            <a:pPr indent="0" lvl="0" marL="0" rtl="0" algn="l">
              <a:spcBef>
                <a:spcPts val="0"/>
              </a:spcBef>
              <a:spcAft>
                <a:spcPts val="0"/>
              </a:spcAft>
              <a:buSzPct val="36940"/>
              <a:buNone/>
            </a:pPr>
            <a:r>
              <a:t/>
            </a:r>
            <a:endParaRPr sz="2978">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ct val="100000"/>
              <a:buNone/>
            </a:pPr>
            <a:r>
              <a:t/>
            </a:r>
            <a:endParaRPr>
              <a:solidFill>
                <a:srgbClr val="7ED957"/>
              </a:solidFill>
              <a:latin typeface="Hammersmith One"/>
              <a:ea typeface="Hammersmith One"/>
              <a:cs typeface="Hammersmith One"/>
              <a:sym typeface="Hammersmith One"/>
            </a:endParaRPr>
          </a:p>
        </p:txBody>
      </p:sp>
      <p:sp>
        <p:nvSpPr>
          <p:cNvPr id="674" name="Google Shape;674;p95"/>
          <p:cNvSpPr txBox="1"/>
          <p:nvPr/>
        </p:nvSpPr>
        <p:spPr>
          <a:xfrm>
            <a:off x="1983925" y="104925"/>
            <a:ext cx="5377500" cy="800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
                <a:solidFill>
                  <a:schemeClr val="lt1"/>
                </a:solidFill>
                <a:latin typeface="Proxima Nova Semibold"/>
                <a:ea typeface="Proxima Nova Semibold"/>
                <a:cs typeface="Proxima Nova Semibold"/>
                <a:sym typeface="Proxima Nova Semibold"/>
              </a:rPr>
              <a:t>Angler </a:t>
            </a:r>
            <a:r>
              <a:rPr lang="en" sz="2000">
                <a:solidFill>
                  <a:schemeClr val="lt1"/>
                </a:solidFill>
                <a:latin typeface="Proxima Nova Semibold"/>
                <a:ea typeface="Proxima Nova Semibold"/>
                <a:cs typeface="Proxima Nova Semibold"/>
                <a:sym typeface="Proxima Nova Semibold"/>
              </a:rPr>
              <a:t>participation</a:t>
            </a:r>
            <a:endParaRPr sz="2000">
              <a:solidFill>
                <a:schemeClr val="lt1"/>
              </a:solidFill>
              <a:latin typeface="Proxima Nova Semibold"/>
              <a:ea typeface="Proxima Nova Semibold"/>
              <a:cs typeface="Proxima Nova Semibold"/>
              <a:sym typeface="Proxima Nova Semibold"/>
            </a:endParaRPr>
          </a:p>
          <a:p>
            <a:pPr indent="0" lvl="0" marL="0" rtl="0" algn="ctr">
              <a:lnSpc>
                <a:spcPct val="115000"/>
              </a:lnSpc>
              <a:spcBef>
                <a:spcPts val="0"/>
              </a:spcBef>
              <a:spcAft>
                <a:spcPts val="0"/>
              </a:spcAft>
              <a:buNone/>
            </a:pPr>
            <a:r>
              <a:rPr lang="en" sz="1700">
                <a:solidFill>
                  <a:schemeClr val="lt1"/>
                </a:solidFill>
                <a:latin typeface="Proxima Nova Semibold"/>
                <a:ea typeface="Proxima Nova Semibold"/>
                <a:cs typeface="Proxima Nova Semibold"/>
                <a:sym typeface="Proxima Nova Semibold"/>
              </a:rPr>
              <a:t>affected by threshold (9,130 µS/cm)</a:t>
            </a:r>
            <a:endParaRPr sz="1700">
              <a:solidFill>
                <a:schemeClr val="lt1"/>
              </a:solidFill>
              <a:latin typeface="Proxima Nova Semibold"/>
              <a:ea typeface="Proxima Nova Semibold"/>
              <a:cs typeface="Proxima Nova Semibold"/>
              <a:sym typeface="Proxima Nova Semibold"/>
            </a:endParaRPr>
          </a:p>
        </p:txBody>
      </p:sp>
      <p:sp>
        <p:nvSpPr>
          <p:cNvPr id="675" name="Google Shape;675;p95"/>
          <p:cNvSpPr txBox="1"/>
          <p:nvPr/>
        </p:nvSpPr>
        <p:spPr>
          <a:xfrm>
            <a:off x="7760425" y="226250"/>
            <a:ext cx="1330800" cy="728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100">
                <a:solidFill>
                  <a:schemeClr val="lt1"/>
                </a:solidFill>
              </a:rPr>
              <a:t>Flow exceedances</a:t>
            </a:r>
            <a:endParaRPr b="1" sz="1100">
              <a:solidFill>
                <a:schemeClr val="lt1"/>
              </a:solidFill>
            </a:endParaRPr>
          </a:p>
          <a:p>
            <a:pPr indent="0" lvl="0" marL="0" rtl="0" algn="ctr">
              <a:lnSpc>
                <a:spcPct val="115000"/>
              </a:lnSpc>
              <a:spcBef>
                <a:spcPts val="0"/>
              </a:spcBef>
              <a:spcAft>
                <a:spcPts val="0"/>
              </a:spcAft>
              <a:buNone/>
            </a:pPr>
            <a:r>
              <a:rPr b="1" lang="en" sz="1000">
                <a:solidFill>
                  <a:schemeClr val="lt1"/>
                </a:solidFill>
              </a:rPr>
              <a:t>9,130 µS/cm</a:t>
            </a:r>
            <a:endParaRPr b="1" sz="1000">
              <a:solidFill>
                <a:schemeClr val="lt1"/>
              </a:solidFill>
            </a:endParaRPr>
          </a:p>
        </p:txBody>
      </p:sp>
      <p:pic>
        <p:nvPicPr>
          <p:cNvPr id="676" name="Google Shape;676;p95"/>
          <p:cNvPicPr preferRelativeResize="0"/>
          <p:nvPr/>
        </p:nvPicPr>
        <p:blipFill>
          <a:blip r:embed="rId4">
            <a:alphaModFix/>
          </a:blip>
          <a:stretch>
            <a:fillRect/>
          </a:stretch>
        </p:blipFill>
        <p:spPr>
          <a:xfrm>
            <a:off x="2085975" y="905325"/>
            <a:ext cx="2938874" cy="3221301"/>
          </a:xfrm>
          <a:prstGeom prst="rect">
            <a:avLst/>
          </a:prstGeom>
          <a:noFill/>
          <a:ln>
            <a:noFill/>
          </a:ln>
        </p:spPr>
      </p:pic>
      <p:pic>
        <p:nvPicPr>
          <p:cNvPr id="677" name="Google Shape;677;p95"/>
          <p:cNvPicPr preferRelativeResize="0"/>
          <p:nvPr/>
        </p:nvPicPr>
        <p:blipFill>
          <a:blip r:embed="rId5">
            <a:alphaModFix/>
          </a:blip>
          <a:stretch>
            <a:fillRect/>
          </a:stretch>
        </p:blipFill>
        <p:spPr>
          <a:xfrm>
            <a:off x="7692950" y="1107375"/>
            <a:ext cx="1330800" cy="1856532"/>
          </a:xfrm>
          <a:prstGeom prst="rect">
            <a:avLst/>
          </a:prstGeom>
          <a:noFill/>
          <a:ln>
            <a:noFill/>
          </a:ln>
        </p:spPr>
      </p:pic>
      <p:pic>
        <p:nvPicPr>
          <p:cNvPr id="678" name="Google Shape;678;p95"/>
          <p:cNvPicPr preferRelativeResize="0"/>
          <p:nvPr/>
        </p:nvPicPr>
        <p:blipFill>
          <a:blip r:embed="rId6">
            <a:alphaModFix/>
          </a:blip>
          <a:stretch>
            <a:fillRect/>
          </a:stretch>
        </p:blipFill>
        <p:spPr>
          <a:xfrm>
            <a:off x="7692950" y="2963900"/>
            <a:ext cx="1330800" cy="1845152"/>
          </a:xfrm>
          <a:prstGeom prst="rect">
            <a:avLst/>
          </a:prstGeom>
          <a:noFill/>
          <a:ln>
            <a:noFill/>
          </a:ln>
        </p:spPr>
      </p:pic>
      <p:pic>
        <p:nvPicPr>
          <p:cNvPr id="679" name="Google Shape;679;p95"/>
          <p:cNvPicPr preferRelativeResize="0"/>
          <p:nvPr/>
        </p:nvPicPr>
        <p:blipFill>
          <a:blip r:embed="rId7">
            <a:alphaModFix/>
          </a:blip>
          <a:stretch>
            <a:fillRect/>
          </a:stretch>
        </p:blipFill>
        <p:spPr>
          <a:xfrm>
            <a:off x="7692950" y="4809050"/>
            <a:ext cx="1330800" cy="86256"/>
          </a:xfrm>
          <a:prstGeom prst="rect">
            <a:avLst/>
          </a:prstGeom>
          <a:noFill/>
          <a:ln>
            <a:noFill/>
          </a:ln>
        </p:spPr>
      </p:pic>
      <p:pic>
        <p:nvPicPr>
          <p:cNvPr id="680" name="Google Shape;680;p95"/>
          <p:cNvPicPr preferRelativeResize="0"/>
          <p:nvPr/>
        </p:nvPicPr>
        <p:blipFill>
          <a:blip r:embed="rId8">
            <a:alphaModFix/>
          </a:blip>
          <a:stretch>
            <a:fillRect/>
          </a:stretch>
        </p:blipFill>
        <p:spPr>
          <a:xfrm>
            <a:off x="5024850" y="905325"/>
            <a:ext cx="2668100" cy="3221301"/>
          </a:xfrm>
          <a:prstGeom prst="rect">
            <a:avLst/>
          </a:prstGeom>
          <a:noFill/>
          <a:ln>
            <a:noFill/>
          </a:ln>
        </p:spPr>
      </p:pic>
      <p:pic>
        <p:nvPicPr>
          <p:cNvPr id="681" name="Google Shape;681;p95"/>
          <p:cNvPicPr preferRelativeResize="0"/>
          <p:nvPr/>
        </p:nvPicPr>
        <p:blipFill>
          <a:blip r:embed="rId5">
            <a:alphaModFix/>
          </a:blip>
          <a:stretch>
            <a:fillRect/>
          </a:stretch>
        </p:blipFill>
        <p:spPr>
          <a:xfrm>
            <a:off x="7692950" y="1107375"/>
            <a:ext cx="1330800" cy="1856558"/>
          </a:xfrm>
          <a:prstGeom prst="rect">
            <a:avLst/>
          </a:prstGeom>
          <a:noFill/>
          <a:ln>
            <a:noFill/>
          </a:ln>
        </p:spPr>
      </p:pic>
      <p:graphicFrame>
        <p:nvGraphicFramePr>
          <p:cNvPr id="682" name="Google Shape;682;p95"/>
          <p:cNvGraphicFramePr/>
          <p:nvPr/>
        </p:nvGraphicFramePr>
        <p:xfrm>
          <a:off x="22950" y="990300"/>
          <a:ext cx="3000000" cy="3000000"/>
        </p:xfrm>
        <a:graphic>
          <a:graphicData uri="http://schemas.openxmlformats.org/drawingml/2006/table">
            <a:tbl>
              <a:tblPr>
                <a:noFill/>
                <a:tableStyleId>{85CED069-D96A-4F69-AB26-FEDBC44AE582}</a:tableStyleId>
              </a:tblPr>
              <a:tblGrid>
                <a:gridCol w="680175"/>
                <a:gridCol w="680175"/>
                <a:gridCol w="680175"/>
              </a:tblGrid>
              <a:tr h="588450">
                <a:tc>
                  <a:txBody>
                    <a:bodyPr/>
                    <a:lstStyle/>
                    <a:p>
                      <a:pPr indent="0" lvl="0" marL="0" rtl="0" algn="ctr">
                        <a:spcBef>
                          <a:spcPts val="0"/>
                        </a:spcBef>
                        <a:spcAft>
                          <a:spcPts val="0"/>
                        </a:spcAft>
                        <a:buNone/>
                      </a:pPr>
                      <a:r>
                        <a:rPr lang="en">
                          <a:solidFill>
                            <a:schemeClr val="lt1"/>
                          </a:solidFill>
                        </a:rPr>
                        <a:t>% Mean</a:t>
                      </a:r>
                      <a:endParaRPr>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sz="900">
                          <a:solidFill>
                            <a:schemeClr val="lt1"/>
                          </a:solidFill>
                        </a:rPr>
                        <a:t>Summer</a:t>
                      </a:r>
                      <a:endParaRPr b="1" sz="900">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sz="900">
                          <a:solidFill>
                            <a:schemeClr val="lt1"/>
                          </a:solidFill>
                        </a:rPr>
                        <a:t>Winter</a:t>
                      </a:r>
                      <a:endParaRPr b="1" sz="900">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marR="0" rtl="0" algn="ctr">
                        <a:lnSpc>
                          <a:spcPct val="100000"/>
                        </a:lnSpc>
                        <a:spcBef>
                          <a:spcPts val="0"/>
                        </a:spcBef>
                        <a:spcAft>
                          <a:spcPts val="0"/>
                        </a:spcAft>
                        <a:buNone/>
                      </a:pPr>
                      <a:r>
                        <a:rPr b="1" lang="en" sz="900">
                          <a:solidFill>
                            <a:srgbClr val="FFFFFF"/>
                          </a:solidFill>
                          <a:latin typeface="Proxima Nova"/>
                          <a:ea typeface="Proxima Nova"/>
                          <a:cs typeface="Proxima Nova"/>
                          <a:sym typeface="Proxima Nova"/>
                        </a:rPr>
                        <a:t>Business As Usual</a:t>
                      </a:r>
                      <a:endParaRPr b="1" sz="900">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rgbClr val="00FF00"/>
                          </a:solidFill>
                        </a:rPr>
                        <a:t>5</a:t>
                      </a:r>
                      <a:endParaRPr b="1">
                        <a:solidFill>
                          <a:srgbClr val="00FF00"/>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rPr>
                        <a:t>6</a:t>
                      </a:r>
                      <a:endParaRPr b="1">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Bolster and Fortify</a:t>
                      </a:r>
                      <a:endParaRPr b="1" sz="900">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rPr b="1" lang="en">
                          <a:solidFill>
                            <a:srgbClr val="00FF00"/>
                          </a:solidFill>
                        </a:rPr>
                        <a:t>5</a:t>
                      </a:r>
                      <a:endParaRPr b="1">
                        <a:solidFill>
                          <a:srgbClr val="00FF00"/>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rPr>
                        <a:t>6</a:t>
                      </a:r>
                      <a:endParaRPr b="1">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Eco Machine</a:t>
                      </a:r>
                      <a:endParaRPr b="1" sz="900">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chemeClr val="lt2"/>
                          </a:solidFill>
                        </a:rPr>
                        <a:t>8</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2"/>
                          </a:solidFill>
                        </a:rPr>
                        <a:t>7</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New Green Watershed</a:t>
                      </a:r>
                      <a:endParaRPr b="1" sz="900">
                        <a:solidFill>
                          <a:schemeClr val="lt1"/>
                        </a:solidFill>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chemeClr val="lt2"/>
                          </a:solidFill>
                        </a:rPr>
                        <a:t>8</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2"/>
                          </a:solidFill>
                        </a:rPr>
                        <a:t>7</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Calling on Reserves</a:t>
                      </a:r>
                      <a:endParaRPr b="1" sz="900">
                        <a:solidFill>
                          <a:schemeClr val="lt1"/>
                        </a:solidFill>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chemeClr val="lt2"/>
                          </a:solidFill>
                        </a:rPr>
                        <a:t>8</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FF00"/>
                          </a:solidFill>
                        </a:rPr>
                        <a:t>10</a:t>
                      </a:r>
                      <a:endParaRPr b="1">
                        <a:solidFill>
                          <a:srgbClr val="FFFF00"/>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686" name="Shape 686"/>
        <p:cNvGrpSpPr/>
        <p:nvPr/>
      </p:nvGrpSpPr>
      <p:grpSpPr>
        <a:xfrm>
          <a:off x="0" y="0"/>
          <a:ext cx="0" cy="0"/>
          <a:chOff x="0" y="0"/>
          <a:chExt cx="0" cy="0"/>
        </a:xfrm>
      </p:grpSpPr>
      <p:sp>
        <p:nvSpPr>
          <p:cNvPr id="687" name="Google Shape;687;p96"/>
          <p:cNvSpPr txBox="1"/>
          <p:nvPr>
            <p:ph type="ctrTitle"/>
          </p:nvPr>
        </p:nvSpPr>
        <p:spPr>
          <a:xfrm>
            <a:off x="28575" y="0"/>
            <a:ext cx="2748600" cy="7359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32459"/>
              <a:buNone/>
            </a:pPr>
            <a:r>
              <a:rPr b="1" lang="en" sz="3389">
                <a:solidFill>
                  <a:srgbClr val="7ED957"/>
                </a:solidFill>
                <a:latin typeface="Proxima Nova"/>
                <a:ea typeface="Proxima Nova"/>
                <a:cs typeface="Proxima Nova"/>
                <a:sym typeface="Proxima Nova"/>
              </a:rPr>
              <a:t>Results</a:t>
            </a:r>
            <a:r>
              <a:rPr b="1" lang="en" sz="4056">
                <a:solidFill>
                  <a:srgbClr val="7ED957"/>
                </a:solidFill>
                <a:latin typeface="Proxima Nova"/>
                <a:ea typeface="Proxima Nova"/>
                <a:cs typeface="Proxima Nova"/>
                <a:sym typeface="Proxima Nova"/>
              </a:rPr>
              <a:t> </a:t>
            </a:r>
            <a:endParaRPr b="1" sz="4056">
              <a:solidFill>
                <a:srgbClr val="7ED957"/>
              </a:solidFill>
              <a:latin typeface="Proxima Nova"/>
              <a:ea typeface="Proxima Nova"/>
              <a:cs typeface="Proxima Nova"/>
              <a:sym typeface="Proxima Nova"/>
            </a:endParaRPr>
          </a:p>
          <a:p>
            <a:pPr indent="0" lvl="0" marL="0" rtl="0" algn="l">
              <a:spcBef>
                <a:spcPts val="800"/>
              </a:spcBef>
              <a:spcAft>
                <a:spcPts val="0"/>
              </a:spcAft>
              <a:buNone/>
            </a:pPr>
            <a:r>
              <a:rPr lang="en" sz="1500">
                <a:solidFill>
                  <a:schemeClr val="lt2"/>
                </a:solidFill>
              </a:rPr>
              <a:t>Performance Ranking</a:t>
            </a:r>
            <a:endParaRPr sz="1500">
              <a:solidFill>
                <a:schemeClr val="lt2"/>
              </a:solidFill>
            </a:endParaRPr>
          </a:p>
          <a:p>
            <a:pPr indent="0" lvl="0" marL="0" rtl="0" algn="l">
              <a:spcBef>
                <a:spcPts val="0"/>
              </a:spcBef>
              <a:spcAft>
                <a:spcPts val="0"/>
              </a:spcAft>
              <a:buSzPct val="36940"/>
              <a:buNone/>
            </a:pPr>
            <a:r>
              <a:t/>
            </a:r>
            <a:endParaRPr sz="2978">
              <a:solidFill>
                <a:schemeClr val="lt1"/>
              </a:solidFill>
              <a:latin typeface="Proxima Nova"/>
              <a:ea typeface="Proxima Nova"/>
              <a:cs typeface="Proxima Nova"/>
              <a:sym typeface="Proxima Nova"/>
            </a:endParaRPr>
          </a:p>
          <a:p>
            <a:pPr indent="0" lvl="0" marL="0" rtl="0" algn="l">
              <a:lnSpc>
                <a:spcPct val="100000"/>
              </a:lnSpc>
              <a:spcBef>
                <a:spcPts val="800"/>
              </a:spcBef>
              <a:spcAft>
                <a:spcPts val="0"/>
              </a:spcAft>
              <a:buSzPct val="100000"/>
              <a:buNone/>
            </a:pPr>
            <a:r>
              <a:t/>
            </a:r>
            <a:endParaRPr>
              <a:solidFill>
                <a:srgbClr val="7ED957"/>
              </a:solidFill>
              <a:latin typeface="Hammersmith One"/>
              <a:ea typeface="Hammersmith One"/>
              <a:cs typeface="Hammersmith One"/>
              <a:sym typeface="Hammersmith One"/>
            </a:endParaRPr>
          </a:p>
        </p:txBody>
      </p:sp>
      <p:sp>
        <p:nvSpPr>
          <p:cNvPr id="688" name="Google Shape;688;p96"/>
          <p:cNvSpPr txBox="1"/>
          <p:nvPr/>
        </p:nvSpPr>
        <p:spPr>
          <a:xfrm>
            <a:off x="2063475" y="96950"/>
            <a:ext cx="5715300" cy="800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
                <a:solidFill>
                  <a:schemeClr val="lt1"/>
                </a:solidFill>
                <a:latin typeface="Proxima Nova Semibold"/>
                <a:ea typeface="Proxima Nova Semibold"/>
                <a:cs typeface="Proxima Nova Semibold"/>
                <a:sym typeface="Proxima Nova Semibold"/>
              </a:rPr>
              <a:t>Marina boaters</a:t>
            </a:r>
            <a:endParaRPr sz="2000">
              <a:solidFill>
                <a:schemeClr val="lt1"/>
              </a:solidFill>
              <a:latin typeface="Proxima Nova Semibold"/>
              <a:ea typeface="Proxima Nova Semibold"/>
              <a:cs typeface="Proxima Nova Semibold"/>
              <a:sym typeface="Proxima Nova Semibold"/>
            </a:endParaRPr>
          </a:p>
          <a:p>
            <a:pPr indent="0" lvl="0" marL="0" rtl="0" algn="ctr">
              <a:lnSpc>
                <a:spcPct val="115000"/>
              </a:lnSpc>
              <a:spcBef>
                <a:spcPts val="0"/>
              </a:spcBef>
              <a:spcAft>
                <a:spcPts val="0"/>
              </a:spcAft>
              <a:buNone/>
            </a:pPr>
            <a:r>
              <a:rPr lang="en" sz="1700">
                <a:solidFill>
                  <a:schemeClr val="lt1"/>
                </a:solidFill>
                <a:latin typeface="Proxima Nova Semibold"/>
                <a:ea typeface="Proxima Nova Semibold"/>
                <a:cs typeface="Proxima Nova Semibold"/>
                <a:sym typeface="Proxima Nova Semibold"/>
              </a:rPr>
              <a:t>affected by threshold (1,000 µS/cm)</a:t>
            </a:r>
            <a:endParaRPr sz="1700">
              <a:solidFill>
                <a:schemeClr val="lt1"/>
              </a:solidFill>
              <a:latin typeface="Proxima Nova Semibold"/>
              <a:ea typeface="Proxima Nova Semibold"/>
              <a:cs typeface="Proxima Nova Semibold"/>
              <a:sym typeface="Proxima Nova Semibold"/>
            </a:endParaRPr>
          </a:p>
        </p:txBody>
      </p:sp>
      <p:sp>
        <p:nvSpPr>
          <p:cNvPr id="689" name="Google Shape;689;p96"/>
          <p:cNvSpPr txBox="1"/>
          <p:nvPr/>
        </p:nvSpPr>
        <p:spPr>
          <a:xfrm>
            <a:off x="7645500" y="31125"/>
            <a:ext cx="1498500" cy="55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200">
                <a:solidFill>
                  <a:schemeClr val="lt1"/>
                </a:solidFill>
                <a:latin typeface="Proxima Nova Semibold"/>
                <a:ea typeface="Proxima Nova Semibold"/>
                <a:cs typeface="Proxima Nova Semibold"/>
                <a:sym typeface="Proxima Nova Semibold"/>
              </a:rPr>
              <a:t>Flow exceedances</a:t>
            </a:r>
            <a:endParaRPr sz="1200">
              <a:solidFill>
                <a:schemeClr val="lt1"/>
              </a:solidFill>
              <a:latin typeface="Proxima Nova Semibold"/>
              <a:ea typeface="Proxima Nova Semibold"/>
              <a:cs typeface="Proxima Nova Semibold"/>
              <a:sym typeface="Proxima Nova Semibold"/>
            </a:endParaRPr>
          </a:p>
          <a:p>
            <a:pPr indent="0" lvl="0" marL="0" rtl="0" algn="ctr">
              <a:lnSpc>
                <a:spcPct val="115000"/>
              </a:lnSpc>
              <a:spcBef>
                <a:spcPts val="0"/>
              </a:spcBef>
              <a:spcAft>
                <a:spcPts val="0"/>
              </a:spcAft>
              <a:buNone/>
            </a:pPr>
            <a:r>
              <a:rPr lang="en" sz="1000">
                <a:solidFill>
                  <a:schemeClr val="lt1"/>
                </a:solidFill>
                <a:latin typeface="Proxima Nova Semibold"/>
                <a:ea typeface="Proxima Nova Semibold"/>
                <a:cs typeface="Proxima Nova Semibold"/>
                <a:sym typeface="Proxima Nova Semibold"/>
              </a:rPr>
              <a:t>1,000 µS/cm</a:t>
            </a:r>
            <a:endParaRPr sz="1000">
              <a:solidFill>
                <a:schemeClr val="lt1"/>
              </a:solidFill>
              <a:latin typeface="Proxima Nova Semibold"/>
              <a:ea typeface="Proxima Nova Semibold"/>
              <a:cs typeface="Proxima Nova Semibold"/>
              <a:sym typeface="Proxima Nova Semibold"/>
            </a:endParaRPr>
          </a:p>
        </p:txBody>
      </p:sp>
      <p:pic>
        <p:nvPicPr>
          <p:cNvPr id="690" name="Google Shape;690;p96"/>
          <p:cNvPicPr preferRelativeResize="0"/>
          <p:nvPr/>
        </p:nvPicPr>
        <p:blipFill>
          <a:blip r:embed="rId3">
            <a:alphaModFix/>
          </a:blip>
          <a:stretch>
            <a:fillRect/>
          </a:stretch>
        </p:blipFill>
        <p:spPr>
          <a:xfrm>
            <a:off x="5031400" y="897350"/>
            <a:ext cx="2748599" cy="3224001"/>
          </a:xfrm>
          <a:prstGeom prst="rect">
            <a:avLst/>
          </a:prstGeom>
          <a:noFill/>
          <a:ln>
            <a:noFill/>
          </a:ln>
        </p:spPr>
      </p:pic>
      <p:pic>
        <p:nvPicPr>
          <p:cNvPr id="691" name="Google Shape;691;p96"/>
          <p:cNvPicPr preferRelativeResize="0"/>
          <p:nvPr/>
        </p:nvPicPr>
        <p:blipFill>
          <a:blip r:embed="rId4">
            <a:alphaModFix/>
          </a:blip>
          <a:stretch>
            <a:fillRect/>
          </a:stretch>
        </p:blipFill>
        <p:spPr>
          <a:xfrm>
            <a:off x="2063475" y="897350"/>
            <a:ext cx="2967925" cy="3224001"/>
          </a:xfrm>
          <a:prstGeom prst="rect">
            <a:avLst/>
          </a:prstGeom>
          <a:noFill/>
          <a:ln>
            <a:noFill/>
          </a:ln>
        </p:spPr>
      </p:pic>
      <p:pic>
        <p:nvPicPr>
          <p:cNvPr id="692" name="Google Shape;692;p96"/>
          <p:cNvPicPr preferRelativeResize="0"/>
          <p:nvPr/>
        </p:nvPicPr>
        <p:blipFill>
          <a:blip r:embed="rId5">
            <a:alphaModFix/>
          </a:blip>
          <a:stretch>
            <a:fillRect/>
          </a:stretch>
        </p:blipFill>
        <p:spPr>
          <a:xfrm>
            <a:off x="7778831" y="735893"/>
            <a:ext cx="1249769" cy="1238125"/>
          </a:xfrm>
          <a:prstGeom prst="rect">
            <a:avLst/>
          </a:prstGeom>
          <a:noFill/>
          <a:ln>
            <a:noFill/>
          </a:ln>
        </p:spPr>
      </p:pic>
      <p:pic>
        <p:nvPicPr>
          <p:cNvPr id="693" name="Google Shape;693;p96"/>
          <p:cNvPicPr preferRelativeResize="0"/>
          <p:nvPr/>
        </p:nvPicPr>
        <p:blipFill>
          <a:blip r:embed="rId6">
            <a:alphaModFix/>
          </a:blip>
          <a:stretch>
            <a:fillRect/>
          </a:stretch>
        </p:blipFill>
        <p:spPr>
          <a:xfrm>
            <a:off x="7778825" y="1965913"/>
            <a:ext cx="1249775" cy="1211675"/>
          </a:xfrm>
          <a:prstGeom prst="rect">
            <a:avLst/>
          </a:prstGeom>
          <a:noFill/>
          <a:ln>
            <a:noFill/>
          </a:ln>
        </p:spPr>
      </p:pic>
      <p:pic>
        <p:nvPicPr>
          <p:cNvPr id="694" name="Google Shape;694;p96"/>
          <p:cNvPicPr preferRelativeResize="0"/>
          <p:nvPr/>
        </p:nvPicPr>
        <p:blipFill>
          <a:blip r:embed="rId7">
            <a:alphaModFix/>
          </a:blip>
          <a:stretch>
            <a:fillRect/>
          </a:stretch>
        </p:blipFill>
        <p:spPr>
          <a:xfrm>
            <a:off x="7778825" y="3177575"/>
            <a:ext cx="1249775" cy="1287977"/>
          </a:xfrm>
          <a:prstGeom prst="rect">
            <a:avLst/>
          </a:prstGeom>
          <a:noFill/>
          <a:ln>
            <a:noFill/>
          </a:ln>
        </p:spPr>
      </p:pic>
      <p:graphicFrame>
        <p:nvGraphicFramePr>
          <p:cNvPr id="695" name="Google Shape;695;p96"/>
          <p:cNvGraphicFramePr/>
          <p:nvPr/>
        </p:nvGraphicFramePr>
        <p:xfrm>
          <a:off x="22950" y="990300"/>
          <a:ext cx="3000000" cy="3000000"/>
        </p:xfrm>
        <a:graphic>
          <a:graphicData uri="http://schemas.openxmlformats.org/drawingml/2006/table">
            <a:tbl>
              <a:tblPr>
                <a:noFill/>
                <a:tableStyleId>{85CED069-D96A-4F69-AB26-FEDBC44AE582}</a:tableStyleId>
              </a:tblPr>
              <a:tblGrid>
                <a:gridCol w="680175"/>
                <a:gridCol w="680175"/>
                <a:gridCol w="680175"/>
              </a:tblGrid>
              <a:tr h="588450">
                <a:tc>
                  <a:txBody>
                    <a:bodyPr/>
                    <a:lstStyle/>
                    <a:p>
                      <a:pPr indent="0" lvl="0" marL="0" rtl="0" algn="ctr">
                        <a:spcBef>
                          <a:spcPts val="0"/>
                        </a:spcBef>
                        <a:spcAft>
                          <a:spcPts val="0"/>
                        </a:spcAft>
                        <a:buNone/>
                      </a:pPr>
                      <a:r>
                        <a:rPr lang="en">
                          <a:solidFill>
                            <a:schemeClr val="lt1"/>
                          </a:solidFill>
                        </a:rPr>
                        <a:t>% Mean</a:t>
                      </a:r>
                      <a:endParaRPr>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sz="900">
                          <a:solidFill>
                            <a:schemeClr val="lt1"/>
                          </a:solidFill>
                        </a:rPr>
                        <a:t>Summer</a:t>
                      </a:r>
                      <a:endParaRPr b="1" sz="900">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sz="900">
                          <a:solidFill>
                            <a:schemeClr val="lt1"/>
                          </a:solidFill>
                        </a:rPr>
                        <a:t>Winter</a:t>
                      </a:r>
                      <a:endParaRPr b="1" sz="900">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marR="0" rtl="0" algn="ctr">
                        <a:lnSpc>
                          <a:spcPct val="100000"/>
                        </a:lnSpc>
                        <a:spcBef>
                          <a:spcPts val="0"/>
                        </a:spcBef>
                        <a:spcAft>
                          <a:spcPts val="0"/>
                        </a:spcAft>
                        <a:buNone/>
                      </a:pPr>
                      <a:r>
                        <a:rPr b="1" lang="en" sz="900">
                          <a:solidFill>
                            <a:srgbClr val="FFFFFF"/>
                          </a:solidFill>
                          <a:latin typeface="Proxima Nova"/>
                          <a:ea typeface="Proxima Nova"/>
                          <a:cs typeface="Proxima Nova"/>
                          <a:sym typeface="Proxima Nova"/>
                        </a:rPr>
                        <a:t>Business As Usual</a:t>
                      </a:r>
                      <a:endParaRPr b="1" sz="900">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rgbClr val="FFFF00"/>
                          </a:solidFill>
                        </a:rPr>
                        <a:t>60.5</a:t>
                      </a:r>
                      <a:endParaRPr b="1">
                        <a:solidFill>
                          <a:srgbClr val="FFFF00"/>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rPr>
                        <a:t>66</a:t>
                      </a:r>
                      <a:endParaRPr b="1">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Bolster and Fortify</a:t>
                      </a:r>
                      <a:endParaRPr b="1" sz="900">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rPr b="1" lang="en">
                          <a:solidFill>
                            <a:srgbClr val="FFFF00"/>
                          </a:solidFill>
                        </a:rPr>
                        <a:t>60.5</a:t>
                      </a:r>
                      <a:endParaRPr b="1">
                        <a:solidFill>
                          <a:srgbClr val="FFFF00"/>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rPr>
                        <a:t>66</a:t>
                      </a:r>
                      <a:endParaRPr b="1">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Eco Machine</a:t>
                      </a:r>
                      <a:endParaRPr b="1" sz="900">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chemeClr val="lt2"/>
                          </a:solidFill>
                        </a:rPr>
                        <a:t>61</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0000"/>
                          </a:solidFill>
                        </a:rPr>
                        <a:t>67.5</a:t>
                      </a:r>
                      <a:endParaRPr b="1">
                        <a:solidFill>
                          <a:srgbClr val="FF0000"/>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New Green Watershed</a:t>
                      </a:r>
                      <a:endParaRPr b="1" sz="900">
                        <a:solidFill>
                          <a:schemeClr val="lt1"/>
                        </a:solidFill>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chemeClr val="lt2"/>
                          </a:solidFill>
                        </a:rPr>
                        <a:t>61</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0000"/>
                          </a:solidFill>
                        </a:rPr>
                        <a:t>67.5</a:t>
                      </a:r>
                      <a:endParaRPr b="1">
                        <a:solidFill>
                          <a:srgbClr val="FF0000"/>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Calling on Reserves</a:t>
                      </a:r>
                      <a:endParaRPr b="1" sz="900">
                        <a:solidFill>
                          <a:schemeClr val="lt1"/>
                        </a:solidFill>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chemeClr val="lt2"/>
                          </a:solidFill>
                        </a:rPr>
                        <a:t>62</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2"/>
                          </a:solidFill>
                        </a:rPr>
                        <a:t>65</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699" name="Shape 699"/>
        <p:cNvGrpSpPr/>
        <p:nvPr/>
      </p:nvGrpSpPr>
      <p:grpSpPr>
        <a:xfrm>
          <a:off x="0" y="0"/>
          <a:ext cx="0" cy="0"/>
          <a:chOff x="0" y="0"/>
          <a:chExt cx="0" cy="0"/>
        </a:xfrm>
      </p:grpSpPr>
      <p:sp>
        <p:nvSpPr>
          <p:cNvPr id="700" name="Google Shape;700;p97"/>
          <p:cNvSpPr txBox="1"/>
          <p:nvPr>
            <p:ph type="ctrTitle"/>
          </p:nvPr>
        </p:nvSpPr>
        <p:spPr>
          <a:xfrm>
            <a:off x="0" y="0"/>
            <a:ext cx="2748600" cy="7359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32459"/>
              <a:buNone/>
            </a:pPr>
            <a:r>
              <a:rPr b="1" lang="en" sz="3389">
                <a:solidFill>
                  <a:srgbClr val="7ED957"/>
                </a:solidFill>
                <a:latin typeface="Proxima Nova"/>
                <a:ea typeface="Proxima Nova"/>
                <a:cs typeface="Proxima Nova"/>
                <a:sym typeface="Proxima Nova"/>
              </a:rPr>
              <a:t>Results</a:t>
            </a:r>
            <a:r>
              <a:rPr b="1" lang="en" sz="4056">
                <a:solidFill>
                  <a:srgbClr val="7ED957"/>
                </a:solidFill>
                <a:latin typeface="Proxima Nova"/>
                <a:ea typeface="Proxima Nova"/>
                <a:cs typeface="Proxima Nova"/>
                <a:sym typeface="Proxima Nova"/>
              </a:rPr>
              <a:t> </a:t>
            </a:r>
            <a:endParaRPr b="1" sz="4056">
              <a:solidFill>
                <a:srgbClr val="7ED957"/>
              </a:solidFill>
              <a:latin typeface="Proxima Nova"/>
              <a:ea typeface="Proxima Nova"/>
              <a:cs typeface="Proxima Nova"/>
              <a:sym typeface="Proxima Nova"/>
            </a:endParaRPr>
          </a:p>
          <a:p>
            <a:pPr indent="0" lvl="0" marL="0" rtl="0" algn="l">
              <a:spcBef>
                <a:spcPts val="800"/>
              </a:spcBef>
              <a:spcAft>
                <a:spcPts val="0"/>
              </a:spcAft>
              <a:buNone/>
            </a:pPr>
            <a:r>
              <a:rPr lang="en" sz="1500">
                <a:solidFill>
                  <a:schemeClr val="lt2"/>
                </a:solidFill>
              </a:rPr>
              <a:t>Performance Ranking</a:t>
            </a:r>
            <a:endParaRPr sz="1500">
              <a:solidFill>
                <a:schemeClr val="lt2"/>
              </a:solidFill>
            </a:endParaRPr>
          </a:p>
          <a:p>
            <a:pPr indent="0" lvl="0" marL="0" rtl="0" algn="l">
              <a:spcBef>
                <a:spcPts val="0"/>
              </a:spcBef>
              <a:spcAft>
                <a:spcPts val="0"/>
              </a:spcAft>
              <a:buSzPct val="36940"/>
              <a:buNone/>
            </a:pPr>
            <a:r>
              <a:t/>
            </a:r>
            <a:endParaRPr sz="2978">
              <a:solidFill>
                <a:schemeClr val="lt1"/>
              </a:solidFill>
              <a:latin typeface="Proxima Nova"/>
              <a:ea typeface="Proxima Nova"/>
              <a:cs typeface="Proxima Nova"/>
              <a:sym typeface="Proxima Nova"/>
            </a:endParaRPr>
          </a:p>
          <a:p>
            <a:pPr indent="0" lvl="0" marL="0" rtl="0" algn="l">
              <a:lnSpc>
                <a:spcPct val="100000"/>
              </a:lnSpc>
              <a:spcBef>
                <a:spcPts val="800"/>
              </a:spcBef>
              <a:spcAft>
                <a:spcPts val="0"/>
              </a:spcAft>
              <a:buSzPct val="100000"/>
              <a:buNone/>
            </a:pPr>
            <a:r>
              <a:t/>
            </a:r>
            <a:endParaRPr>
              <a:solidFill>
                <a:srgbClr val="7ED957"/>
              </a:solidFill>
              <a:latin typeface="Hammersmith One"/>
              <a:ea typeface="Hammersmith One"/>
              <a:cs typeface="Hammersmith One"/>
              <a:sym typeface="Hammersmith One"/>
            </a:endParaRPr>
          </a:p>
        </p:txBody>
      </p:sp>
      <p:sp>
        <p:nvSpPr>
          <p:cNvPr id="701" name="Google Shape;701;p97"/>
          <p:cNvSpPr txBox="1"/>
          <p:nvPr/>
        </p:nvSpPr>
        <p:spPr>
          <a:xfrm>
            <a:off x="2063475" y="105575"/>
            <a:ext cx="5697900" cy="800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
                <a:solidFill>
                  <a:schemeClr val="lt1"/>
                </a:solidFill>
                <a:latin typeface="Proxima Nova Semibold"/>
                <a:ea typeface="Proxima Nova Semibold"/>
                <a:cs typeface="Proxima Nova Semibold"/>
                <a:sym typeface="Proxima Nova Semibold"/>
              </a:rPr>
              <a:t>State Parks Day Use</a:t>
            </a:r>
            <a:endParaRPr sz="2000">
              <a:solidFill>
                <a:schemeClr val="lt1"/>
              </a:solidFill>
              <a:latin typeface="Proxima Nova Semibold"/>
              <a:ea typeface="Proxima Nova Semibold"/>
              <a:cs typeface="Proxima Nova Semibold"/>
              <a:sym typeface="Proxima Nova Semibold"/>
            </a:endParaRPr>
          </a:p>
          <a:p>
            <a:pPr indent="0" lvl="0" marL="0" rtl="0" algn="ctr">
              <a:lnSpc>
                <a:spcPct val="115000"/>
              </a:lnSpc>
              <a:spcBef>
                <a:spcPts val="0"/>
              </a:spcBef>
              <a:spcAft>
                <a:spcPts val="0"/>
              </a:spcAft>
              <a:buNone/>
            </a:pPr>
            <a:r>
              <a:rPr lang="en" sz="1700">
                <a:solidFill>
                  <a:schemeClr val="lt1"/>
                </a:solidFill>
                <a:latin typeface="Proxima Nova Semibold"/>
                <a:ea typeface="Proxima Nova Semibold"/>
                <a:cs typeface="Proxima Nova Semibold"/>
                <a:sym typeface="Proxima Nova Semibold"/>
              </a:rPr>
              <a:t>affected by threshold (</a:t>
            </a:r>
            <a:r>
              <a:rPr lang="en" sz="1700">
                <a:solidFill>
                  <a:schemeClr val="lt1"/>
                </a:solidFill>
                <a:latin typeface="Proxima Nova Semibold"/>
                <a:ea typeface="Proxima Nova Semibold"/>
                <a:cs typeface="Proxima Nova Semibold"/>
                <a:sym typeface="Proxima Nova Semibold"/>
              </a:rPr>
              <a:t>1,000</a:t>
            </a:r>
            <a:r>
              <a:rPr lang="en" sz="1700">
                <a:solidFill>
                  <a:schemeClr val="lt1"/>
                </a:solidFill>
                <a:latin typeface="Proxima Nova Semibold"/>
                <a:ea typeface="Proxima Nova Semibold"/>
                <a:cs typeface="Proxima Nova Semibold"/>
                <a:sym typeface="Proxima Nova Semibold"/>
              </a:rPr>
              <a:t> µS/cm)</a:t>
            </a:r>
            <a:endParaRPr sz="1700">
              <a:solidFill>
                <a:schemeClr val="lt1"/>
              </a:solidFill>
              <a:latin typeface="Proxima Nova Semibold"/>
              <a:ea typeface="Proxima Nova Semibold"/>
              <a:cs typeface="Proxima Nova Semibold"/>
              <a:sym typeface="Proxima Nova Semibold"/>
            </a:endParaRPr>
          </a:p>
        </p:txBody>
      </p:sp>
      <p:sp>
        <p:nvSpPr>
          <p:cNvPr id="702" name="Google Shape;702;p97"/>
          <p:cNvSpPr txBox="1"/>
          <p:nvPr/>
        </p:nvSpPr>
        <p:spPr>
          <a:xfrm>
            <a:off x="7651075" y="28725"/>
            <a:ext cx="1386900" cy="77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200">
                <a:solidFill>
                  <a:schemeClr val="lt1"/>
                </a:solidFill>
                <a:latin typeface="Proxima Nova Semibold"/>
                <a:ea typeface="Proxima Nova Semibold"/>
                <a:cs typeface="Proxima Nova Semibold"/>
                <a:sym typeface="Proxima Nova Semibold"/>
              </a:rPr>
              <a:t>Flow exceedances</a:t>
            </a:r>
            <a:endParaRPr sz="1200">
              <a:solidFill>
                <a:schemeClr val="lt1"/>
              </a:solidFill>
              <a:latin typeface="Proxima Nova Semibold"/>
              <a:ea typeface="Proxima Nova Semibold"/>
              <a:cs typeface="Proxima Nova Semibold"/>
              <a:sym typeface="Proxima Nova Semibold"/>
            </a:endParaRPr>
          </a:p>
          <a:p>
            <a:pPr indent="0" lvl="0" marL="0" rtl="0" algn="ctr">
              <a:lnSpc>
                <a:spcPct val="115000"/>
              </a:lnSpc>
              <a:spcBef>
                <a:spcPts val="0"/>
              </a:spcBef>
              <a:spcAft>
                <a:spcPts val="0"/>
              </a:spcAft>
              <a:buNone/>
            </a:pPr>
            <a:r>
              <a:rPr lang="en" sz="1100">
                <a:solidFill>
                  <a:schemeClr val="lt1"/>
                </a:solidFill>
                <a:latin typeface="Proxima Nova Semibold"/>
                <a:ea typeface="Proxima Nova Semibold"/>
                <a:cs typeface="Proxima Nova Semibold"/>
                <a:sym typeface="Proxima Nova Semibold"/>
              </a:rPr>
              <a:t>1,000 µS/cm</a:t>
            </a:r>
            <a:endParaRPr sz="1100">
              <a:solidFill>
                <a:schemeClr val="lt1"/>
              </a:solidFill>
              <a:latin typeface="Proxima Nova Semibold"/>
              <a:ea typeface="Proxima Nova Semibold"/>
              <a:cs typeface="Proxima Nova Semibold"/>
              <a:sym typeface="Proxima Nova Semibold"/>
            </a:endParaRPr>
          </a:p>
        </p:txBody>
      </p:sp>
      <p:pic>
        <p:nvPicPr>
          <p:cNvPr id="703" name="Google Shape;703;p97"/>
          <p:cNvPicPr preferRelativeResize="0"/>
          <p:nvPr/>
        </p:nvPicPr>
        <p:blipFill>
          <a:blip r:embed="rId4">
            <a:alphaModFix/>
          </a:blip>
          <a:stretch>
            <a:fillRect/>
          </a:stretch>
        </p:blipFill>
        <p:spPr>
          <a:xfrm>
            <a:off x="7796925" y="4573225"/>
            <a:ext cx="1252800" cy="129475"/>
          </a:xfrm>
          <a:prstGeom prst="rect">
            <a:avLst/>
          </a:prstGeom>
          <a:noFill/>
          <a:ln>
            <a:noFill/>
          </a:ln>
        </p:spPr>
      </p:pic>
      <p:pic>
        <p:nvPicPr>
          <p:cNvPr id="704" name="Google Shape;704;p97"/>
          <p:cNvPicPr preferRelativeResize="0"/>
          <p:nvPr/>
        </p:nvPicPr>
        <p:blipFill>
          <a:blip r:embed="rId5">
            <a:alphaModFix/>
          </a:blip>
          <a:stretch>
            <a:fillRect/>
          </a:stretch>
        </p:blipFill>
        <p:spPr>
          <a:xfrm>
            <a:off x="2063475" y="910925"/>
            <a:ext cx="2942625" cy="3204150"/>
          </a:xfrm>
          <a:prstGeom prst="rect">
            <a:avLst/>
          </a:prstGeom>
          <a:noFill/>
          <a:ln>
            <a:noFill/>
          </a:ln>
        </p:spPr>
      </p:pic>
      <p:pic>
        <p:nvPicPr>
          <p:cNvPr id="705" name="Google Shape;705;p97"/>
          <p:cNvPicPr preferRelativeResize="0"/>
          <p:nvPr/>
        </p:nvPicPr>
        <p:blipFill>
          <a:blip r:embed="rId6">
            <a:alphaModFix/>
          </a:blip>
          <a:stretch>
            <a:fillRect/>
          </a:stretch>
        </p:blipFill>
        <p:spPr>
          <a:xfrm>
            <a:off x="5012675" y="905975"/>
            <a:ext cx="2748599" cy="3204150"/>
          </a:xfrm>
          <a:prstGeom prst="rect">
            <a:avLst/>
          </a:prstGeom>
          <a:noFill/>
          <a:ln>
            <a:noFill/>
          </a:ln>
        </p:spPr>
      </p:pic>
      <p:pic>
        <p:nvPicPr>
          <p:cNvPr id="706" name="Google Shape;706;p97"/>
          <p:cNvPicPr preferRelativeResize="0"/>
          <p:nvPr/>
        </p:nvPicPr>
        <p:blipFill>
          <a:blip r:embed="rId7">
            <a:alphaModFix/>
          </a:blip>
          <a:stretch>
            <a:fillRect/>
          </a:stretch>
        </p:blipFill>
        <p:spPr>
          <a:xfrm>
            <a:off x="7761275" y="905975"/>
            <a:ext cx="1276700" cy="1180947"/>
          </a:xfrm>
          <a:prstGeom prst="rect">
            <a:avLst/>
          </a:prstGeom>
          <a:noFill/>
          <a:ln>
            <a:noFill/>
          </a:ln>
        </p:spPr>
      </p:pic>
      <p:pic>
        <p:nvPicPr>
          <p:cNvPr id="707" name="Google Shape;707;p97"/>
          <p:cNvPicPr preferRelativeResize="0"/>
          <p:nvPr/>
        </p:nvPicPr>
        <p:blipFill>
          <a:blip r:embed="rId8">
            <a:alphaModFix/>
          </a:blip>
          <a:stretch>
            <a:fillRect/>
          </a:stretch>
        </p:blipFill>
        <p:spPr>
          <a:xfrm>
            <a:off x="7761268" y="2086918"/>
            <a:ext cx="1276700" cy="1315983"/>
          </a:xfrm>
          <a:prstGeom prst="rect">
            <a:avLst/>
          </a:prstGeom>
          <a:noFill/>
          <a:ln>
            <a:noFill/>
          </a:ln>
        </p:spPr>
      </p:pic>
      <p:pic>
        <p:nvPicPr>
          <p:cNvPr id="708" name="Google Shape;708;p97"/>
          <p:cNvPicPr preferRelativeResize="0"/>
          <p:nvPr/>
        </p:nvPicPr>
        <p:blipFill>
          <a:blip r:embed="rId9">
            <a:alphaModFix/>
          </a:blip>
          <a:stretch>
            <a:fillRect/>
          </a:stretch>
        </p:blipFill>
        <p:spPr>
          <a:xfrm>
            <a:off x="7761275" y="3402900"/>
            <a:ext cx="1276700" cy="1319902"/>
          </a:xfrm>
          <a:prstGeom prst="rect">
            <a:avLst/>
          </a:prstGeom>
          <a:noFill/>
          <a:ln>
            <a:noFill/>
          </a:ln>
        </p:spPr>
      </p:pic>
      <p:pic>
        <p:nvPicPr>
          <p:cNvPr id="709" name="Google Shape;709;p97"/>
          <p:cNvPicPr preferRelativeResize="0"/>
          <p:nvPr/>
        </p:nvPicPr>
        <p:blipFill>
          <a:blip r:embed="rId10">
            <a:alphaModFix/>
          </a:blip>
          <a:stretch>
            <a:fillRect/>
          </a:stretch>
        </p:blipFill>
        <p:spPr>
          <a:xfrm>
            <a:off x="7761268" y="3402900"/>
            <a:ext cx="1276700" cy="1319911"/>
          </a:xfrm>
          <a:prstGeom prst="rect">
            <a:avLst/>
          </a:prstGeom>
          <a:noFill/>
          <a:ln>
            <a:noFill/>
          </a:ln>
        </p:spPr>
      </p:pic>
      <p:graphicFrame>
        <p:nvGraphicFramePr>
          <p:cNvPr id="710" name="Google Shape;710;p97"/>
          <p:cNvGraphicFramePr/>
          <p:nvPr/>
        </p:nvGraphicFramePr>
        <p:xfrm>
          <a:off x="22950" y="990300"/>
          <a:ext cx="3000000" cy="3000000"/>
        </p:xfrm>
        <a:graphic>
          <a:graphicData uri="http://schemas.openxmlformats.org/drawingml/2006/table">
            <a:tbl>
              <a:tblPr>
                <a:noFill/>
                <a:tableStyleId>{85CED069-D96A-4F69-AB26-FEDBC44AE582}</a:tableStyleId>
              </a:tblPr>
              <a:tblGrid>
                <a:gridCol w="680175"/>
                <a:gridCol w="680175"/>
                <a:gridCol w="680175"/>
              </a:tblGrid>
              <a:tr h="588450">
                <a:tc>
                  <a:txBody>
                    <a:bodyPr/>
                    <a:lstStyle/>
                    <a:p>
                      <a:pPr indent="0" lvl="0" marL="0" rtl="0" algn="ctr">
                        <a:spcBef>
                          <a:spcPts val="0"/>
                        </a:spcBef>
                        <a:spcAft>
                          <a:spcPts val="0"/>
                        </a:spcAft>
                        <a:buNone/>
                      </a:pPr>
                      <a:r>
                        <a:rPr lang="en">
                          <a:solidFill>
                            <a:schemeClr val="lt1"/>
                          </a:solidFill>
                        </a:rPr>
                        <a:t>% Mean</a:t>
                      </a:r>
                      <a:endParaRPr>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sz="900">
                          <a:solidFill>
                            <a:schemeClr val="lt1"/>
                          </a:solidFill>
                        </a:rPr>
                        <a:t>Summer</a:t>
                      </a:r>
                      <a:endParaRPr b="1" sz="900">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sz="900">
                          <a:solidFill>
                            <a:schemeClr val="lt1"/>
                          </a:solidFill>
                        </a:rPr>
                        <a:t>Winter</a:t>
                      </a:r>
                      <a:endParaRPr b="1" sz="900">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marR="0" rtl="0" algn="ctr">
                        <a:lnSpc>
                          <a:spcPct val="100000"/>
                        </a:lnSpc>
                        <a:spcBef>
                          <a:spcPts val="0"/>
                        </a:spcBef>
                        <a:spcAft>
                          <a:spcPts val="0"/>
                        </a:spcAft>
                        <a:buNone/>
                      </a:pPr>
                      <a:r>
                        <a:rPr b="1" lang="en" sz="900">
                          <a:solidFill>
                            <a:srgbClr val="FFFFFF"/>
                          </a:solidFill>
                          <a:latin typeface="Proxima Nova"/>
                          <a:ea typeface="Proxima Nova"/>
                          <a:cs typeface="Proxima Nova"/>
                          <a:sym typeface="Proxima Nova"/>
                        </a:rPr>
                        <a:t>Business As Usual</a:t>
                      </a:r>
                      <a:endParaRPr b="1" sz="900">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rgbClr val="FFFF00"/>
                          </a:solidFill>
                        </a:rPr>
                        <a:t>60.5</a:t>
                      </a:r>
                      <a:endParaRPr b="1">
                        <a:solidFill>
                          <a:srgbClr val="FFFF00"/>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rPr>
                        <a:t>66</a:t>
                      </a:r>
                      <a:endParaRPr b="1">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Bolster and Fortify</a:t>
                      </a:r>
                      <a:endParaRPr b="1" sz="900">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rPr b="1" lang="en">
                          <a:solidFill>
                            <a:srgbClr val="FFFF00"/>
                          </a:solidFill>
                        </a:rPr>
                        <a:t>60.5</a:t>
                      </a:r>
                      <a:endParaRPr b="1">
                        <a:solidFill>
                          <a:srgbClr val="FFFF00"/>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rPr>
                        <a:t>66</a:t>
                      </a:r>
                      <a:endParaRPr b="1">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Eco Machine</a:t>
                      </a:r>
                      <a:endParaRPr b="1" sz="900">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chemeClr val="lt2"/>
                          </a:solidFill>
                        </a:rPr>
                        <a:t>61</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0000"/>
                          </a:solidFill>
                        </a:rPr>
                        <a:t>67.5</a:t>
                      </a:r>
                      <a:endParaRPr b="1">
                        <a:solidFill>
                          <a:srgbClr val="FF0000"/>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New Green Watershed</a:t>
                      </a:r>
                      <a:endParaRPr b="1" sz="900">
                        <a:solidFill>
                          <a:schemeClr val="lt1"/>
                        </a:solidFill>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chemeClr val="lt2"/>
                          </a:solidFill>
                        </a:rPr>
                        <a:t>61</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0000"/>
                          </a:solidFill>
                        </a:rPr>
                        <a:t>67.5</a:t>
                      </a:r>
                      <a:endParaRPr b="1">
                        <a:solidFill>
                          <a:srgbClr val="FF0000"/>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Calling on Reserves</a:t>
                      </a:r>
                      <a:endParaRPr b="1" sz="900">
                        <a:solidFill>
                          <a:schemeClr val="lt1"/>
                        </a:solidFill>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chemeClr val="lt2"/>
                          </a:solidFill>
                        </a:rPr>
                        <a:t>62</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2"/>
                          </a:solidFill>
                        </a:rPr>
                        <a:t>65</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714" name="Shape 714"/>
        <p:cNvGrpSpPr/>
        <p:nvPr/>
      </p:nvGrpSpPr>
      <p:grpSpPr>
        <a:xfrm>
          <a:off x="0" y="0"/>
          <a:ext cx="0" cy="0"/>
          <a:chOff x="0" y="0"/>
          <a:chExt cx="0" cy="0"/>
        </a:xfrm>
      </p:grpSpPr>
      <p:sp>
        <p:nvSpPr>
          <p:cNvPr id="715" name="Google Shape;715;p98"/>
          <p:cNvSpPr txBox="1"/>
          <p:nvPr>
            <p:ph type="ctrTitle"/>
          </p:nvPr>
        </p:nvSpPr>
        <p:spPr>
          <a:xfrm>
            <a:off x="0" y="0"/>
            <a:ext cx="1490100" cy="7035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32459"/>
              <a:buNone/>
            </a:pPr>
            <a:r>
              <a:rPr b="1" lang="en" sz="3389">
                <a:solidFill>
                  <a:srgbClr val="7ED957"/>
                </a:solidFill>
                <a:latin typeface="Proxima Nova"/>
                <a:ea typeface="Proxima Nova"/>
                <a:cs typeface="Proxima Nova"/>
                <a:sym typeface="Proxima Nova"/>
              </a:rPr>
              <a:t>Results</a:t>
            </a:r>
            <a:r>
              <a:rPr b="1" lang="en" sz="4056">
                <a:solidFill>
                  <a:srgbClr val="7ED957"/>
                </a:solidFill>
                <a:latin typeface="Proxima Nova"/>
                <a:ea typeface="Proxima Nova"/>
                <a:cs typeface="Proxima Nova"/>
                <a:sym typeface="Proxima Nova"/>
              </a:rPr>
              <a:t> </a:t>
            </a:r>
            <a:endParaRPr b="1" sz="4056">
              <a:solidFill>
                <a:srgbClr val="7ED957"/>
              </a:solidFill>
              <a:latin typeface="Proxima Nova"/>
              <a:ea typeface="Proxima Nova"/>
              <a:cs typeface="Proxima Nova"/>
              <a:sym typeface="Proxima Nova"/>
            </a:endParaRPr>
          </a:p>
          <a:p>
            <a:pPr indent="0" lvl="0" marL="0" rtl="0" algn="l">
              <a:spcBef>
                <a:spcPts val="800"/>
              </a:spcBef>
              <a:spcAft>
                <a:spcPts val="0"/>
              </a:spcAft>
              <a:buNone/>
            </a:pPr>
            <a:r>
              <a:rPr lang="en" sz="1500">
                <a:solidFill>
                  <a:schemeClr val="lt2"/>
                </a:solidFill>
              </a:rPr>
              <a:t>Performance</a:t>
            </a:r>
            <a:endParaRPr sz="1500">
              <a:solidFill>
                <a:schemeClr val="lt2"/>
              </a:solidFill>
            </a:endParaRPr>
          </a:p>
          <a:p>
            <a:pPr indent="0" lvl="0" marL="0" rtl="0" algn="l">
              <a:spcBef>
                <a:spcPts val="0"/>
              </a:spcBef>
              <a:spcAft>
                <a:spcPts val="0"/>
              </a:spcAft>
              <a:buSzPct val="36940"/>
              <a:buNone/>
            </a:pPr>
            <a:r>
              <a:t/>
            </a:r>
            <a:endParaRPr sz="2978">
              <a:solidFill>
                <a:schemeClr val="lt1"/>
              </a:solidFill>
              <a:latin typeface="Proxima Nova"/>
              <a:ea typeface="Proxima Nova"/>
              <a:cs typeface="Proxima Nova"/>
              <a:sym typeface="Proxima Nova"/>
            </a:endParaRPr>
          </a:p>
          <a:p>
            <a:pPr indent="0" lvl="0" marL="0" rtl="0" algn="l">
              <a:lnSpc>
                <a:spcPct val="100000"/>
              </a:lnSpc>
              <a:spcBef>
                <a:spcPts val="800"/>
              </a:spcBef>
              <a:spcAft>
                <a:spcPts val="0"/>
              </a:spcAft>
              <a:buSzPct val="100000"/>
              <a:buNone/>
            </a:pPr>
            <a:r>
              <a:t/>
            </a:r>
            <a:endParaRPr>
              <a:solidFill>
                <a:srgbClr val="7ED957"/>
              </a:solidFill>
              <a:latin typeface="Hammersmith One"/>
              <a:ea typeface="Hammersmith One"/>
              <a:cs typeface="Hammersmith One"/>
              <a:sym typeface="Hammersmith One"/>
            </a:endParaRPr>
          </a:p>
        </p:txBody>
      </p:sp>
      <p:sp>
        <p:nvSpPr>
          <p:cNvPr id="716" name="Google Shape;716;p98"/>
          <p:cNvSpPr txBox="1"/>
          <p:nvPr/>
        </p:nvSpPr>
        <p:spPr>
          <a:xfrm>
            <a:off x="343375" y="96950"/>
            <a:ext cx="6970200" cy="800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000">
                <a:solidFill>
                  <a:schemeClr val="lt1"/>
                </a:solidFill>
              </a:rPr>
              <a:t>Waterfowl hunting</a:t>
            </a:r>
            <a:endParaRPr b="1" sz="2000">
              <a:solidFill>
                <a:schemeClr val="lt1"/>
              </a:solidFill>
            </a:endParaRPr>
          </a:p>
          <a:p>
            <a:pPr indent="0" lvl="0" marL="0" rtl="0" algn="ctr">
              <a:lnSpc>
                <a:spcPct val="115000"/>
              </a:lnSpc>
              <a:spcBef>
                <a:spcPts val="0"/>
              </a:spcBef>
              <a:spcAft>
                <a:spcPts val="0"/>
              </a:spcAft>
              <a:buNone/>
            </a:pPr>
            <a:r>
              <a:rPr b="1" lang="en" sz="1700">
                <a:solidFill>
                  <a:schemeClr val="lt1"/>
                </a:solidFill>
              </a:rPr>
              <a:t>affected by threshold (3,600 µS/cm)</a:t>
            </a:r>
            <a:endParaRPr b="1" sz="1700">
              <a:solidFill>
                <a:schemeClr val="lt1"/>
              </a:solidFill>
            </a:endParaRPr>
          </a:p>
        </p:txBody>
      </p:sp>
      <p:sp>
        <p:nvSpPr>
          <p:cNvPr id="717" name="Google Shape;717;p98"/>
          <p:cNvSpPr txBox="1"/>
          <p:nvPr/>
        </p:nvSpPr>
        <p:spPr>
          <a:xfrm>
            <a:off x="7701675" y="0"/>
            <a:ext cx="1334700" cy="958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200">
                <a:solidFill>
                  <a:schemeClr val="lt1"/>
                </a:solidFill>
                <a:latin typeface="Proxima Nova Semibold"/>
                <a:ea typeface="Proxima Nova Semibold"/>
                <a:cs typeface="Proxima Nova Semibold"/>
                <a:sym typeface="Proxima Nova Semibold"/>
              </a:rPr>
              <a:t>Flow exceedances</a:t>
            </a:r>
            <a:endParaRPr sz="1200">
              <a:solidFill>
                <a:schemeClr val="lt1"/>
              </a:solidFill>
              <a:latin typeface="Proxima Nova Semibold"/>
              <a:ea typeface="Proxima Nova Semibold"/>
              <a:cs typeface="Proxima Nova Semibold"/>
              <a:sym typeface="Proxima Nova Semibold"/>
            </a:endParaRPr>
          </a:p>
          <a:p>
            <a:pPr indent="0" lvl="0" marL="0" rtl="0" algn="ctr">
              <a:lnSpc>
                <a:spcPct val="115000"/>
              </a:lnSpc>
              <a:spcBef>
                <a:spcPts val="0"/>
              </a:spcBef>
              <a:spcAft>
                <a:spcPts val="0"/>
              </a:spcAft>
              <a:buClr>
                <a:schemeClr val="dk1"/>
              </a:buClr>
              <a:buSzPts val="1100"/>
              <a:buFont typeface="Arial"/>
              <a:buNone/>
            </a:pPr>
            <a:r>
              <a:rPr lang="en" sz="1100">
                <a:solidFill>
                  <a:schemeClr val="lt1"/>
                </a:solidFill>
                <a:latin typeface="Proxima Nova Semibold"/>
                <a:ea typeface="Proxima Nova Semibold"/>
                <a:cs typeface="Proxima Nova Semibold"/>
                <a:sym typeface="Proxima Nova Semibold"/>
              </a:rPr>
              <a:t>1,000 µS/cm</a:t>
            </a:r>
            <a:endParaRPr sz="1200">
              <a:solidFill>
                <a:schemeClr val="lt1"/>
              </a:solidFill>
              <a:latin typeface="Proxima Nova Semibold"/>
              <a:ea typeface="Proxima Nova Semibold"/>
              <a:cs typeface="Proxima Nova Semibold"/>
              <a:sym typeface="Proxima Nova Semibold"/>
            </a:endParaRPr>
          </a:p>
          <a:p>
            <a:pPr indent="0" lvl="0" marL="0" rtl="0" algn="l">
              <a:lnSpc>
                <a:spcPct val="115000"/>
              </a:lnSpc>
              <a:spcBef>
                <a:spcPts val="0"/>
              </a:spcBef>
              <a:spcAft>
                <a:spcPts val="0"/>
              </a:spcAft>
              <a:buNone/>
            </a:pPr>
            <a:r>
              <a:t/>
            </a:r>
            <a:endParaRPr sz="1000">
              <a:solidFill>
                <a:schemeClr val="lt1"/>
              </a:solidFill>
              <a:latin typeface="Proxima Nova Semibold"/>
              <a:ea typeface="Proxima Nova Semibold"/>
              <a:cs typeface="Proxima Nova Semibold"/>
              <a:sym typeface="Proxima Nova Semibold"/>
            </a:endParaRPr>
          </a:p>
        </p:txBody>
      </p:sp>
      <p:pic>
        <p:nvPicPr>
          <p:cNvPr id="718" name="Google Shape;718;p98"/>
          <p:cNvPicPr preferRelativeResize="0"/>
          <p:nvPr/>
        </p:nvPicPr>
        <p:blipFill>
          <a:blip r:embed="rId3">
            <a:alphaModFix/>
          </a:blip>
          <a:stretch>
            <a:fillRect/>
          </a:stretch>
        </p:blipFill>
        <p:spPr>
          <a:xfrm>
            <a:off x="2076700" y="900025"/>
            <a:ext cx="2841051" cy="3221325"/>
          </a:xfrm>
          <a:prstGeom prst="rect">
            <a:avLst/>
          </a:prstGeom>
          <a:noFill/>
          <a:ln>
            <a:noFill/>
          </a:ln>
        </p:spPr>
      </p:pic>
      <p:pic>
        <p:nvPicPr>
          <p:cNvPr id="719" name="Google Shape;719;p98"/>
          <p:cNvPicPr preferRelativeResize="0"/>
          <p:nvPr/>
        </p:nvPicPr>
        <p:blipFill>
          <a:blip r:embed="rId4">
            <a:alphaModFix/>
          </a:blip>
          <a:stretch>
            <a:fillRect/>
          </a:stretch>
        </p:blipFill>
        <p:spPr>
          <a:xfrm>
            <a:off x="4917750" y="900025"/>
            <a:ext cx="2868167" cy="3221325"/>
          </a:xfrm>
          <a:prstGeom prst="rect">
            <a:avLst/>
          </a:prstGeom>
          <a:noFill/>
          <a:ln>
            <a:noFill/>
          </a:ln>
        </p:spPr>
      </p:pic>
      <p:pic>
        <p:nvPicPr>
          <p:cNvPr id="720" name="Google Shape;720;p98"/>
          <p:cNvPicPr preferRelativeResize="0"/>
          <p:nvPr/>
        </p:nvPicPr>
        <p:blipFill>
          <a:blip r:embed="rId5">
            <a:alphaModFix/>
          </a:blip>
          <a:stretch>
            <a:fillRect/>
          </a:stretch>
        </p:blipFill>
        <p:spPr>
          <a:xfrm>
            <a:off x="7816300" y="897350"/>
            <a:ext cx="1220125" cy="1212650"/>
          </a:xfrm>
          <a:prstGeom prst="rect">
            <a:avLst/>
          </a:prstGeom>
          <a:noFill/>
          <a:ln>
            <a:noFill/>
          </a:ln>
        </p:spPr>
      </p:pic>
      <p:pic>
        <p:nvPicPr>
          <p:cNvPr id="721" name="Google Shape;721;p98"/>
          <p:cNvPicPr preferRelativeResize="0"/>
          <p:nvPr/>
        </p:nvPicPr>
        <p:blipFill>
          <a:blip r:embed="rId6">
            <a:alphaModFix/>
          </a:blip>
          <a:stretch>
            <a:fillRect/>
          </a:stretch>
        </p:blipFill>
        <p:spPr>
          <a:xfrm>
            <a:off x="7785925" y="894725"/>
            <a:ext cx="1250450" cy="1242789"/>
          </a:xfrm>
          <a:prstGeom prst="rect">
            <a:avLst/>
          </a:prstGeom>
          <a:noFill/>
          <a:ln>
            <a:noFill/>
          </a:ln>
        </p:spPr>
      </p:pic>
      <p:pic>
        <p:nvPicPr>
          <p:cNvPr id="722" name="Google Shape;722;p98"/>
          <p:cNvPicPr preferRelativeResize="0"/>
          <p:nvPr/>
        </p:nvPicPr>
        <p:blipFill>
          <a:blip r:embed="rId7">
            <a:alphaModFix/>
          </a:blip>
          <a:stretch>
            <a:fillRect/>
          </a:stretch>
        </p:blipFill>
        <p:spPr>
          <a:xfrm>
            <a:off x="7785918" y="2110000"/>
            <a:ext cx="1250450" cy="1352451"/>
          </a:xfrm>
          <a:prstGeom prst="rect">
            <a:avLst/>
          </a:prstGeom>
          <a:noFill/>
          <a:ln>
            <a:noFill/>
          </a:ln>
        </p:spPr>
      </p:pic>
      <p:pic>
        <p:nvPicPr>
          <p:cNvPr id="723" name="Google Shape;723;p98"/>
          <p:cNvPicPr preferRelativeResize="0"/>
          <p:nvPr/>
        </p:nvPicPr>
        <p:blipFill>
          <a:blip r:embed="rId8">
            <a:alphaModFix/>
          </a:blip>
          <a:stretch>
            <a:fillRect/>
          </a:stretch>
        </p:blipFill>
        <p:spPr>
          <a:xfrm>
            <a:off x="7785925" y="3462442"/>
            <a:ext cx="1250450" cy="1345759"/>
          </a:xfrm>
          <a:prstGeom prst="rect">
            <a:avLst/>
          </a:prstGeom>
          <a:noFill/>
          <a:ln>
            <a:noFill/>
          </a:ln>
        </p:spPr>
      </p:pic>
      <p:graphicFrame>
        <p:nvGraphicFramePr>
          <p:cNvPr id="724" name="Google Shape;724;p98"/>
          <p:cNvGraphicFramePr/>
          <p:nvPr/>
        </p:nvGraphicFramePr>
        <p:xfrm>
          <a:off x="22950" y="990300"/>
          <a:ext cx="3000000" cy="3000000"/>
        </p:xfrm>
        <a:graphic>
          <a:graphicData uri="http://schemas.openxmlformats.org/drawingml/2006/table">
            <a:tbl>
              <a:tblPr>
                <a:noFill/>
                <a:tableStyleId>{85CED069-D96A-4F69-AB26-FEDBC44AE582}</a:tableStyleId>
              </a:tblPr>
              <a:tblGrid>
                <a:gridCol w="680175"/>
                <a:gridCol w="680175"/>
                <a:gridCol w="680175"/>
              </a:tblGrid>
              <a:tr h="588450">
                <a:tc>
                  <a:txBody>
                    <a:bodyPr/>
                    <a:lstStyle/>
                    <a:p>
                      <a:pPr indent="0" lvl="0" marL="0" rtl="0" algn="ctr">
                        <a:spcBef>
                          <a:spcPts val="0"/>
                        </a:spcBef>
                        <a:spcAft>
                          <a:spcPts val="0"/>
                        </a:spcAft>
                        <a:buNone/>
                      </a:pPr>
                      <a:r>
                        <a:rPr lang="en">
                          <a:solidFill>
                            <a:schemeClr val="lt1"/>
                          </a:solidFill>
                        </a:rPr>
                        <a:t>% Mean</a:t>
                      </a:r>
                      <a:endParaRPr>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sz="900">
                          <a:solidFill>
                            <a:schemeClr val="lt1"/>
                          </a:solidFill>
                        </a:rPr>
                        <a:t>Summer</a:t>
                      </a:r>
                      <a:endParaRPr b="1" sz="900">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sz="900">
                          <a:solidFill>
                            <a:schemeClr val="lt1"/>
                          </a:solidFill>
                        </a:rPr>
                        <a:t>Winter</a:t>
                      </a:r>
                      <a:endParaRPr b="1" sz="900">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marR="0" rtl="0" algn="ctr">
                        <a:lnSpc>
                          <a:spcPct val="100000"/>
                        </a:lnSpc>
                        <a:spcBef>
                          <a:spcPts val="0"/>
                        </a:spcBef>
                        <a:spcAft>
                          <a:spcPts val="0"/>
                        </a:spcAft>
                        <a:buNone/>
                      </a:pPr>
                      <a:r>
                        <a:rPr b="1" lang="en" sz="900">
                          <a:solidFill>
                            <a:srgbClr val="FFFFFF"/>
                          </a:solidFill>
                          <a:latin typeface="Proxima Nova"/>
                          <a:ea typeface="Proxima Nova"/>
                          <a:cs typeface="Proxima Nova"/>
                          <a:sym typeface="Proxima Nova"/>
                        </a:rPr>
                        <a:t>Business As Usual</a:t>
                      </a:r>
                      <a:endParaRPr b="1" sz="900">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rgbClr val="00FF00"/>
                          </a:solidFill>
                        </a:rPr>
                        <a:t>32</a:t>
                      </a:r>
                      <a:endParaRPr b="1">
                        <a:solidFill>
                          <a:srgbClr val="00FF00"/>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rPr>
                        <a:t>34</a:t>
                      </a:r>
                      <a:endParaRPr b="1">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Bolster and Fortify</a:t>
                      </a:r>
                      <a:endParaRPr b="1" sz="900">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53439"/>
                    </a:solidFill>
                  </a:tcPr>
                </a:tc>
                <a:tc>
                  <a:txBody>
                    <a:bodyPr/>
                    <a:lstStyle/>
                    <a:p>
                      <a:pPr indent="0" lvl="0" marL="0" rtl="0" algn="ctr">
                        <a:spcBef>
                          <a:spcPts val="0"/>
                        </a:spcBef>
                        <a:spcAft>
                          <a:spcPts val="0"/>
                        </a:spcAft>
                        <a:buNone/>
                      </a:pPr>
                      <a:r>
                        <a:rPr b="1" lang="en">
                          <a:solidFill>
                            <a:srgbClr val="00FF00"/>
                          </a:solidFill>
                        </a:rPr>
                        <a:t>32</a:t>
                      </a:r>
                      <a:endParaRPr b="1">
                        <a:solidFill>
                          <a:srgbClr val="00FF00"/>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rPr>
                        <a:t>34</a:t>
                      </a:r>
                      <a:endParaRPr b="1">
                        <a:solidFill>
                          <a:schemeClr val="lt1"/>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Eco Machine</a:t>
                      </a:r>
                      <a:endParaRPr b="1" sz="900">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chemeClr val="lt2"/>
                          </a:solidFill>
                        </a:rPr>
                        <a:t>32.7</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2"/>
                          </a:solidFill>
                        </a:rPr>
                        <a:t>38</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New Green Watershed</a:t>
                      </a:r>
                      <a:endParaRPr b="1" sz="900">
                        <a:solidFill>
                          <a:schemeClr val="lt1"/>
                        </a:solidFill>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chemeClr val="lt2"/>
                          </a:solidFill>
                        </a:rPr>
                        <a:t>32.6</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2"/>
                          </a:solidFill>
                        </a:rPr>
                        <a:t>37</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r h="588450">
                <a:tc>
                  <a:txBody>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Calling on Reserves</a:t>
                      </a:r>
                      <a:endParaRPr b="1" sz="900">
                        <a:solidFill>
                          <a:schemeClr val="lt1"/>
                        </a:solidFill>
                        <a:latin typeface="Proxima Nova"/>
                        <a:ea typeface="Proxima Nova"/>
                        <a:cs typeface="Proxima Nova"/>
                        <a:sym typeface="Proxima Nova"/>
                      </a:endParaRPr>
                    </a:p>
                  </a:txBody>
                  <a:tcPr marT="27425" marB="27425" marR="54875" marL="54875" anchor="ctr">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solidFill>
                      <a:srgbClr val="2F444B"/>
                    </a:solidFill>
                  </a:tcPr>
                </a:tc>
                <a:tc>
                  <a:txBody>
                    <a:bodyPr/>
                    <a:lstStyle/>
                    <a:p>
                      <a:pPr indent="0" lvl="0" marL="0" rtl="0" algn="ctr">
                        <a:spcBef>
                          <a:spcPts val="0"/>
                        </a:spcBef>
                        <a:spcAft>
                          <a:spcPts val="0"/>
                        </a:spcAft>
                        <a:buNone/>
                      </a:pPr>
                      <a:r>
                        <a:rPr b="1" lang="en">
                          <a:solidFill>
                            <a:schemeClr val="lt2"/>
                          </a:solidFill>
                        </a:rPr>
                        <a:t>38</a:t>
                      </a:r>
                      <a:endParaRPr b="1">
                        <a:solidFill>
                          <a:schemeClr val="lt2"/>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rgbClr val="FFFF00"/>
                          </a:solidFill>
                        </a:rPr>
                        <a:t>43</a:t>
                      </a:r>
                      <a:endParaRPr b="1">
                        <a:solidFill>
                          <a:srgbClr val="FFFF00"/>
                        </a:solidFill>
                      </a:endParaRPr>
                    </a:p>
                  </a:txBody>
                  <a:tcPr marT="91425" marB="91425" marR="91425" marL="91425">
                    <a:lnL cap="flat" cmpd="sng" w="19050">
                      <a:solidFill>
                        <a:schemeClr val="accent5"/>
                      </a:solidFill>
                      <a:prstDash val="solid"/>
                      <a:round/>
                      <a:headEnd len="sm" w="sm" type="none"/>
                      <a:tailEnd len="sm" w="sm" type="none"/>
                    </a:lnL>
                    <a:lnR cap="flat" cmpd="sng" w="19050">
                      <a:solidFill>
                        <a:schemeClr val="accent5"/>
                      </a:solidFill>
                      <a:prstDash val="solid"/>
                      <a:round/>
                      <a:headEnd len="sm" w="sm" type="none"/>
                      <a:tailEnd len="sm" w="sm" type="none"/>
                    </a:lnR>
                    <a:lnT cap="flat" cmpd="sng" w="19050">
                      <a:solidFill>
                        <a:schemeClr val="accent5"/>
                      </a:solidFill>
                      <a:prstDash val="solid"/>
                      <a:round/>
                      <a:headEnd len="sm" w="sm" type="none"/>
                      <a:tailEnd len="sm" w="sm" type="none"/>
                    </a:lnT>
                    <a:lnB cap="flat" cmpd="sng" w="19050">
                      <a:solidFill>
                        <a:schemeClr val="accent5"/>
                      </a:solidFill>
                      <a:prstDash val="solid"/>
                      <a:round/>
                      <a:headEnd len="sm" w="sm" type="none"/>
                      <a:tailEnd len="sm" w="sm" type="none"/>
                    </a:lnB>
                  </a:tcPr>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728" name="Shape 728"/>
        <p:cNvGrpSpPr/>
        <p:nvPr/>
      </p:nvGrpSpPr>
      <p:grpSpPr>
        <a:xfrm>
          <a:off x="0" y="0"/>
          <a:ext cx="0" cy="0"/>
          <a:chOff x="0" y="0"/>
          <a:chExt cx="0" cy="0"/>
        </a:xfrm>
      </p:grpSpPr>
      <p:sp>
        <p:nvSpPr>
          <p:cNvPr id="729" name="Google Shape;729;p99"/>
          <p:cNvSpPr txBox="1"/>
          <p:nvPr>
            <p:ph type="ctrTitle"/>
          </p:nvPr>
        </p:nvSpPr>
        <p:spPr>
          <a:xfrm>
            <a:off x="256375" y="96949"/>
            <a:ext cx="8520600" cy="747300"/>
          </a:xfrm>
          <a:prstGeom prst="rect">
            <a:avLst/>
          </a:prstGeom>
          <a:noFill/>
          <a:ln>
            <a:noFill/>
          </a:ln>
        </p:spPr>
        <p:txBody>
          <a:bodyPr anchorCtr="0" anchor="t" bIns="91425" lIns="91425" spcFirstLastPara="1" rIns="91425" wrap="square" tIns="91425">
            <a:normAutofit fontScale="90000"/>
          </a:bodyPr>
          <a:lstStyle/>
          <a:p>
            <a:pPr indent="0" lvl="0" marL="0" rtl="0" algn="ctr">
              <a:spcBef>
                <a:spcPts val="0"/>
              </a:spcBef>
              <a:spcAft>
                <a:spcPts val="0"/>
              </a:spcAft>
              <a:buSzPct val="33559"/>
              <a:buNone/>
            </a:pPr>
            <a:r>
              <a:rPr b="1" lang="en" sz="3278">
                <a:solidFill>
                  <a:srgbClr val="7ED957"/>
                </a:solidFill>
                <a:latin typeface="Proxima Nova"/>
                <a:ea typeface="Proxima Nova"/>
                <a:cs typeface="Proxima Nova"/>
                <a:sym typeface="Proxima Nova"/>
              </a:rPr>
              <a:t>Results Visitor-sector Earnings by Water Year</a:t>
            </a:r>
            <a:r>
              <a:rPr b="1" lang="en" sz="4500">
                <a:solidFill>
                  <a:srgbClr val="7ED957"/>
                </a:solidFill>
                <a:latin typeface="Proxima Nova"/>
                <a:ea typeface="Proxima Nova"/>
                <a:cs typeface="Proxima Nova"/>
                <a:sym typeface="Proxima Nova"/>
              </a:rPr>
              <a:t> </a:t>
            </a:r>
            <a:endParaRPr b="1" sz="4500">
              <a:solidFill>
                <a:srgbClr val="7ED957"/>
              </a:solidFill>
              <a:latin typeface="Proxima Nova"/>
              <a:ea typeface="Proxima Nova"/>
              <a:cs typeface="Proxima Nova"/>
              <a:sym typeface="Proxima Nova"/>
            </a:endParaRPr>
          </a:p>
          <a:p>
            <a:pPr indent="0" lvl="0" marL="0" rtl="0" algn="l">
              <a:spcBef>
                <a:spcPts val="800"/>
              </a:spcBef>
              <a:spcAft>
                <a:spcPts val="0"/>
              </a:spcAft>
              <a:buSzPct val="36940"/>
              <a:buNone/>
            </a:pPr>
            <a:r>
              <a:t/>
            </a:r>
            <a:endParaRPr sz="2978">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ct val="100000"/>
              <a:buNone/>
            </a:pPr>
            <a:r>
              <a:t/>
            </a:r>
            <a:endParaRPr>
              <a:solidFill>
                <a:srgbClr val="7ED957"/>
              </a:solidFill>
              <a:latin typeface="Hammersmith One"/>
              <a:ea typeface="Hammersmith One"/>
              <a:cs typeface="Hammersmith One"/>
              <a:sym typeface="Hammersmith One"/>
            </a:endParaRPr>
          </a:p>
        </p:txBody>
      </p:sp>
      <p:sp>
        <p:nvSpPr>
          <p:cNvPr id="730" name="Google Shape;730;p99"/>
          <p:cNvSpPr txBox="1"/>
          <p:nvPr/>
        </p:nvSpPr>
        <p:spPr>
          <a:xfrm>
            <a:off x="1089700" y="4503600"/>
            <a:ext cx="6908400" cy="5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200">
                <a:solidFill>
                  <a:schemeClr val="accent3"/>
                </a:solidFill>
              </a:rPr>
              <a:t>Earnings by place of work (BEA Regional Economic Accounts): Arts, entertainment and recreation, &amp; </a:t>
            </a:r>
            <a:r>
              <a:rPr b="1" i="1" lang="en" sz="1200">
                <a:solidFill>
                  <a:schemeClr val="accent3"/>
                </a:solidFill>
              </a:rPr>
              <a:t>Accommodation</a:t>
            </a:r>
            <a:r>
              <a:rPr b="1" i="1" lang="en" sz="1200">
                <a:solidFill>
                  <a:schemeClr val="accent3"/>
                </a:solidFill>
              </a:rPr>
              <a:t> and food services </a:t>
            </a:r>
            <a:endParaRPr b="1" i="1" sz="1200">
              <a:solidFill>
                <a:schemeClr val="accent3"/>
              </a:solidFill>
            </a:endParaRPr>
          </a:p>
        </p:txBody>
      </p:sp>
      <p:pic>
        <p:nvPicPr>
          <p:cNvPr id="731" name="Google Shape;731;p99"/>
          <p:cNvPicPr preferRelativeResize="0"/>
          <p:nvPr/>
        </p:nvPicPr>
        <p:blipFill>
          <a:blip r:embed="rId3">
            <a:alphaModFix/>
          </a:blip>
          <a:stretch>
            <a:fillRect/>
          </a:stretch>
        </p:blipFill>
        <p:spPr>
          <a:xfrm>
            <a:off x="412250" y="1148637"/>
            <a:ext cx="4943100" cy="3050575"/>
          </a:xfrm>
          <a:prstGeom prst="rect">
            <a:avLst/>
          </a:prstGeom>
          <a:noFill/>
          <a:ln>
            <a:noFill/>
          </a:ln>
        </p:spPr>
      </p:pic>
      <p:pic>
        <p:nvPicPr>
          <p:cNvPr id="732" name="Google Shape;732;p99"/>
          <p:cNvPicPr preferRelativeResize="0"/>
          <p:nvPr/>
        </p:nvPicPr>
        <p:blipFill>
          <a:blip r:embed="rId4">
            <a:alphaModFix/>
          </a:blip>
          <a:stretch>
            <a:fillRect/>
          </a:stretch>
        </p:blipFill>
        <p:spPr>
          <a:xfrm>
            <a:off x="5577845" y="1759824"/>
            <a:ext cx="3199129" cy="1974363"/>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736" name="Shape 736"/>
        <p:cNvGrpSpPr/>
        <p:nvPr/>
      </p:nvGrpSpPr>
      <p:grpSpPr>
        <a:xfrm>
          <a:off x="0" y="0"/>
          <a:ext cx="0" cy="0"/>
          <a:chOff x="0" y="0"/>
          <a:chExt cx="0" cy="0"/>
        </a:xfrm>
      </p:grpSpPr>
      <p:sp>
        <p:nvSpPr>
          <p:cNvPr id="737" name="Google Shape;737;p100"/>
          <p:cNvSpPr txBox="1"/>
          <p:nvPr/>
        </p:nvSpPr>
        <p:spPr>
          <a:xfrm>
            <a:off x="365760" y="101168"/>
            <a:ext cx="8412600" cy="45570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i="0" lang="en" sz="2600" u="none" cap="none" strike="noStrike">
                <a:solidFill>
                  <a:srgbClr val="7ED957"/>
                </a:solidFill>
                <a:latin typeface="Proxima Nova"/>
                <a:ea typeface="Proxima Nova"/>
                <a:cs typeface="Proxima Nova"/>
                <a:sym typeface="Proxima Nova"/>
              </a:rPr>
              <a:t>Scenario Ranking</a:t>
            </a:r>
            <a:r>
              <a:rPr b="1" lang="en" sz="2600">
                <a:solidFill>
                  <a:srgbClr val="7ED957"/>
                </a:solidFill>
                <a:latin typeface="Proxima Nova"/>
                <a:ea typeface="Proxima Nova"/>
                <a:cs typeface="Proxima Nova"/>
                <a:sym typeface="Proxima Nova"/>
              </a:rPr>
              <a:t>: Salinity + Temperature </a:t>
            </a:r>
            <a:r>
              <a:rPr b="1" i="1" lang="en" sz="2600">
                <a:solidFill>
                  <a:srgbClr val="7ED957"/>
                </a:solidFill>
                <a:latin typeface="Proxima Nova"/>
                <a:ea typeface="Proxima Nova"/>
                <a:cs typeface="Proxima Nova"/>
                <a:sym typeface="Proxima Nova"/>
              </a:rPr>
              <a:t>(% of -5 to 5)</a:t>
            </a:r>
            <a:r>
              <a:rPr b="1" lang="en" sz="2600">
                <a:solidFill>
                  <a:srgbClr val="7ED957"/>
                </a:solidFill>
                <a:latin typeface="Proxima Nova"/>
                <a:ea typeface="Proxima Nova"/>
                <a:cs typeface="Proxima Nova"/>
                <a:sym typeface="Proxima Nova"/>
              </a:rPr>
              <a:t> </a:t>
            </a:r>
            <a:endParaRPr sz="1200"/>
          </a:p>
        </p:txBody>
      </p:sp>
      <p:graphicFrame>
        <p:nvGraphicFramePr>
          <p:cNvPr id="738" name="Google Shape;738;p100"/>
          <p:cNvGraphicFramePr/>
          <p:nvPr/>
        </p:nvGraphicFramePr>
        <p:xfrm>
          <a:off x="311785" y="687480"/>
          <a:ext cx="3000000" cy="3000000"/>
        </p:xfrm>
        <a:graphic>
          <a:graphicData uri="http://schemas.openxmlformats.org/drawingml/2006/table">
            <a:tbl>
              <a:tblPr>
                <a:noFill/>
                <a:tableStyleId>{0CC4AB25-8DFD-4ACA-88D2-885EBE8A8D3D}</a:tableStyleId>
              </a:tblPr>
              <a:tblGrid>
                <a:gridCol w="3905825"/>
                <a:gridCol w="901350"/>
                <a:gridCol w="901350"/>
                <a:gridCol w="901350"/>
                <a:gridCol w="901350"/>
                <a:gridCol w="901350"/>
              </a:tblGrid>
              <a:tr h="772300">
                <a:tc>
                  <a:txBody>
                    <a:bodyPr/>
                    <a:lstStyle/>
                    <a:p>
                      <a:pPr indent="0" lvl="0" marL="0" marR="0" rtl="0" algn="l">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Scenario</a:t>
                      </a:r>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lang="en" sz="800">
                          <a:solidFill>
                            <a:srgbClr val="7ED957"/>
                          </a:solidFill>
                          <a:latin typeface="Proxima Nova"/>
                          <a:ea typeface="Proxima Nova"/>
                          <a:cs typeface="Proxima Nova"/>
                          <a:sym typeface="Proxima Nova"/>
                        </a:rPr>
                        <a:t>Bird Watching</a:t>
                      </a:r>
                      <a:endParaRPr sz="1100"/>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lang="en" sz="800">
                          <a:solidFill>
                            <a:srgbClr val="7ED957"/>
                          </a:solidFill>
                          <a:latin typeface="Proxima Nova"/>
                          <a:ea typeface="Proxima Nova"/>
                          <a:cs typeface="Proxima Nova"/>
                          <a:sym typeface="Proxima Nova"/>
                        </a:rPr>
                        <a:t>Angling</a:t>
                      </a:r>
                      <a:endParaRPr sz="1100"/>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1B282C"/>
                    </a:solidFill>
                  </a:tcPr>
                </a:tc>
                <a:tc>
                  <a:txBody>
                    <a:bodyPr/>
                    <a:lstStyle/>
                    <a:p>
                      <a:pPr indent="0" lvl="0" marL="0" marR="0" rtl="0" algn="l">
                        <a:lnSpc>
                          <a:spcPct val="100000"/>
                        </a:lnSpc>
                        <a:spcBef>
                          <a:spcPts val="0"/>
                        </a:spcBef>
                        <a:spcAft>
                          <a:spcPts val="0"/>
                        </a:spcAft>
                        <a:buNone/>
                      </a:pPr>
                      <a:r>
                        <a:rPr b="1" lang="en" sz="800">
                          <a:solidFill>
                            <a:srgbClr val="7ED957"/>
                          </a:solidFill>
                          <a:latin typeface="Proxima Nova"/>
                          <a:ea typeface="Proxima Nova"/>
                          <a:cs typeface="Proxima Nova"/>
                          <a:sym typeface="Proxima Nova"/>
                        </a:rPr>
                        <a:t>SP Day Use</a:t>
                      </a:r>
                      <a:endParaRPr sz="1100"/>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lang="en" sz="800">
                          <a:solidFill>
                            <a:srgbClr val="7ED957"/>
                          </a:solidFill>
                          <a:latin typeface="Proxima Nova"/>
                          <a:ea typeface="Proxima Nova"/>
                          <a:cs typeface="Proxima Nova"/>
                          <a:sym typeface="Proxima Nova"/>
                        </a:rPr>
                        <a:t>Boating</a:t>
                      </a:r>
                      <a:endParaRPr sz="1100"/>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1B282C"/>
                    </a:solidFill>
                  </a:tcPr>
                </a:tc>
                <a:tc>
                  <a:txBody>
                    <a:bodyPr/>
                    <a:lstStyle/>
                    <a:p>
                      <a:pPr indent="0" lvl="0" marL="0" marR="0" rtl="0" algn="l">
                        <a:lnSpc>
                          <a:spcPct val="100000"/>
                        </a:lnSpc>
                        <a:spcBef>
                          <a:spcPts val="0"/>
                        </a:spcBef>
                        <a:spcAft>
                          <a:spcPts val="0"/>
                        </a:spcAft>
                        <a:buNone/>
                      </a:pPr>
                      <a:r>
                        <a:rPr b="1" lang="en" sz="800">
                          <a:solidFill>
                            <a:srgbClr val="7ED957"/>
                          </a:solidFill>
                          <a:latin typeface="Proxima Nova"/>
                          <a:ea typeface="Proxima Nova"/>
                          <a:cs typeface="Proxima Nova"/>
                          <a:sym typeface="Proxima Nova"/>
                        </a:rPr>
                        <a:t>Waterfowl Hunting</a:t>
                      </a:r>
                      <a:endParaRPr sz="1100"/>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1B282C"/>
                    </a:solidFill>
                  </a:tcPr>
                </a:tc>
              </a:tr>
              <a:tr h="389400">
                <a:tc>
                  <a:txBody>
                    <a:bodyPr/>
                    <a:lstStyle/>
                    <a:p>
                      <a:pPr indent="0" lvl="0" marL="0" marR="0" rtl="0" algn="l">
                        <a:lnSpc>
                          <a:spcPct val="100000"/>
                        </a:lnSpc>
                        <a:spcBef>
                          <a:spcPts val="0"/>
                        </a:spcBef>
                        <a:spcAft>
                          <a:spcPts val="0"/>
                        </a:spcAft>
                        <a:buNone/>
                      </a:pPr>
                      <a:r>
                        <a:rPr lang="en" sz="1100">
                          <a:solidFill>
                            <a:srgbClr val="FFFFFF"/>
                          </a:solidFill>
                          <a:latin typeface="Proxima Nova"/>
                          <a:ea typeface="Proxima Nova"/>
                          <a:cs typeface="Proxima Nova"/>
                          <a:sym typeface="Proxima Nova"/>
                        </a:rPr>
                        <a:t>Business As Usual</a:t>
                      </a:r>
                      <a:endParaRPr sz="1100">
                        <a:latin typeface="Proxima Nova"/>
                        <a:ea typeface="Proxima Nova"/>
                        <a:cs typeface="Proxima Nova"/>
                        <a:sym typeface="Proxima Nova"/>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i="1" lang="en" sz="1300">
                          <a:solidFill>
                            <a:schemeClr val="lt1"/>
                          </a:solidFill>
                        </a:rPr>
                        <a:t>38</a:t>
                      </a:r>
                      <a:endParaRPr b="1" i="1" sz="1300">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i="1" lang="en" sz="1300">
                          <a:solidFill>
                            <a:srgbClr val="7ED957"/>
                          </a:solidFill>
                        </a:rPr>
                        <a:t>5.5</a:t>
                      </a:r>
                      <a:endParaRPr b="1" i="1" sz="1300" u="none" cap="none" strike="noStrike">
                        <a:solidFill>
                          <a:srgbClr val="7ED957"/>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i="1" lang="en" sz="1300">
                          <a:solidFill>
                            <a:schemeClr val="lt1"/>
                          </a:solidFill>
                        </a:rPr>
                        <a:t>57</a:t>
                      </a:r>
                      <a:endParaRPr b="1" i="1" sz="1300" u="none" cap="none" strike="noStrike">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i="1" lang="en" sz="1300">
                          <a:solidFill>
                            <a:schemeClr val="lt1"/>
                          </a:solidFill>
                        </a:rPr>
                        <a:t>53.1</a:t>
                      </a:r>
                      <a:endParaRPr b="1" i="1" sz="1300">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i="1" lang="en" sz="1300">
                          <a:solidFill>
                            <a:schemeClr val="lt1"/>
                          </a:solidFill>
                        </a:rPr>
                        <a:t>21</a:t>
                      </a:r>
                      <a:endParaRPr b="1" i="1" sz="1300" u="none" cap="none" strike="noStrike">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r>
              <a:tr h="389400">
                <a:tc>
                  <a:txBody>
                    <a:bodyPr/>
                    <a:lstStyle/>
                    <a:p>
                      <a:pPr indent="0" lvl="0" marL="0" rtl="0" algn="l">
                        <a:spcBef>
                          <a:spcPts val="0"/>
                        </a:spcBef>
                        <a:spcAft>
                          <a:spcPts val="0"/>
                        </a:spcAft>
                        <a:buNone/>
                      </a:pPr>
                      <a:r>
                        <a:rPr lang="en" sz="1100">
                          <a:solidFill>
                            <a:schemeClr val="lt1"/>
                          </a:solidFill>
                          <a:latin typeface="Proxima Nova"/>
                          <a:ea typeface="Proxima Nova"/>
                          <a:cs typeface="Proxima Nova"/>
                          <a:sym typeface="Proxima Nova"/>
                        </a:rPr>
                        <a:t>Bolster and Fortify</a:t>
                      </a:r>
                      <a:endParaRPr sz="1100">
                        <a:latin typeface="Proxima Nova"/>
                        <a:ea typeface="Proxima Nova"/>
                        <a:cs typeface="Proxima Nova"/>
                        <a:sym typeface="Proxima Nova"/>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i="1" lang="en" sz="1300">
                          <a:solidFill>
                            <a:schemeClr val="lt1"/>
                          </a:solidFill>
                        </a:rPr>
                        <a:t>38</a:t>
                      </a:r>
                      <a:endParaRPr b="1" i="1" sz="1300" u="none" cap="none" strike="noStrike">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i="1" lang="en" sz="1300">
                          <a:solidFill>
                            <a:srgbClr val="7ED957"/>
                          </a:solidFill>
                        </a:rPr>
                        <a:t>5.5</a:t>
                      </a:r>
                      <a:endParaRPr b="1" i="1" sz="1300" u="none" cap="none" strike="noStrike">
                        <a:solidFill>
                          <a:srgbClr val="7ED957"/>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i="1" lang="en" sz="1300">
                          <a:solidFill>
                            <a:schemeClr val="lt1"/>
                          </a:solidFill>
                        </a:rPr>
                        <a:t>57</a:t>
                      </a:r>
                      <a:endParaRPr b="1" i="1" sz="1300" u="none" cap="none" strike="noStrike">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i="1" lang="en" sz="1300">
                          <a:solidFill>
                            <a:schemeClr val="lt1"/>
                          </a:solidFill>
                        </a:rPr>
                        <a:t>53.1</a:t>
                      </a:r>
                      <a:endParaRPr b="1" i="1" sz="1300" u="none" cap="none" strike="noStrike">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i="1" lang="en" sz="1300">
                          <a:solidFill>
                            <a:schemeClr val="lt1"/>
                          </a:solidFill>
                        </a:rPr>
                        <a:t>21</a:t>
                      </a:r>
                      <a:endParaRPr b="1" i="1" sz="1300" u="none" cap="none" strike="noStrike">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r>
              <a:tr h="389400">
                <a:tc>
                  <a:txBody>
                    <a:bodyPr/>
                    <a:lstStyle/>
                    <a:p>
                      <a:pPr indent="0" lvl="0" marL="0" rtl="0" algn="l">
                        <a:spcBef>
                          <a:spcPts val="0"/>
                        </a:spcBef>
                        <a:spcAft>
                          <a:spcPts val="0"/>
                        </a:spcAft>
                        <a:buNone/>
                      </a:pPr>
                      <a:r>
                        <a:rPr lang="en" sz="1100">
                          <a:solidFill>
                            <a:schemeClr val="lt1"/>
                          </a:solidFill>
                          <a:latin typeface="Proxima Nova"/>
                          <a:ea typeface="Proxima Nova"/>
                          <a:cs typeface="Proxima Nova"/>
                          <a:sym typeface="Proxima Nova"/>
                        </a:rPr>
                        <a:t>Eco Machine</a:t>
                      </a:r>
                      <a:endParaRPr sz="1100">
                        <a:latin typeface="Proxima Nova"/>
                        <a:ea typeface="Proxima Nova"/>
                        <a:cs typeface="Proxima Nova"/>
                        <a:sym typeface="Proxima Nova"/>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i="1" lang="en" sz="1300">
                          <a:solidFill>
                            <a:schemeClr val="lt1"/>
                          </a:solidFill>
                        </a:rPr>
                        <a:t>39</a:t>
                      </a:r>
                      <a:endParaRPr b="1" i="1" sz="1300" u="none" cap="none" strike="noStrike">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i="1" lang="en" sz="1300">
                          <a:solidFill>
                            <a:schemeClr val="lt1"/>
                          </a:solidFill>
                        </a:rPr>
                        <a:t>7.5</a:t>
                      </a:r>
                      <a:endParaRPr b="1" i="1" sz="1300" u="none" cap="none" strike="noStrike">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i="1" lang="en" sz="1300">
                          <a:solidFill>
                            <a:srgbClr val="FF0000"/>
                          </a:solidFill>
                        </a:rPr>
                        <a:t>58.2</a:t>
                      </a:r>
                      <a:endParaRPr b="1" i="1" sz="1300" u="none" cap="none" strike="noStrike">
                        <a:solidFill>
                          <a:srgbClr val="FF0000"/>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i="1" lang="en" sz="1300">
                          <a:solidFill>
                            <a:schemeClr val="lt1"/>
                          </a:solidFill>
                        </a:rPr>
                        <a:t>53.6</a:t>
                      </a:r>
                      <a:endParaRPr b="1" i="1" sz="1300" u="none" cap="none" strike="noStrike">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i="1" lang="en" sz="1300">
                          <a:solidFill>
                            <a:schemeClr val="lt1"/>
                          </a:solidFill>
                        </a:rPr>
                        <a:t>22.3</a:t>
                      </a:r>
                      <a:endParaRPr b="1" i="1" sz="1300">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r>
              <a:tr h="389400">
                <a:tc>
                  <a:txBody>
                    <a:bodyPr/>
                    <a:lstStyle/>
                    <a:p>
                      <a:pPr indent="0" lvl="0" marL="0" rtl="0" algn="l">
                        <a:spcBef>
                          <a:spcPts val="0"/>
                        </a:spcBef>
                        <a:spcAft>
                          <a:spcPts val="0"/>
                        </a:spcAft>
                        <a:buNone/>
                      </a:pPr>
                      <a:r>
                        <a:rPr lang="en" sz="1100">
                          <a:solidFill>
                            <a:schemeClr val="lt1"/>
                          </a:solidFill>
                          <a:latin typeface="Proxima Nova"/>
                          <a:ea typeface="Proxima Nova"/>
                          <a:cs typeface="Proxima Nova"/>
                          <a:sym typeface="Proxima Nova"/>
                        </a:rPr>
                        <a:t>New Green Watershed</a:t>
                      </a:r>
                      <a:endParaRPr sz="1100">
                        <a:solidFill>
                          <a:schemeClr val="lt1"/>
                        </a:solidFill>
                        <a:latin typeface="Proxima Nova"/>
                        <a:ea typeface="Proxima Nova"/>
                        <a:cs typeface="Proxima Nova"/>
                        <a:sym typeface="Proxima Nova"/>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i="1" lang="en" sz="1300">
                          <a:solidFill>
                            <a:schemeClr val="lt1"/>
                          </a:solidFill>
                        </a:rPr>
                        <a:t>39.2</a:t>
                      </a:r>
                      <a:endParaRPr b="1" i="1" sz="1300" u="none" cap="none" strike="noStrike">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i="1" lang="en" sz="1300">
                          <a:solidFill>
                            <a:schemeClr val="lt1"/>
                          </a:solidFill>
                        </a:rPr>
                        <a:t>7.5</a:t>
                      </a:r>
                      <a:endParaRPr b="1" i="1" sz="1300" u="none" cap="none" strike="noStrike">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i="1" lang="en" sz="1300">
                          <a:solidFill>
                            <a:srgbClr val="FF0000"/>
                          </a:solidFill>
                        </a:rPr>
                        <a:t>58.2</a:t>
                      </a:r>
                      <a:endParaRPr b="1" i="1" sz="1300" u="none" cap="none" strike="noStrike">
                        <a:solidFill>
                          <a:srgbClr val="FF0000"/>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i="1" lang="en" sz="1300">
                          <a:solidFill>
                            <a:schemeClr val="lt1"/>
                          </a:solidFill>
                        </a:rPr>
                        <a:t>53.7</a:t>
                      </a:r>
                      <a:endParaRPr b="1" i="1" sz="1300" u="none" cap="none" strike="noStrike">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i="1" lang="en" sz="1300">
                          <a:solidFill>
                            <a:schemeClr val="lt1"/>
                          </a:solidFill>
                        </a:rPr>
                        <a:t>22.2</a:t>
                      </a:r>
                      <a:endParaRPr b="1" i="1" sz="1300" u="none" cap="none" strike="noStrike">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r>
              <a:tr h="389400">
                <a:tc>
                  <a:txBody>
                    <a:bodyPr/>
                    <a:lstStyle/>
                    <a:p>
                      <a:pPr indent="0" lvl="0" marL="0" rtl="0" algn="l">
                        <a:spcBef>
                          <a:spcPts val="0"/>
                        </a:spcBef>
                        <a:spcAft>
                          <a:spcPts val="0"/>
                        </a:spcAft>
                        <a:buNone/>
                      </a:pPr>
                      <a:r>
                        <a:rPr lang="en" sz="1100">
                          <a:solidFill>
                            <a:schemeClr val="lt1"/>
                          </a:solidFill>
                          <a:latin typeface="Proxima Nova"/>
                          <a:ea typeface="Proxima Nova"/>
                          <a:cs typeface="Proxima Nova"/>
                          <a:sym typeface="Proxima Nova"/>
                        </a:rPr>
                        <a:t>Calling on Reserves</a:t>
                      </a:r>
                      <a:endParaRPr sz="1100">
                        <a:solidFill>
                          <a:schemeClr val="lt1"/>
                        </a:solidFill>
                        <a:latin typeface="Proxima Nova"/>
                        <a:ea typeface="Proxima Nova"/>
                        <a:cs typeface="Proxima Nova"/>
                        <a:sym typeface="Proxima Nova"/>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1" i="1" lang="en" sz="1300">
                          <a:solidFill>
                            <a:schemeClr val="lt1"/>
                          </a:solidFill>
                        </a:rPr>
                        <a:t>44</a:t>
                      </a:r>
                      <a:endParaRPr b="1" i="1" sz="1300" u="none" cap="none" strike="noStrike">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i="1" lang="en" sz="1300">
                          <a:solidFill>
                            <a:schemeClr val="lt1"/>
                          </a:solidFill>
                        </a:rPr>
                        <a:t>9</a:t>
                      </a:r>
                      <a:endParaRPr b="1" i="1" sz="1300" u="none" cap="none" strike="noStrike">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i="1" lang="en" sz="1300">
                          <a:solidFill>
                            <a:schemeClr val="lt1"/>
                          </a:solidFill>
                        </a:rPr>
                        <a:t>58</a:t>
                      </a:r>
                      <a:endParaRPr b="1" i="1" sz="1300" u="none" cap="none" strike="noStrike">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i="1" lang="en" sz="1300">
                          <a:solidFill>
                            <a:schemeClr val="lt1"/>
                          </a:solidFill>
                        </a:rPr>
                        <a:t>53.1</a:t>
                      </a:r>
                      <a:endParaRPr b="1" i="1" sz="1300" u="none" cap="none" strike="noStrike">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1" i="1" lang="en" sz="1300">
                          <a:solidFill>
                            <a:schemeClr val="lt1"/>
                          </a:solidFill>
                        </a:rPr>
                        <a:t>25</a:t>
                      </a:r>
                      <a:endParaRPr b="1" i="1" sz="1300" u="none" cap="none" strike="noStrike">
                        <a:solidFill>
                          <a:schemeClr val="lt1"/>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r>
              <a:tr h="389400">
                <a:tc>
                  <a:txBody>
                    <a:bodyPr/>
                    <a:lstStyle/>
                    <a:p>
                      <a:pPr indent="0" lvl="0" marL="0" rtl="0" algn="l">
                        <a:spcBef>
                          <a:spcPts val="0"/>
                        </a:spcBef>
                        <a:spcAft>
                          <a:spcPts val="0"/>
                        </a:spcAft>
                        <a:buNone/>
                      </a:pPr>
                      <a:r>
                        <a:rPr lang="en" sz="1100">
                          <a:solidFill>
                            <a:schemeClr val="lt1"/>
                          </a:solidFill>
                          <a:latin typeface="Proxima Nova"/>
                          <a:ea typeface="Proxima Nova"/>
                          <a:cs typeface="Proxima Nova"/>
                          <a:sym typeface="Proxima Nova"/>
                        </a:rPr>
                        <a:t>A Tunnel </a:t>
                      </a:r>
                      <a:r>
                        <a:rPr i="1" lang="en" sz="1100">
                          <a:solidFill>
                            <a:schemeClr val="lt1"/>
                          </a:solidFill>
                          <a:latin typeface="Proxima Nova"/>
                          <a:ea typeface="Proxima Nova"/>
                          <a:cs typeface="Proxima Nova"/>
                          <a:sym typeface="Proxima Nova"/>
                        </a:rPr>
                        <a:t>(Pending)</a:t>
                      </a:r>
                      <a:endParaRPr i="1" sz="1100">
                        <a:solidFill>
                          <a:schemeClr val="lt1"/>
                        </a:solidFill>
                        <a:latin typeface="Proxima Nova"/>
                        <a:ea typeface="Proxima Nova"/>
                        <a:cs typeface="Proxima Nova"/>
                        <a:sym typeface="Proxima Nova"/>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1" i="1" sz="1300" u="none" cap="none" strike="noStrike">
                        <a:solidFill>
                          <a:srgbClr val="FF0000"/>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1" i="1" sz="1300" u="none" cap="none" strike="noStrike">
                        <a:solidFill>
                          <a:srgbClr val="FF0000"/>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1" i="1" sz="1300" u="none" cap="none" strike="noStrike">
                        <a:solidFill>
                          <a:srgbClr val="FF0000"/>
                        </a:solidFil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300" u="none" cap="none" strike="noStrike">
                        <a:solidFill>
                          <a:srgbClr val="000000"/>
                        </a:solidFill>
                        <a:latin typeface="Arial"/>
                        <a:ea typeface="Arial"/>
                        <a:cs typeface="Arial"/>
                        <a:sym typeface="Aria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300" u="none" cap="none" strike="noStrike">
                        <a:solidFill>
                          <a:srgbClr val="000000"/>
                        </a:solidFill>
                        <a:latin typeface="Arial"/>
                        <a:ea typeface="Arial"/>
                        <a:cs typeface="Arial"/>
                        <a:sym typeface="Aria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r>
              <a:tr h="389400">
                <a:tc>
                  <a:txBody>
                    <a:bodyPr/>
                    <a:lstStyle/>
                    <a:p>
                      <a:pPr indent="0" lvl="0" marL="0" marR="0" rtl="0" algn="l">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New Green Watershed (0.25) MW</a:t>
                      </a:r>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r>
              <a:tr h="389400">
                <a:tc>
                  <a:txBody>
                    <a:bodyPr/>
                    <a:lstStyle/>
                    <a:p>
                      <a:pPr indent="0" lvl="0" marL="0" marR="0" rtl="0" algn="l">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New Green Watershed (0.5) MW</a:t>
                      </a:r>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F444B"/>
                    </a:solidFill>
                  </a:tcPr>
                </a:tc>
              </a:tr>
              <a:tr h="389400">
                <a:tc>
                  <a:txBody>
                    <a:bodyPr/>
                    <a:lstStyle/>
                    <a:p>
                      <a:pPr indent="0" lvl="0" marL="0" marR="0" rtl="0" algn="l">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New Green Watershed Full (</a:t>
                      </a:r>
                      <a:r>
                        <a:rPr lang="en" sz="1100">
                          <a:solidFill>
                            <a:srgbClr val="FFFFFF"/>
                          </a:solidFill>
                          <a:latin typeface="Proxima Nova"/>
                          <a:ea typeface="Proxima Nova"/>
                          <a:cs typeface="Proxima Nova"/>
                          <a:sym typeface="Proxima Nova"/>
                        </a:rPr>
                        <a:t>1.0)</a:t>
                      </a:r>
                      <a:r>
                        <a:rPr b="0" i="0" lang="en" sz="1100" u="none" cap="none" strike="noStrike">
                          <a:solidFill>
                            <a:srgbClr val="FFFFFF"/>
                          </a:solidFill>
                          <a:latin typeface="Proxima Nova"/>
                          <a:ea typeface="Proxima Nova"/>
                          <a:cs typeface="Proxima Nova"/>
                          <a:sym typeface="Proxima Nova"/>
                        </a:rPr>
                        <a:t> MW</a:t>
                      </a:r>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51A2BD"/>
                      </a:solidFill>
                      <a:prstDash val="solid"/>
                      <a:round/>
                      <a:headEnd len="sm" w="sm" type="none"/>
                      <a:tailEnd len="sm" w="sm" type="none"/>
                    </a:lnL>
                    <a:lnR cap="flat" cmpd="sng" w="9525">
                      <a:solidFill>
                        <a:srgbClr val="51A2BD"/>
                      </a:solidFill>
                      <a:prstDash val="solid"/>
                      <a:round/>
                      <a:headEnd len="sm" w="sm" type="none"/>
                      <a:tailEnd len="sm" w="sm" type="none"/>
                    </a:lnR>
                    <a:lnT cap="flat" cmpd="sng" w="9525">
                      <a:solidFill>
                        <a:srgbClr val="51A2BD"/>
                      </a:solidFill>
                      <a:prstDash val="solid"/>
                      <a:round/>
                      <a:headEnd len="sm" w="sm" type="none"/>
                      <a:tailEnd len="sm" w="sm" type="none"/>
                    </a:lnT>
                    <a:lnB cap="flat" cmpd="sng" w="9525">
                      <a:solidFill>
                        <a:srgbClr val="51A2BD"/>
                      </a:solidFill>
                      <a:prstDash val="solid"/>
                      <a:round/>
                      <a:headEnd len="sm" w="sm" type="none"/>
                      <a:tailEnd len="sm" w="sm" type="none"/>
                    </a:lnB>
                    <a:solidFill>
                      <a:srgbClr val="253439"/>
                    </a:solidFill>
                  </a:tcPr>
                </a:tc>
              </a:tr>
            </a:tbl>
          </a:graphicData>
        </a:graphic>
      </p:graphicFrame>
      <p:sp>
        <p:nvSpPr>
          <p:cNvPr id="739" name="Google Shape;739;p100"/>
          <p:cNvSpPr txBox="1"/>
          <p:nvPr/>
        </p:nvSpPr>
        <p:spPr>
          <a:xfrm>
            <a:off x="365760" y="4206240"/>
            <a:ext cx="8412600" cy="27090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None/>
            </a:pPr>
            <a:r>
              <a:t/>
            </a:r>
            <a:endParaRPr/>
          </a:p>
        </p:txBody>
      </p:sp>
      <p:sp>
        <p:nvSpPr>
          <p:cNvPr id="740" name="Google Shape;740;p100"/>
          <p:cNvSpPr/>
          <p:nvPr/>
        </p:nvSpPr>
        <p:spPr>
          <a:xfrm>
            <a:off x="4572000" y="3907775"/>
            <a:ext cx="135000" cy="140400"/>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1" name="Google Shape;741;p100"/>
          <p:cNvSpPr/>
          <p:nvPr/>
        </p:nvSpPr>
        <p:spPr>
          <a:xfrm>
            <a:off x="4572000" y="4271500"/>
            <a:ext cx="135000" cy="140400"/>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2" name="Google Shape;742;p100"/>
          <p:cNvSpPr/>
          <p:nvPr/>
        </p:nvSpPr>
        <p:spPr>
          <a:xfrm>
            <a:off x="4572000" y="4667925"/>
            <a:ext cx="135000" cy="140400"/>
          </a:xfrm>
          <a:prstGeom prst="ellipse">
            <a:avLst/>
          </a:prstGeom>
          <a:solidFill>
            <a:srgbClr val="7ED957"/>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3" name="Google Shape;743;p100"/>
          <p:cNvSpPr/>
          <p:nvPr/>
        </p:nvSpPr>
        <p:spPr>
          <a:xfrm>
            <a:off x="8209625" y="3907775"/>
            <a:ext cx="135000" cy="140400"/>
          </a:xfrm>
          <a:prstGeom prst="ellipse">
            <a:avLst/>
          </a:prstGeom>
          <a:solidFill>
            <a:srgbClr val="7ED957"/>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4" name="Google Shape;744;p100"/>
          <p:cNvSpPr/>
          <p:nvPr/>
        </p:nvSpPr>
        <p:spPr>
          <a:xfrm>
            <a:off x="8209625" y="4271500"/>
            <a:ext cx="135000" cy="140400"/>
          </a:xfrm>
          <a:prstGeom prst="ellipse">
            <a:avLst/>
          </a:prstGeom>
          <a:solidFill>
            <a:srgbClr val="7ED957"/>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5" name="Google Shape;745;p100"/>
          <p:cNvSpPr/>
          <p:nvPr/>
        </p:nvSpPr>
        <p:spPr>
          <a:xfrm>
            <a:off x="8209625" y="4667925"/>
            <a:ext cx="135000" cy="140400"/>
          </a:xfrm>
          <a:prstGeom prst="ellipse">
            <a:avLst/>
          </a:prstGeom>
          <a:solidFill>
            <a:srgbClr val="7ED957"/>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749" name="Shape 749"/>
        <p:cNvGrpSpPr/>
        <p:nvPr/>
      </p:nvGrpSpPr>
      <p:grpSpPr>
        <a:xfrm>
          <a:off x="0" y="0"/>
          <a:ext cx="0" cy="0"/>
          <a:chOff x="0" y="0"/>
          <a:chExt cx="0" cy="0"/>
        </a:xfrm>
      </p:grpSpPr>
      <p:sp>
        <p:nvSpPr>
          <p:cNvPr id="750" name="Google Shape;750;p101"/>
          <p:cNvSpPr txBox="1"/>
          <p:nvPr>
            <p:ph type="ctrTitle"/>
          </p:nvPr>
        </p:nvSpPr>
        <p:spPr>
          <a:xfrm>
            <a:off x="256375" y="96950"/>
            <a:ext cx="8520600" cy="8832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800"/>
              </a:spcAft>
              <a:buSzPts val="1100"/>
              <a:buNone/>
            </a:pPr>
            <a:r>
              <a:rPr b="1" lang="en" sz="2856">
                <a:solidFill>
                  <a:srgbClr val="7ED957"/>
                </a:solidFill>
                <a:latin typeface="Proxima Nova"/>
                <a:ea typeface="Proxima Nova"/>
                <a:cs typeface="Proxima Nova"/>
                <a:sym typeface="Proxima Nova"/>
              </a:rPr>
              <a:t>Overall Results Summary</a:t>
            </a:r>
            <a:endParaRPr b="1" sz="2856">
              <a:solidFill>
                <a:srgbClr val="7ED957"/>
              </a:solidFill>
              <a:latin typeface="Proxima Nova"/>
              <a:ea typeface="Proxima Nova"/>
              <a:cs typeface="Proxima Nova"/>
              <a:sym typeface="Proxima Nova"/>
            </a:endParaRPr>
          </a:p>
        </p:txBody>
      </p:sp>
      <p:sp>
        <p:nvSpPr>
          <p:cNvPr id="751" name="Google Shape;751;p101"/>
          <p:cNvSpPr txBox="1"/>
          <p:nvPr/>
        </p:nvSpPr>
        <p:spPr>
          <a:xfrm>
            <a:off x="409550" y="980150"/>
            <a:ext cx="7873200" cy="3365700"/>
          </a:xfrm>
          <a:prstGeom prst="rect">
            <a:avLst/>
          </a:prstGeom>
          <a:noFill/>
          <a:ln>
            <a:noFill/>
          </a:ln>
        </p:spPr>
        <p:txBody>
          <a:bodyPr anchorCtr="0" anchor="t" bIns="91425" lIns="91425" spcFirstLastPara="1" rIns="91425" wrap="square" tIns="91425">
            <a:spAutoFit/>
          </a:bodyPr>
          <a:lstStyle/>
          <a:p>
            <a:pPr indent="-336550" lvl="0" marL="457200" rtl="0" algn="l">
              <a:lnSpc>
                <a:spcPct val="100000"/>
              </a:lnSpc>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Adaptation management </a:t>
            </a:r>
            <a:r>
              <a:rPr b="1" i="1" lang="en" sz="1700">
                <a:solidFill>
                  <a:schemeClr val="lt2"/>
                </a:solidFill>
                <a:latin typeface="Proxima Nova"/>
                <a:ea typeface="Proxima Nova"/>
                <a:cs typeface="Proxima Nova"/>
                <a:sym typeface="Proxima Nova"/>
              </a:rPr>
              <a:t>benefits are activity-specific</a:t>
            </a:r>
            <a:endParaRPr sz="1700">
              <a:solidFill>
                <a:schemeClr val="lt2"/>
              </a:solidFill>
              <a:latin typeface="Proxima Nova"/>
              <a:ea typeface="Proxima Nova"/>
              <a:cs typeface="Proxima Nova"/>
              <a:sym typeface="Proxima Nova"/>
            </a:endParaRPr>
          </a:p>
          <a:p>
            <a:pPr indent="-336550" lvl="1" marL="914400" rtl="0" algn="l">
              <a:lnSpc>
                <a:spcPct val="100000"/>
              </a:lnSpc>
              <a:spcBef>
                <a:spcPts val="100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angling performs the best of the five activities occurring below species affecting scenario thresholds for recreation important fisheries: 9,130 µS/cm habitat threshold that fails to reach outside Suisun under greater flow regimes</a:t>
            </a:r>
            <a:endParaRPr sz="1700">
              <a:solidFill>
                <a:schemeClr val="lt1"/>
              </a:solidFill>
              <a:latin typeface="Proxima Nova"/>
              <a:ea typeface="Proxima Nova"/>
              <a:cs typeface="Proxima Nova"/>
              <a:sym typeface="Proxima Nova"/>
            </a:endParaRPr>
          </a:p>
          <a:p>
            <a:pPr indent="-336550" lvl="1" marL="914400" rtl="0" algn="l">
              <a:lnSpc>
                <a:spcPct val="100000"/>
              </a:lnSpc>
              <a:spcBef>
                <a:spcPts val="100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wetland rehabilitation for summer breeding and migratory winter waterfowl would require a combined acreage of water flow of about ~1,065,778 acre-feet/yr for an extra 63,500 wetland restored acres to support waterfowl and bird species, falling right below 0.5% MW scenario</a:t>
            </a:r>
            <a:endParaRPr sz="1700">
              <a:solidFill>
                <a:schemeClr val="lt1"/>
              </a:solidFill>
              <a:latin typeface="Proxima Nova"/>
              <a:ea typeface="Proxima Nova"/>
              <a:cs typeface="Proxima Nova"/>
              <a:sym typeface="Proxima Nova"/>
            </a:endParaRPr>
          </a:p>
          <a:p>
            <a:pPr indent="-336550" lvl="0" marL="457200" rtl="0" algn="l">
              <a:lnSpc>
                <a:spcPct val="100000"/>
              </a:lnSpc>
              <a:spcBef>
                <a:spcPts val="100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Multi-decadal visitor sector wages are positively retained under wet and critical water year conditions </a:t>
            </a:r>
            <a:r>
              <a:rPr lang="en" sz="1700">
                <a:solidFill>
                  <a:schemeClr val="lt1"/>
                </a:solidFill>
                <a:latin typeface="Proxima Nova"/>
                <a:ea typeface="Proxima Nova"/>
                <a:cs typeface="Proxima Nova"/>
                <a:sym typeface="Proxima Nova"/>
              </a:rPr>
              <a:t>compared</a:t>
            </a:r>
            <a:r>
              <a:rPr lang="en" sz="1700">
                <a:solidFill>
                  <a:schemeClr val="lt1"/>
                </a:solidFill>
                <a:latin typeface="Proxima Nova"/>
                <a:ea typeface="Proxima Nova"/>
                <a:cs typeface="Proxima Nova"/>
                <a:sym typeface="Proxima Nova"/>
              </a:rPr>
              <a:t> to near average years</a:t>
            </a:r>
            <a:endParaRPr sz="1700">
              <a:solidFill>
                <a:schemeClr val="lt1"/>
              </a:solidFill>
              <a:latin typeface="Proxima Nova"/>
              <a:ea typeface="Proxima Nova"/>
              <a:cs typeface="Proxima Nova"/>
              <a:sym typeface="Proxima Nova"/>
            </a:endParaRPr>
          </a:p>
          <a:p>
            <a:pPr indent="-336550" lvl="0" marL="457200" rtl="0" algn="l">
              <a:lnSpc>
                <a:spcPct val="100000"/>
              </a:lnSpc>
              <a:spcBef>
                <a:spcPts val="1000"/>
              </a:spcBef>
              <a:spcAft>
                <a:spcPts val="1000"/>
              </a:spcAft>
              <a:buClr>
                <a:schemeClr val="lt1"/>
              </a:buClr>
              <a:buSzPts val="1700"/>
              <a:buFont typeface="Proxima Nova"/>
              <a:buChar char="●"/>
            </a:pPr>
            <a:r>
              <a:rPr lang="en" sz="1700">
                <a:solidFill>
                  <a:schemeClr val="lt1"/>
                </a:solidFill>
                <a:latin typeface="Proxima Nova"/>
                <a:ea typeface="Proxima Nova"/>
                <a:cs typeface="Proxima Nova"/>
                <a:sym typeface="Proxima Nova"/>
              </a:rPr>
              <a:t>Winter birding and waterfowl activities dependent on late fall runoff conditions, and summer activities driven by pull of water resources indicated by late spring runoff conditionsUnder +30% flows, </a:t>
            </a:r>
            <a:r>
              <a:rPr lang="en" sz="1700">
                <a:solidFill>
                  <a:schemeClr val="lt1"/>
                </a:solidFill>
                <a:latin typeface="Proxima Nova"/>
                <a:ea typeface="Proxima Nova"/>
                <a:cs typeface="Proxima Nova"/>
                <a:sym typeface="Proxima Nova"/>
              </a:rPr>
              <a:t>species</a:t>
            </a:r>
            <a:r>
              <a:rPr lang="en" sz="1700">
                <a:solidFill>
                  <a:schemeClr val="lt1"/>
                </a:solidFill>
                <a:latin typeface="Proxima Nova"/>
                <a:ea typeface="Proxima Nova"/>
                <a:cs typeface="Proxima Nova"/>
                <a:sym typeface="Proxima Nova"/>
              </a:rPr>
              <a:t> and activities in the North and Central Delta cross fewer threshold days than under either the baseline or -10% flow scenarios at the regional scale</a:t>
            </a:r>
            <a:endParaRPr sz="1700">
              <a:solidFill>
                <a:schemeClr val="lt1"/>
              </a:solidFill>
              <a:latin typeface="Proxima Nova"/>
              <a:ea typeface="Proxima Nova"/>
              <a:cs typeface="Proxima Nova"/>
              <a:sym typeface="Proxima Nova"/>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755" name="Shape 755"/>
        <p:cNvGrpSpPr/>
        <p:nvPr/>
      </p:nvGrpSpPr>
      <p:grpSpPr>
        <a:xfrm>
          <a:off x="0" y="0"/>
          <a:ext cx="0" cy="0"/>
          <a:chOff x="0" y="0"/>
          <a:chExt cx="0" cy="0"/>
        </a:xfrm>
      </p:grpSpPr>
      <p:sp>
        <p:nvSpPr>
          <p:cNvPr id="756" name="Google Shape;756;p102"/>
          <p:cNvSpPr txBox="1"/>
          <p:nvPr>
            <p:ph type="ctrTitle"/>
          </p:nvPr>
        </p:nvSpPr>
        <p:spPr>
          <a:xfrm>
            <a:off x="274325" y="366242"/>
            <a:ext cx="8520600" cy="3414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100"/>
              <a:buNone/>
            </a:pPr>
            <a:r>
              <a:rPr b="1" lang="en" sz="4533">
                <a:solidFill>
                  <a:srgbClr val="7ED957"/>
                </a:solidFill>
                <a:latin typeface="Proxima Nova"/>
                <a:ea typeface="Proxima Nova"/>
                <a:cs typeface="Proxima Nova"/>
                <a:sym typeface="Proxima Nova"/>
              </a:rPr>
              <a:t>ECONOMY</a:t>
            </a:r>
            <a:endParaRPr b="1" sz="4533">
              <a:solidFill>
                <a:srgbClr val="7ED957"/>
              </a:solidFill>
              <a:latin typeface="Proxima Nova"/>
              <a:ea typeface="Proxima Nova"/>
              <a:cs typeface="Proxima Nova"/>
              <a:sym typeface="Proxima Nova"/>
            </a:endParaRPr>
          </a:p>
          <a:p>
            <a:pPr indent="0" lvl="0" marL="0" rtl="0" algn="l">
              <a:lnSpc>
                <a:spcPct val="100000"/>
              </a:lnSpc>
              <a:spcBef>
                <a:spcPts val="800"/>
              </a:spcBef>
              <a:spcAft>
                <a:spcPts val="0"/>
              </a:spcAft>
              <a:buClr>
                <a:schemeClr val="dk1"/>
              </a:buClr>
              <a:buSzPts val="1100"/>
              <a:buFont typeface="Arial"/>
              <a:buNone/>
            </a:pPr>
            <a:r>
              <a:rPr i="1" lang="en" sz="2978">
                <a:solidFill>
                  <a:srgbClr val="7ED957"/>
                </a:solidFill>
                <a:latin typeface="Proxima Nova"/>
                <a:ea typeface="Proxima Nova"/>
                <a:cs typeface="Proxima Nova"/>
                <a:sym typeface="Proxima Nova"/>
              </a:rPr>
              <a:t>Assessing Impacts of Future Delta Salinity Management Scenarios on Delta Agricultural Production </a:t>
            </a:r>
            <a:endParaRPr i="1" sz="2978">
              <a:solidFill>
                <a:srgbClr val="7ED957"/>
              </a:solidFill>
              <a:latin typeface="Proxima Nova"/>
              <a:ea typeface="Proxima Nova"/>
              <a:cs typeface="Proxima Nova"/>
              <a:sym typeface="Proxima Nova"/>
            </a:endParaRPr>
          </a:p>
          <a:p>
            <a:pPr indent="0" lvl="0" marL="0" rtl="0" algn="ctr">
              <a:lnSpc>
                <a:spcPct val="100000"/>
              </a:lnSpc>
              <a:spcBef>
                <a:spcPts val="800"/>
              </a:spcBef>
              <a:spcAft>
                <a:spcPts val="0"/>
              </a:spcAft>
              <a:buClr>
                <a:srgbClr val="000000"/>
              </a:buClr>
              <a:buSzPts val="5200"/>
              <a:buFont typeface="Arial"/>
              <a:buNone/>
            </a:pPr>
            <a:r>
              <a:t/>
            </a:r>
            <a:endParaRPr>
              <a:solidFill>
                <a:srgbClr val="7ED957"/>
              </a:solidFill>
              <a:latin typeface="Hammersmith One"/>
              <a:ea typeface="Hammersmith One"/>
              <a:cs typeface="Hammersmith One"/>
              <a:sym typeface="Hammersmith One"/>
            </a:endParaRPr>
          </a:p>
        </p:txBody>
      </p:sp>
      <p:sp>
        <p:nvSpPr>
          <p:cNvPr id="757" name="Google Shape;757;p102"/>
          <p:cNvSpPr txBox="1"/>
          <p:nvPr/>
        </p:nvSpPr>
        <p:spPr>
          <a:xfrm>
            <a:off x="600850" y="3668325"/>
            <a:ext cx="53064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2500" u="none" cap="none" strike="noStrike">
                <a:solidFill>
                  <a:srgbClr val="51A2BD"/>
                </a:solidFill>
                <a:latin typeface="Proxima Nova"/>
                <a:ea typeface="Proxima Nova"/>
                <a:cs typeface="Proxima Nova"/>
                <a:sym typeface="Proxima Nova"/>
              </a:rPr>
              <a:t>Yu Cai &amp; Josué Medellín-Azuara</a:t>
            </a:r>
            <a:endParaRPr b="0" i="0" sz="2500" u="none" cap="none" strike="noStrike">
              <a:solidFill>
                <a:srgbClr val="51A2BD"/>
              </a:solidFill>
              <a:latin typeface="Proxima Nova"/>
              <a:ea typeface="Proxima Nova"/>
              <a:cs typeface="Proxima Nova"/>
              <a:sym typeface="Proxima Nova"/>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761" name="Shape 761"/>
        <p:cNvGrpSpPr/>
        <p:nvPr/>
      </p:nvGrpSpPr>
      <p:grpSpPr>
        <a:xfrm>
          <a:off x="0" y="0"/>
          <a:ext cx="0" cy="0"/>
          <a:chOff x="0" y="0"/>
          <a:chExt cx="0" cy="0"/>
        </a:xfrm>
      </p:grpSpPr>
      <p:sp>
        <p:nvSpPr>
          <p:cNvPr id="762" name="Google Shape;762;p103"/>
          <p:cNvSpPr txBox="1"/>
          <p:nvPr/>
        </p:nvSpPr>
        <p:spPr>
          <a:xfrm>
            <a:off x="365760" y="201168"/>
            <a:ext cx="8412480" cy="64008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i="0" lang="en" sz="2800" u="none" cap="none" strike="noStrike">
                <a:solidFill>
                  <a:srgbClr val="7ED957"/>
                </a:solidFill>
                <a:latin typeface="Proxima Nova"/>
                <a:ea typeface="Proxima Nova"/>
                <a:cs typeface="Proxima Nova"/>
                <a:sym typeface="Proxima Nova"/>
              </a:rPr>
              <a:t>Criterion Definition</a:t>
            </a:r>
            <a:endParaRPr/>
          </a:p>
        </p:txBody>
      </p:sp>
      <p:sp>
        <p:nvSpPr>
          <p:cNvPr id="763" name="Google Shape;763;p103"/>
          <p:cNvSpPr txBox="1"/>
          <p:nvPr/>
        </p:nvSpPr>
        <p:spPr>
          <a:xfrm>
            <a:off x="365760" y="960120"/>
            <a:ext cx="4846320" cy="356616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None/>
            </a:pPr>
            <a:r>
              <a:rPr b="0" i="0" lang="en" sz="1700" u="none" cap="none" strike="noStrike">
                <a:solidFill>
                  <a:srgbClr val="FFFFFF"/>
                </a:solidFill>
                <a:latin typeface="Proxima Nova"/>
                <a:ea typeface="Proxima Nova"/>
                <a:cs typeface="Proxima Nova"/>
                <a:sym typeface="Proxima Nova"/>
              </a:rPr>
              <a:t>When the Delta's water gets saltier, or when farmland is converted to something else, what happens to the Delta's economy?</a:t>
            </a:r>
            <a:endParaRPr/>
          </a:p>
          <a:p>
            <a:pPr indent="0" lvl="0" marL="0" marR="0" rtl="0" algn="l">
              <a:lnSpc>
                <a:spcPct val="100000"/>
              </a:lnSpc>
              <a:spcBef>
                <a:spcPts val="1200"/>
              </a:spcBef>
              <a:spcAft>
                <a:spcPts val="0"/>
              </a:spcAft>
              <a:buNone/>
            </a:pPr>
            <a:r>
              <a:rPr b="0" i="0" lang="en" sz="1400" u="none" cap="none" strike="noStrike">
                <a:solidFill>
                  <a:srgbClr val="B8C7CC"/>
                </a:solidFill>
                <a:latin typeface="Proxima Nova"/>
                <a:ea typeface="Proxima Nova"/>
                <a:cs typeface="Proxima Nova"/>
                <a:sym typeface="Proxima Nova"/>
              </a:rPr>
              <a:t>We track three measures, each relative to Business As Usual:</a:t>
            </a:r>
            <a:endParaRPr/>
          </a:p>
        </p:txBody>
      </p:sp>
      <p:sp>
        <p:nvSpPr>
          <p:cNvPr id="764" name="Google Shape;764;p103"/>
          <p:cNvSpPr/>
          <p:nvPr/>
        </p:nvSpPr>
        <p:spPr>
          <a:xfrm>
            <a:off x="5486400" y="1005840"/>
            <a:ext cx="3291840" cy="960120"/>
          </a:xfrm>
          <a:prstGeom prst="rect">
            <a:avLst/>
          </a:prstGeom>
          <a:solidFill>
            <a:srgbClr val="2F44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5" name="Google Shape;765;p103"/>
          <p:cNvSpPr txBox="1"/>
          <p:nvPr/>
        </p:nvSpPr>
        <p:spPr>
          <a:xfrm>
            <a:off x="5623560" y="1078992"/>
            <a:ext cx="3063240" cy="82296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Gross Revenue</a:t>
            </a:r>
            <a:endParaRPr/>
          </a:p>
          <a:p>
            <a:pPr indent="0" lvl="0" marL="0" marR="0" rtl="0" algn="l">
              <a:lnSpc>
                <a:spcPct val="100000"/>
              </a:lnSpc>
              <a:spcBef>
                <a:spcPts val="200"/>
              </a:spcBef>
              <a:spcAft>
                <a:spcPts val="0"/>
              </a:spcAft>
              <a:buNone/>
            </a:pPr>
            <a:r>
              <a:rPr b="0" i="0" lang="en" sz="1200" u="none" cap="none" strike="noStrike">
                <a:solidFill>
                  <a:srgbClr val="FFFFFF"/>
                </a:solidFill>
                <a:latin typeface="Proxima Nova"/>
                <a:ea typeface="Proxima Nova"/>
                <a:cs typeface="Proxima Nova"/>
                <a:sym typeface="Proxima Nova"/>
              </a:rPr>
              <a:t>Dollar sales from Delta farms</a:t>
            </a:r>
            <a:endParaRPr/>
          </a:p>
        </p:txBody>
      </p:sp>
      <p:sp>
        <p:nvSpPr>
          <p:cNvPr id="766" name="Google Shape;766;p103"/>
          <p:cNvSpPr/>
          <p:nvPr/>
        </p:nvSpPr>
        <p:spPr>
          <a:xfrm>
            <a:off x="5486400" y="2121408"/>
            <a:ext cx="3291840" cy="960120"/>
          </a:xfrm>
          <a:prstGeom prst="rect">
            <a:avLst/>
          </a:prstGeom>
          <a:solidFill>
            <a:srgbClr val="2F44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7" name="Google Shape;767;p103"/>
          <p:cNvSpPr txBox="1"/>
          <p:nvPr/>
        </p:nvSpPr>
        <p:spPr>
          <a:xfrm>
            <a:off x="5623560" y="2194560"/>
            <a:ext cx="3063240" cy="82296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Employment</a:t>
            </a:r>
            <a:endParaRPr/>
          </a:p>
          <a:p>
            <a:pPr indent="0" lvl="0" marL="0" marR="0" rtl="0" algn="l">
              <a:lnSpc>
                <a:spcPct val="100000"/>
              </a:lnSpc>
              <a:spcBef>
                <a:spcPts val="200"/>
              </a:spcBef>
              <a:spcAft>
                <a:spcPts val="0"/>
              </a:spcAft>
              <a:buNone/>
            </a:pPr>
            <a:r>
              <a:rPr b="0" i="0" lang="en" sz="1200" u="none" cap="none" strike="noStrike">
                <a:solidFill>
                  <a:srgbClr val="FFFFFF"/>
                </a:solidFill>
                <a:latin typeface="Proxima Nova"/>
                <a:ea typeface="Proxima Nova"/>
                <a:cs typeface="Proxima Nova"/>
                <a:sym typeface="Proxima Nova"/>
              </a:rPr>
              <a:t>Full- and part-time jobs on farms and in the businesses tied to them</a:t>
            </a:r>
            <a:endParaRPr/>
          </a:p>
        </p:txBody>
      </p:sp>
      <p:sp>
        <p:nvSpPr>
          <p:cNvPr id="768" name="Google Shape;768;p103"/>
          <p:cNvSpPr/>
          <p:nvPr/>
        </p:nvSpPr>
        <p:spPr>
          <a:xfrm>
            <a:off x="5486400" y="3236976"/>
            <a:ext cx="3291840" cy="960120"/>
          </a:xfrm>
          <a:prstGeom prst="rect">
            <a:avLst/>
          </a:prstGeom>
          <a:solidFill>
            <a:srgbClr val="2F44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9" name="Google Shape;769;p103"/>
          <p:cNvSpPr txBox="1"/>
          <p:nvPr/>
        </p:nvSpPr>
        <p:spPr>
          <a:xfrm>
            <a:off x="5623560" y="3310128"/>
            <a:ext cx="3063240" cy="82296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Value Added</a:t>
            </a:r>
            <a:endParaRPr/>
          </a:p>
          <a:p>
            <a:pPr indent="0" lvl="0" marL="0" marR="0" rtl="0" algn="l">
              <a:lnSpc>
                <a:spcPct val="100000"/>
              </a:lnSpc>
              <a:spcBef>
                <a:spcPts val="200"/>
              </a:spcBef>
              <a:spcAft>
                <a:spcPts val="0"/>
              </a:spcAft>
              <a:buNone/>
            </a:pPr>
            <a:r>
              <a:rPr b="0" i="0" lang="en" sz="1200" u="none" cap="none" strike="noStrike">
                <a:solidFill>
                  <a:srgbClr val="FFFFFF"/>
                </a:solidFill>
                <a:latin typeface="Proxima Nova"/>
                <a:ea typeface="Proxima Nova"/>
                <a:cs typeface="Proxima Nova"/>
                <a:sym typeface="Proxima Nova"/>
              </a:rPr>
              <a:t>Wages, business income and taxes; close to regional GDP</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773" name="Shape 773"/>
        <p:cNvGrpSpPr/>
        <p:nvPr/>
      </p:nvGrpSpPr>
      <p:grpSpPr>
        <a:xfrm>
          <a:off x="0" y="0"/>
          <a:ext cx="0" cy="0"/>
          <a:chOff x="0" y="0"/>
          <a:chExt cx="0" cy="0"/>
        </a:xfrm>
      </p:grpSpPr>
      <p:sp>
        <p:nvSpPr>
          <p:cNvPr id="774" name="Google Shape;774;p104"/>
          <p:cNvSpPr txBox="1"/>
          <p:nvPr/>
        </p:nvSpPr>
        <p:spPr>
          <a:xfrm>
            <a:off x="365760" y="201168"/>
            <a:ext cx="8412480" cy="64008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i="0" lang="en" sz="2800" u="none" cap="none" strike="noStrike">
                <a:solidFill>
                  <a:srgbClr val="7ED957"/>
                </a:solidFill>
                <a:latin typeface="Proxima Nova"/>
                <a:ea typeface="Proxima Nova"/>
                <a:cs typeface="Proxima Nova"/>
                <a:sym typeface="Proxima Nova"/>
              </a:rPr>
              <a:t>Why This Criterion Matters</a:t>
            </a:r>
            <a:endParaRPr/>
          </a:p>
        </p:txBody>
      </p:sp>
      <p:sp>
        <p:nvSpPr>
          <p:cNvPr id="775" name="Google Shape;775;p104"/>
          <p:cNvSpPr txBox="1"/>
          <p:nvPr/>
        </p:nvSpPr>
        <p:spPr>
          <a:xfrm>
            <a:off x="365760" y="914400"/>
            <a:ext cx="8412480" cy="128016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None/>
            </a:pPr>
            <a:r>
              <a:rPr b="0" i="0" lang="en" sz="1400" u="none" cap="none" strike="noStrike">
                <a:solidFill>
                  <a:srgbClr val="FFFFFF"/>
                </a:solidFill>
                <a:latin typeface="Proxima Nova"/>
                <a:ea typeface="Proxima Nova"/>
                <a:cs typeface="Proxima Nova"/>
                <a:sym typeface="Proxima Nova"/>
              </a:rPr>
              <a:t>The Delta supports a working farm economy, plus the packing houses, equipment dealers, trucking and recreation that depend on it. Every one of the six futures affects that economy: some through salt water reaching farm fields, others by converting farmland to wetland. Measuring the size of those effects, and where they fall, is a direct way to compare the futures.</a:t>
            </a:r>
            <a:endParaRPr/>
          </a:p>
        </p:txBody>
      </p:sp>
      <p:sp>
        <p:nvSpPr>
          <p:cNvPr id="776" name="Google Shape;776;p104"/>
          <p:cNvSpPr/>
          <p:nvPr/>
        </p:nvSpPr>
        <p:spPr>
          <a:xfrm>
            <a:off x="365760" y="2514600"/>
            <a:ext cx="2651760" cy="2011680"/>
          </a:xfrm>
          <a:prstGeom prst="rect">
            <a:avLst/>
          </a:prstGeom>
          <a:solidFill>
            <a:srgbClr val="2F44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7" name="Google Shape;777;p104"/>
          <p:cNvSpPr txBox="1"/>
          <p:nvPr/>
        </p:nvSpPr>
        <p:spPr>
          <a:xfrm>
            <a:off x="457200" y="2651760"/>
            <a:ext cx="2468880" cy="1737360"/>
          </a:xfrm>
          <a:prstGeom prst="rect">
            <a:avLst/>
          </a:prstGeom>
          <a:noFill/>
          <a:ln>
            <a:noFill/>
          </a:ln>
        </p:spPr>
        <p:txBody>
          <a:bodyPr anchorCtr="0" anchor="t" bIns="27425" lIns="45700" spcFirstLastPara="1" rIns="45700" wrap="square" tIns="27425">
            <a:spAutoFit/>
          </a:bodyPr>
          <a:lstStyle/>
          <a:p>
            <a:pPr indent="0" lvl="0" marL="0" marR="0" rtl="0" algn="ctr">
              <a:lnSpc>
                <a:spcPct val="100000"/>
              </a:lnSpc>
              <a:spcBef>
                <a:spcPts val="0"/>
              </a:spcBef>
              <a:spcAft>
                <a:spcPts val="0"/>
              </a:spcAft>
              <a:buNone/>
            </a:pPr>
            <a:r>
              <a:rPr b="1" i="0" lang="en" sz="3000" u="none" cap="none" strike="noStrike">
                <a:solidFill>
                  <a:srgbClr val="7ED957"/>
                </a:solidFill>
                <a:latin typeface="Proxima Nova"/>
                <a:ea typeface="Proxima Nova"/>
                <a:cs typeface="Proxima Nova"/>
                <a:sym typeface="Proxima Nova"/>
              </a:rPr>
              <a:t>$1.1B/yr</a:t>
            </a:r>
            <a:endParaRPr/>
          </a:p>
          <a:p>
            <a:pPr indent="0" lvl="0" marL="0" marR="0" rtl="0" algn="ctr">
              <a:lnSpc>
                <a:spcPct val="100000"/>
              </a:lnSpc>
              <a:spcBef>
                <a:spcPts val="600"/>
              </a:spcBef>
              <a:spcAft>
                <a:spcPts val="0"/>
              </a:spcAft>
              <a:buNone/>
            </a:pPr>
            <a:r>
              <a:rPr b="0" i="0" lang="en" sz="1200" u="none" cap="none" strike="noStrike">
                <a:solidFill>
                  <a:srgbClr val="FFFFFF"/>
                </a:solidFill>
                <a:latin typeface="Proxima Nova"/>
                <a:ea typeface="Proxima Nova"/>
                <a:cs typeface="Proxima Nova"/>
                <a:sym typeface="Proxima Nova"/>
              </a:rPr>
              <a:t>direct farm sales</a:t>
            </a:r>
            <a:br>
              <a:rPr b="0" i="0" lang="en" sz="1200" u="none" cap="none" strike="noStrike">
                <a:solidFill>
                  <a:srgbClr val="FFFFFF"/>
                </a:solidFill>
                <a:latin typeface="Proxima Nova"/>
                <a:ea typeface="Proxima Nova"/>
                <a:cs typeface="Proxima Nova"/>
                <a:sym typeface="Proxima Nova"/>
              </a:rPr>
            </a:br>
            <a:r>
              <a:rPr b="0" i="0" lang="en" sz="1200" u="none" cap="none" strike="noStrike">
                <a:solidFill>
                  <a:srgbClr val="FFFFFF"/>
                </a:solidFill>
                <a:latin typeface="Proxima Nova"/>
                <a:ea typeface="Proxima Nova"/>
                <a:cs typeface="Proxima Nova"/>
                <a:sym typeface="Proxima Nova"/>
              </a:rPr>
              <a:t>(DAP basecase)</a:t>
            </a:r>
            <a:endParaRPr/>
          </a:p>
        </p:txBody>
      </p:sp>
      <p:sp>
        <p:nvSpPr>
          <p:cNvPr id="778" name="Google Shape;778;p104"/>
          <p:cNvSpPr/>
          <p:nvPr/>
        </p:nvSpPr>
        <p:spPr>
          <a:xfrm>
            <a:off x="3200400" y="2514600"/>
            <a:ext cx="2651760" cy="2011680"/>
          </a:xfrm>
          <a:prstGeom prst="rect">
            <a:avLst/>
          </a:prstGeom>
          <a:solidFill>
            <a:srgbClr val="2F44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9" name="Google Shape;779;p104"/>
          <p:cNvSpPr txBox="1"/>
          <p:nvPr/>
        </p:nvSpPr>
        <p:spPr>
          <a:xfrm>
            <a:off x="3291840" y="2651760"/>
            <a:ext cx="2469000" cy="1737300"/>
          </a:xfrm>
          <a:prstGeom prst="rect">
            <a:avLst/>
          </a:prstGeom>
          <a:noFill/>
          <a:ln>
            <a:noFill/>
          </a:ln>
        </p:spPr>
        <p:txBody>
          <a:bodyPr anchorCtr="0" anchor="t" bIns="27425" lIns="45700" spcFirstLastPara="1" rIns="45700" wrap="square" tIns="27425">
            <a:spAutoFit/>
          </a:bodyPr>
          <a:lstStyle/>
          <a:p>
            <a:pPr indent="0" lvl="0" marL="0" marR="0" rtl="0" algn="ctr">
              <a:lnSpc>
                <a:spcPct val="100000"/>
              </a:lnSpc>
              <a:spcBef>
                <a:spcPts val="0"/>
              </a:spcBef>
              <a:spcAft>
                <a:spcPts val="0"/>
              </a:spcAft>
              <a:buNone/>
            </a:pPr>
            <a:r>
              <a:rPr b="1" i="0" lang="en" sz="3000" u="none" cap="none" strike="noStrike">
                <a:solidFill>
                  <a:srgbClr val="7ED957"/>
                </a:solidFill>
                <a:latin typeface="Proxima Nova"/>
                <a:ea typeface="Proxima Nova"/>
                <a:cs typeface="Proxima Nova"/>
                <a:sym typeface="Proxima Nova"/>
              </a:rPr>
              <a:t>7,650</a:t>
            </a:r>
            <a:endParaRPr/>
          </a:p>
          <a:p>
            <a:pPr indent="0" lvl="0" marL="0" marR="0" rtl="0" algn="ctr">
              <a:lnSpc>
                <a:spcPct val="100000"/>
              </a:lnSpc>
              <a:spcBef>
                <a:spcPts val="600"/>
              </a:spcBef>
              <a:spcAft>
                <a:spcPts val="0"/>
              </a:spcAft>
              <a:buNone/>
            </a:pPr>
            <a:r>
              <a:rPr b="0" i="0" lang="en" sz="1200" u="none" cap="none" strike="noStrike">
                <a:solidFill>
                  <a:srgbClr val="FFFFFF"/>
                </a:solidFill>
                <a:latin typeface="Proxima Nova"/>
                <a:ea typeface="Proxima Nova"/>
                <a:cs typeface="Proxima Nova"/>
                <a:sym typeface="Proxima Nova"/>
              </a:rPr>
              <a:t>direct farm jobs</a:t>
            </a:r>
            <a:br>
              <a:rPr b="0" i="0" lang="en" sz="1200" u="none" cap="none" strike="noStrike">
                <a:solidFill>
                  <a:srgbClr val="FFFFFF"/>
                </a:solidFill>
                <a:latin typeface="Proxima Nova"/>
                <a:ea typeface="Proxima Nova"/>
                <a:cs typeface="Proxima Nova"/>
                <a:sym typeface="Proxima Nova"/>
              </a:rPr>
            </a:br>
            <a:r>
              <a:rPr b="0" i="0" lang="en" sz="1200" u="none" cap="none" strike="noStrike">
                <a:solidFill>
                  <a:srgbClr val="FFFFFF"/>
                </a:solidFill>
                <a:latin typeface="Proxima Nova"/>
                <a:ea typeface="Proxima Nova"/>
                <a:cs typeface="Proxima Nova"/>
                <a:sym typeface="Proxima Nova"/>
              </a:rPr>
              <a:t>(11,814 including multiplier)</a:t>
            </a:r>
            <a:endParaRPr/>
          </a:p>
        </p:txBody>
      </p:sp>
      <p:sp>
        <p:nvSpPr>
          <p:cNvPr id="780" name="Google Shape;780;p104"/>
          <p:cNvSpPr/>
          <p:nvPr/>
        </p:nvSpPr>
        <p:spPr>
          <a:xfrm>
            <a:off x="6035040" y="2514600"/>
            <a:ext cx="2651760" cy="2011680"/>
          </a:xfrm>
          <a:prstGeom prst="rect">
            <a:avLst/>
          </a:prstGeom>
          <a:solidFill>
            <a:srgbClr val="2F44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1" name="Google Shape;781;p104"/>
          <p:cNvSpPr txBox="1"/>
          <p:nvPr/>
        </p:nvSpPr>
        <p:spPr>
          <a:xfrm>
            <a:off x="6126480" y="2651760"/>
            <a:ext cx="2468880" cy="1737360"/>
          </a:xfrm>
          <a:prstGeom prst="rect">
            <a:avLst/>
          </a:prstGeom>
          <a:noFill/>
          <a:ln>
            <a:noFill/>
          </a:ln>
        </p:spPr>
        <p:txBody>
          <a:bodyPr anchorCtr="0" anchor="t" bIns="27425" lIns="45700" spcFirstLastPara="1" rIns="45700" wrap="square" tIns="27425">
            <a:spAutoFit/>
          </a:bodyPr>
          <a:lstStyle/>
          <a:p>
            <a:pPr indent="0" lvl="0" marL="0" marR="0" rtl="0" algn="ctr">
              <a:lnSpc>
                <a:spcPct val="100000"/>
              </a:lnSpc>
              <a:spcBef>
                <a:spcPts val="0"/>
              </a:spcBef>
              <a:spcAft>
                <a:spcPts val="0"/>
              </a:spcAft>
              <a:buNone/>
            </a:pPr>
            <a:r>
              <a:rPr b="1" i="0" lang="en" sz="3000" u="none" cap="none" strike="noStrike">
                <a:solidFill>
                  <a:srgbClr val="7ED957"/>
                </a:solidFill>
                <a:latin typeface="Proxima Nova"/>
                <a:ea typeface="Proxima Nova"/>
                <a:cs typeface="Proxima Nova"/>
                <a:sym typeface="Proxima Nova"/>
              </a:rPr>
              <a:t>$671M/yr</a:t>
            </a:r>
            <a:endParaRPr/>
          </a:p>
          <a:p>
            <a:pPr indent="0" lvl="0" marL="0" marR="0" rtl="0" algn="ctr">
              <a:lnSpc>
                <a:spcPct val="100000"/>
              </a:lnSpc>
              <a:spcBef>
                <a:spcPts val="600"/>
              </a:spcBef>
              <a:spcAft>
                <a:spcPts val="0"/>
              </a:spcAft>
              <a:buNone/>
            </a:pPr>
            <a:r>
              <a:rPr b="0" i="0" lang="en" sz="1200" u="none" cap="none" strike="noStrike">
                <a:solidFill>
                  <a:srgbClr val="FFFFFF"/>
                </a:solidFill>
                <a:latin typeface="Proxima Nova"/>
                <a:ea typeface="Proxima Nova"/>
                <a:cs typeface="Proxima Nova"/>
                <a:sym typeface="Proxima Nova"/>
              </a:rPr>
              <a:t>direct value added</a:t>
            </a:r>
            <a:br>
              <a:rPr b="0" i="0" lang="en" sz="1200" u="none" cap="none" strike="noStrike">
                <a:solidFill>
                  <a:srgbClr val="FFFFFF"/>
                </a:solidFill>
                <a:latin typeface="Proxima Nova"/>
                <a:ea typeface="Proxima Nova"/>
                <a:cs typeface="Proxima Nova"/>
                <a:sym typeface="Proxima Nova"/>
              </a:rPr>
            </a:br>
            <a:r>
              <a:rPr b="0" i="0" lang="en" sz="1200" u="none" cap="none" strike="noStrike">
                <a:solidFill>
                  <a:srgbClr val="FFFFFF"/>
                </a:solidFill>
                <a:latin typeface="Proxima Nova"/>
                <a:ea typeface="Proxima Nova"/>
                <a:cs typeface="Proxima Nova"/>
                <a:sym typeface="Proxima Nova"/>
              </a:rPr>
              <a:t>($999M including multiplier)</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785" name="Shape 785"/>
        <p:cNvGrpSpPr/>
        <p:nvPr/>
      </p:nvGrpSpPr>
      <p:grpSpPr>
        <a:xfrm>
          <a:off x="0" y="0"/>
          <a:ext cx="0" cy="0"/>
          <a:chOff x="0" y="0"/>
          <a:chExt cx="0" cy="0"/>
        </a:xfrm>
      </p:grpSpPr>
      <p:pic>
        <p:nvPicPr>
          <p:cNvPr id="786" name="Google Shape;786;p105"/>
          <p:cNvPicPr preferRelativeResize="0"/>
          <p:nvPr/>
        </p:nvPicPr>
        <p:blipFill rotWithShape="1">
          <a:blip r:embed="rId3">
            <a:alphaModFix/>
          </a:blip>
          <a:srcRect b="0" l="0" r="0" t="0"/>
          <a:stretch/>
        </p:blipFill>
        <p:spPr>
          <a:xfrm>
            <a:off x="5314202" y="201175"/>
            <a:ext cx="3829798" cy="4942324"/>
          </a:xfrm>
          <a:prstGeom prst="rect">
            <a:avLst/>
          </a:prstGeom>
          <a:noFill/>
          <a:ln>
            <a:noFill/>
          </a:ln>
        </p:spPr>
      </p:pic>
      <p:sp>
        <p:nvSpPr>
          <p:cNvPr id="787" name="Google Shape;787;p105"/>
          <p:cNvSpPr txBox="1"/>
          <p:nvPr/>
        </p:nvSpPr>
        <p:spPr>
          <a:xfrm>
            <a:off x="365760" y="201168"/>
            <a:ext cx="8412480" cy="64008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i="0" lang="en" sz="2800" u="none" cap="none" strike="noStrike">
                <a:solidFill>
                  <a:srgbClr val="7ED957"/>
                </a:solidFill>
                <a:latin typeface="Proxima Nova"/>
                <a:ea typeface="Proxima Nova"/>
                <a:cs typeface="Proxima Nova"/>
                <a:sym typeface="Proxima Nova"/>
              </a:rPr>
              <a:t>How It Was Developed</a:t>
            </a:r>
            <a:endParaRPr/>
          </a:p>
        </p:txBody>
      </p:sp>
      <p:sp>
        <p:nvSpPr>
          <p:cNvPr id="788" name="Google Shape;788;p105"/>
          <p:cNvSpPr txBox="1"/>
          <p:nvPr/>
        </p:nvSpPr>
        <p:spPr>
          <a:xfrm>
            <a:off x="365751" y="868675"/>
            <a:ext cx="4859400" cy="286440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None/>
            </a:pPr>
            <a:r>
              <a:rPr b="1" i="0" lang="en" sz="1500" u="none" cap="none" strike="noStrike">
                <a:solidFill>
                  <a:srgbClr val="7ED957"/>
                </a:solidFill>
                <a:latin typeface="Proxima Nova"/>
                <a:ea typeface="Proxima Nova"/>
                <a:cs typeface="Proxima Nova"/>
                <a:sym typeface="Proxima Nova"/>
              </a:rPr>
              <a:t>Salinity pathway (six futures; A Tunnel pending)</a:t>
            </a:r>
            <a:endParaRPr/>
          </a:p>
          <a:p>
            <a:pPr indent="-182880" lvl="0" marL="201168" marR="0" rtl="0" algn="l">
              <a:lnSpc>
                <a:spcPct val="100000"/>
              </a:lnSpc>
              <a:spcBef>
                <a:spcPts val="200"/>
              </a:spcBef>
              <a:spcAft>
                <a:spcPts val="0"/>
              </a:spcAft>
              <a:buClr>
                <a:srgbClr val="000000"/>
              </a:buClr>
              <a:buSzPts val="1200"/>
              <a:buFont typeface="Arial"/>
              <a:buChar char="•"/>
            </a:pPr>
            <a:r>
              <a:rPr b="0" i="0" lang="en" sz="1200" u="none" cap="none" strike="noStrike">
                <a:solidFill>
                  <a:srgbClr val="FFFFFF"/>
                </a:solidFill>
                <a:latin typeface="Proxima Nova"/>
                <a:ea typeface="Proxima Nova"/>
                <a:cs typeface="Proxima Nova"/>
                <a:sym typeface="Proxima Nova"/>
              </a:rPr>
              <a:t>Hydrodynamic salinity (RMA) → crop yield loss → OpenAg → IMPLAN</a:t>
            </a:r>
            <a:endParaRPr/>
          </a:p>
          <a:p>
            <a:pPr indent="-182880" lvl="0" marL="201168" marR="0" rtl="0" algn="l">
              <a:lnSpc>
                <a:spcPct val="100000"/>
              </a:lnSpc>
              <a:spcBef>
                <a:spcPts val="300"/>
              </a:spcBef>
              <a:spcAft>
                <a:spcPts val="0"/>
              </a:spcAft>
              <a:buClr>
                <a:srgbClr val="000000"/>
              </a:buClr>
              <a:buSzPts val="1200"/>
              <a:buFont typeface="Arial"/>
              <a:buChar char="•"/>
            </a:pPr>
            <a:r>
              <a:rPr b="0" i="0" lang="en" sz="1200" u="none" cap="none" strike="noStrike">
                <a:solidFill>
                  <a:srgbClr val="FFFFFF"/>
                </a:solidFill>
                <a:latin typeface="Proxima Nova"/>
                <a:ea typeface="Proxima Nova"/>
                <a:cs typeface="Proxima Nova"/>
                <a:sym typeface="Proxima Nova"/>
              </a:rPr>
              <a:t>Wet year 2019 and dry year 2020</a:t>
            </a:r>
            <a:endParaRPr/>
          </a:p>
          <a:p>
            <a:pPr indent="0" lvl="0" marL="0" marR="0" rtl="0" algn="l">
              <a:lnSpc>
                <a:spcPct val="100000"/>
              </a:lnSpc>
              <a:spcBef>
                <a:spcPts val="300"/>
              </a:spcBef>
              <a:spcAft>
                <a:spcPts val="0"/>
              </a:spcAft>
              <a:buNone/>
            </a:pPr>
            <a:r>
              <a:rPr b="1" i="0" lang="en" sz="1500" u="none" cap="none" strike="noStrike">
                <a:solidFill>
                  <a:srgbClr val="7ED957"/>
                </a:solidFill>
                <a:latin typeface="Proxima Nova"/>
                <a:ea typeface="Proxima Nova"/>
                <a:cs typeface="Proxima Nova"/>
                <a:sym typeface="Proxima Nova"/>
              </a:rPr>
              <a:t>Land-use pathway: New Green Watershed</a:t>
            </a:r>
            <a:endParaRPr/>
          </a:p>
          <a:p>
            <a:pPr indent="-182880" lvl="0" marL="201168" marR="0" rtl="0" algn="l">
              <a:lnSpc>
                <a:spcPct val="100000"/>
              </a:lnSpc>
              <a:spcBef>
                <a:spcPts val="200"/>
              </a:spcBef>
              <a:spcAft>
                <a:spcPts val="0"/>
              </a:spcAft>
              <a:buClr>
                <a:srgbClr val="000000"/>
              </a:buClr>
              <a:buSzPts val="1200"/>
              <a:buFont typeface="Arial"/>
              <a:buChar char="•"/>
            </a:pPr>
            <a:r>
              <a:rPr b="0" i="0" lang="en" sz="1200" u="none" cap="none" strike="noStrike">
                <a:solidFill>
                  <a:srgbClr val="FFFFFF"/>
                </a:solidFill>
                <a:latin typeface="Proxima Nova"/>
                <a:ea typeface="Proxima Nova"/>
                <a:cs typeface="Proxima Nova"/>
                <a:sym typeface="Proxima Nova"/>
              </a:rPr>
              <a:t>DAP crop acreage and revenue, island by island, for three restoration levels (0.25MW, 0.5MW, Full MW) → adjusted baseline → IMPLAN (Cai et al., in prep.)</a:t>
            </a:r>
            <a:endParaRPr/>
          </a:p>
          <a:p>
            <a:pPr indent="0" lvl="0" marL="0" marR="0" rtl="0" algn="l">
              <a:lnSpc>
                <a:spcPct val="100000"/>
              </a:lnSpc>
              <a:spcBef>
                <a:spcPts val="300"/>
              </a:spcBef>
              <a:spcAft>
                <a:spcPts val="0"/>
              </a:spcAft>
              <a:buNone/>
            </a:pPr>
            <a:r>
              <a:rPr b="1" i="0" lang="en" sz="1500" u="none" cap="none" strike="noStrike">
                <a:solidFill>
                  <a:srgbClr val="7ED957"/>
                </a:solidFill>
                <a:latin typeface="Proxima Nova"/>
                <a:ea typeface="Proxima Nova"/>
                <a:cs typeface="Proxima Nova"/>
                <a:sym typeface="Proxima Nova"/>
              </a:rPr>
              <a:t>Land-use pathway: Eco Machine</a:t>
            </a:r>
            <a:endParaRPr/>
          </a:p>
          <a:p>
            <a:pPr indent="-182880" lvl="0" marL="201168" marR="0" rtl="0" algn="l">
              <a:lnSpc>
                <a:spcPct val="100000"/>
              </a:lnSpc>
              <a:spcBef>
                <a:spcPts val="200"/>
              </a:spcBef>
              <a:spcAft>
                <a:spcPts val="0"/>
              </a:spcAft>
              <a:buClr>
                <a:srgbClr val="000000"/>
              </a:buClr>
              <a:buSzPts val="1200"/>
              <a:buFont typeface="Arial"/>
              <a:buChar char="•"/>
            </a:pPr>
            <a:r>
              <a:rPr b="0" i="0" lang="en" sz="1200" u="none" cap="none" strike="noStrike">
                <a:solidFill>
                  <a:srgbClr val="FFFFFF"/>
                </a:solidFill>
                <a:latin typeface="Proxima Nova"/>
                <a:ea typeface="Proxima Nova"/>
                <a:cs typeface="Proxima Nova"/>
                <a:sym typeface="Proxima Nova"/>
              </a:rPr>
              <a:t>Suisun Marsh: CDFW 2021 vegetation survey, DWR 2024 crop mapping and OpenAg revenue per acre</a:t>
            </a:r>
            <a:endParaRPr/>
          </a:p>
          <a:p>
            <a:pPr indent="-182880" lvl="0" marL="201168" marR="0" rtl="0" algn="l">
              <a:lnSpc>
                <a:spcPct val="100000"/>
              </a:lnSpc>
              <a:spcBef>
                <a:spcPts val="300"/>
              </a:spcBef>
              <a:spcAft>
                <a:spcPts val="0"/>
              </a:spcAft>
              <a:buClr>
                <a:srgbClr val="000000"/>
              </a:buClr>
              <a:buSzPts val="1200"/>
              <a:buFont typeface="Arial"/>
              <a:buChar char="•"/>
            </a:pPr>
            <a:r>
              <a:rPr b="0" i="0" lang="en" sz="1200" u="none" cap="none" strike="noStrike">
                <a:solidFill>
                  <a:srgbClr val="FFFFFF"/>
                </a:solidFill>
                <a:latin typeface="Proxima Nova"/>
                <a:ea typeface="Proxima Nova"/>
                <a:cs typeface="Proxima Nova"/>
                <a:sym typeface="Proxima Nova"/>
              </a:rPr>
              <a:t>Franks Tract: Franks Tract Futures 2020 design</a:t>
            </a:r>
            <a:endParaRPr/>
          </a:p>
          <a:p>
            <a:pPr indent="-182880" lvl="0" marL="201168" marR="0" rtl="0" algn="l">
              <a:lnSpc>
                <a:spcPct val="100000"/>
              </a:lnSpc>
              <a:spcBef>
                <a:spcPts val="300"/>
              </a:spcBef>
              <a:spcAft>
                <a:spcPts val="0"/>
              </a:spcAft>
              <a:buClr>
                <a:srgbClr val="000000"/>
              </a:buClr>
              <a:buSzPts val="1200"/>
              <a:buFont typeface="Arial"/>
              <a:buChar char="•"/>
            </a:pPr>
            <a:r>
              <a:rPr b="0" i="0" lang="en" sz="1200" u="none" cap="none" strike="noStrike">
                <a:solidFill>
                  <a:srgbClr val="FFFFFF"/>
                </a:solidFill>
                <a:latin typeface="Proxima Nova"/>
                <a:ea typeface="Proxima Nova"/>
                <a:cs typeface="Proxima Nova"/>
                <a:sym typeface="Proxima Nova"/>
              </a:rPr>
              <a:t>Farm losses scaled with the same IMPLAN ratios; carbon and construction from Deverel et al. (in press)</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792" name="Shape 792"/>
        <p:cNvGrpSpPr/>
        <p:nvPr/>
      </p:nvGrpSpPr>
      <p:grpSpPr>
        <a:xfrm>
          <a:off x="0" y="0"/>
          <a:ext cx="0" cy="0"/>
          <a:chOff x="0" y="0"/>
          <a:chExt cx="0" cy="0"/>
        </a:xfrm>
      </p:grpSpPr>
      <p:sp>
        <p:nvSpPr>
          <p:cNvPr id="793" name="Google Shape;793;p106"/>
          <p:cNvSpPr txBox="1"/>
          <p:nvPr>
            <p:ph type="ctrTitle"/>
          </p:nvPr>
        </p:nvSpPr>
        <p:spPr>
          <a:xfrm>
            <a:off x="256372" y="96949"/>
            <a:ext cx="8520600" cy="3414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100"/>
              <a:buNone/>
            </a:pPr>
            <a:r>
              <a:rPr b="1" lang="en" sz="4056">
                <a:solidFill>
                  <a:srgbClr val="7ED957"/>
                </a:solidFill>
                <a:latin typeface="Proxima Nova"/>
                <a:ea typeface="Proxima Nova"/>
                <a:cs typeface="Proxima Nova"/>
                <a:sym typeface="Proxima Nova"/>
              </a:rPr>
              <a:t>Economy Metrics</a:t>
            </a:r>
            <a:endParaRPr b="1" sz="4056">
              <a:solidFill>
                <a:srgbClr val="7ED957"/>
              </a:solidFill>
              <a:latin typeface="Proxima Nova"/>
              <a:ea typeface="Proxima Nova"/>
              <a:cs typeface="Proxima Nova"/>
              <a:sym typeface="Proxima Nova"/>
            </a:endParaRPr>
          </a:p>
          <a:p>
            <a:pPr indent="0" lvl="0" marL="0" rtl="0" algn="l">
              <a:lnSpc>
                <a:spcPct val="100000"/>
              </a:lnSpc>
              <a:spcBef>
                <a:spcPts val="800"/>
              </a:spcBef>
              <a:spcAft>
                <a:spcPts val="0"/>
              </a:spcAft>
              <a:buSzPts val="1100"/>
              <a:buNone/>
            </a:pPr>
            <a:r>
              <a:t/>
            </a:r>
            <a:endParaRPr sz="2978">
              <a:solidFill>
                <a:schemeClr val="lt1"/>
              </a:solidFill>
              <a:latin typeface="Proxima Nova"/>
              <a:ea typeface="Proxima Nova"/>
              <a:cs typeface="Proxima Nova"/>
              <a:sym typeface="Proxima Nova"/>
            </a:endParaRPr>
          </a:p>
          <a:p>
            <a:pPr indent="0" lvl="0" marL="0" rtl="0" algn="ctr">
              <a:lnSpc>
                <a:spcPct val="100000"/>
              </a:lnSpc>
              <a:spcBef>
                <a:spcPts val="800"/>
              </a:spcBef>
              <a:spcAft>
                <a:spcPts val="0"/>
              </a:spcAft>
              <a:buSzPts val="5200"/>
              <a:buNone/>
            </a:pPr>
            <a:r>
              <a:t/>
            </a:r>
            <a:endParaRPr>
              <a:solidFill>
                <a:srgbClr val="7ED957"/>
              </a:solidFill>
              <a:latin typeface="Hammersmith One"/>
              <a:ea typeface="Hammersmith One"/>
              <a:cs typeface="Hammersmith One"/>
              <a:sym typeface="Hammersmith One"/>
            </a:endParaRPr>
          </a:p>
        </p:txBody>
      </p:sp>
      <p:graphicFrame>
        <p:nvGraphicFramePr>
          <p:cNvPr id="794" name="Google Shape;794;p106"/>
          <p:cNvGraphicFramePr/>
          <p:nvPr/>
        </p:nvGraphicFramePr>
        <p:xfrm>
          <a:off x="342890" y="928404"/>
          <a:ext cx="3000000" cy="3000000"/>
        </p:xfrm>
        <a:graphic>
          <a:graphicData uri="http://schemas.openxmlformats.org/drawingml/2006/table">
            <a:tbl>
              <a:tblPr>
                <a:noFill/>
                <a:tableStyleId>{0CC4AB25-8DFD-4ACA-88D2-885EBE8A8D3D}</a:tableStyleId>
              </a:tblPr>
              <a:tblGrid>
                <a:gridCol w="1198700"/>
                <a:gridCol w="3432275"/>
                <a:gridCol w="3827225"/>
              </a:tblGrid>
              <a:tr h="524300">
                <a:tc>
                  <a:txBody>
                    <a:bodyPr/>
                    <a:lstStyle/>
                    <a:p>
                      <a:pPr indent="0" lvl="0" marL="0" marR="0" rtl="0" algn="l">
                        <a:lnSpc>
                          <a:spcPct val="100000"/>
                        </a:lnSpc>
                        <a:spcBef>
                          <a:spcPts val="0"/>
                        </a:spcBef>
                        <a:spcAft>
                          <a:spcPts val="0"/>
                        </a:spcAft>
                        <a:buClr>
                          <a:schemeClr val="dk1"/>
                        </a:buClr>
                        <a:buSzPts val="2800"/>
                        <a:buFont typeface="Arial"/>
                        <a:buNone/>
                      </a:pPr>
                      <a:r>
                        <a:rPr b="1" lang="en" sz="2000" u="none" cap="none" strike="noStrike">
                          <a:solidFill>
                            <a:schemeClr val="lt1"/>
                          </a:solidFill>
                          <a:latin typeface="Proxima Nova"/>
                          <a:ea typeface="Proxima Nova"/>
                          <a:cs typeface="Proxima Nova"/>
                          <a:sym typeface="Proxima Nova"/>
                        </a:rPr>
                        <a:t>Metric</a:t>
                      </a:r>
                      <a:endParaRPr b="1" sz="600" u="none" cap="none" strike="noStrike"/>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b="1" lang="en" sz="2000" u="none" cap="none" strike="noStrike">
                          <a:solidFill>
                            <a:schemeClr val="lt1"/>
                          </a:solidFill>
                          <a:latin typeface="Proxima Nova"/>
                          <a:ea typeface="Proxima Nova"/>
                          <a:cs typeface="Proxima Nova"/>
                          <a:sym typeface="Proxima Nova"/>
                        </a:rPr>
                        <a:t>Definition</a:t>
                      </a:r>
                      <a:endParaRPr b="1" sz="2000" u="none" cap="none" strike="noStrike">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b="1" lang="en" sz="2000" u="none" cap="none" strike="noStrike">
                          <a:solidFill>
                            <a:schemeClr val="lt1"/>
                          </a:solidFill>
                          <a:latin typeface="Proxima Nova"/>
                          <a:ea typeface="Proxima Nova"/>
                          <a:cs typeface="Proxima Nova"/>
                          <a:sym typeface="Proxima Nova"/>
                        </a:rPr>
                        <a:t>Measurement</a:t>
                      </a:r>
                      <a:endParaRPr b="1" sz="2000" u="none" cap="none" strike="noStrike">
                        <a:solidFill>
                          <a:schemeClr val="lt1"/>
                        </a:solidFill>
                        <a:latin typeface="Proxima Nova"/>
                        <a:ea typeface="Proxima Nova"/>
                        <a:cs typeface="Proxima Nova"/>
                        <a:sym typeface="Proxima Nova"/>
                      </a:endParaRPr>
                    </a:p>
                  </a:txBody>
                  <a:tcPr marT="91425" marB="91425" marR="91425" marL="91425">
                    <a:lnB cap="flat" cmpd="sng" w="38100">
                      <a:solidFill>
                        <a:srgbClr val="9E9E9E"/>
                      </a:solidFill>
                      <a:prstDash val="solid"/>
                      <a:round/>
                      <a:headEnd len="sm" w="sm" type="none"/>
                      <a:tailEnd len="sm" w="sm" type="none"/>
                    </a:lnB>
                  </a:tcPr>
                </a:tc>
              </a:tr>
              <a:tr h="1343550">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solidFill>
                            <a:schemeClr val="lt1"/>
                          </a:solidFill>
                          <a:latin typeface="Proxima Nova"/>
                          <a:ea typeface="Proxima Nova"/>
                          <a:cs typeface="Proxima Nova"/>
                          <a:sym typeface="Proxima Nova"/>
                        </a:rPr>
                        <a:t>Gross Revenues</a:t>
                      </a:r>
                      <a:endParaRPr sz="100" u="none" cap="none" strike="noStrike">
                        <a:latin typeface="Proxima Nova"/>
                        <a:ea typeface="Proxima Nova"/>
                        <a:cs typeface="Proxima Nova"/>
                        <a:sym typeface="Proxima Nova"/>
                      </a:endParaRPr>
                    </a:p>
                  </a:txBody>
                  <a:tcPr marT="91425" marB="91425" marR="91425" marL="91425">
                    <a:lnT cap="flat" cmpd="sng" w="38100">
                      <a:solidFill>
                        <a:srgbClr val="9E9E9E"/>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1"/>
                          </a:solidFill>
                          <a:latin typeface="Proxima Nova"/>
                          <a:ea typeface="Proxima Nova"/>
                          <a:cs typeface="Proxima Nova"/>
                          <a:sym typeface="Proxima Nova"/>
                        </a:rPr>
                        <a:t>Estimated change in gross value of sales by a sector, e.g. agriculture, the gate value of crops</a:t>
                      </a:r>
                      <a:endParaRPr sz="1400" u="none" cap="none" strike="noStrike">
                        <a:solidFill>
                          <a:schemeClr val="lt1"/>
                        </a:solidFill>
                        <a:latin typeface="Proxima Nova"/>
                        <a:ea typeface="Proxima Nova"/>
                        <a:cs typeface="Proxima Nova"/>
                        <a:sym typeface="Proxima Nova"/>
                      </a:endParaRPr>
                    </a:p>
                  </a:txBody>
                  <a:tcPr marT="91425" marB="91425" marR="91425" marL="91425">
                    <a:lnT cap="flat" cmpd="sng" w="38100">
                      <a:solidFill>
                        <a:srgbClr val="9E9E9E"/>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1"/>
                          </a:solidFill>
                          <a:latin typeface="Proxima Nova"/>
                          <a:ea typeface="Proxima Nova"/>
                          <a:cs typeface="Proxima Nova"/>
                          <a:sym typeface="Proxima Nova"/>
                        </a:rPr>
                        <a:t>US Dollars annualized (2024)</a:t>
                      </a:r>
                      <a:endParaRPr sz="1400" u="none" cap="none" strike="noStrike">
                        <a:solidFill>
                          <a:schemeClr val="lt1"/>
                        </a:solidFill>
                        <a:latin typeface="Proxima Nova"/>
                        <a:ea typeface="Proxima Nova"/>
                        <a:cs typeface="Proxima Nova"/>
                        <a:sym typeface="Proxima Nova"/>
                      </a:endParaRPr>
                    </a:p>
                  </a:txBody>
                  <a:tcPr marT="91425" marB="91425" marR="91425" marL="91425">
                    <a:lnT cap="flat" cmpd="sng" w="38100">
                      <a:solidFill>
                        <a:srgbClr val="9E9E9E"/>
                      </a:solidFill>
                      <a:prstDash val="solid"/>
                      <a:round/>
                      <a:headEnd len="sm" w="sm" type="none"/>
                      <a:tailEnd len="sm" w="sm" type="none"/>
                    </a:lnT>
                  </a:tcPr>
                </a:tc>
              </a:tr>
              <a:tr h="485900">
                <a:tc>
                  <a:txBody>
                    <a:bodyPr/>
                    <a:lstStyle/>
                    <a:p>
                      <a:pPr indent="0" lvl="0" marL="0" marR="0" rtl="0" algn="l">
                        <a:lnSpc>
                          <a:spcPct val="100000"/>
                        </a:lnSpc>
                        <a:spcBef>
                          <a:spcPts val="0"/>
                        </a:spcBef>
                        <a:spcAft>
                          <a:spcPts val="0"/>
                        </a:spcAft>
                        <a:buClr>
                          <a:schemeClr val="dk1"/>
                        </a:buClr>
                        <a:buSzPts val="2800"/>
                        <a:buFont typeface="Arial"/>
                        <a:buNone/>
                      </a:pPr>
                      <a:r>
                        <a:rPr lang="en" sz="1500" u="none" cap="none" strike="noStrike">
                          <a:solidFill>
                            <a:schemeClr val="lt1"/>
                          </a:solidFill>
                          <a:latin typeface="Proxima Nova"/>
                          <a:ea typeface="Proxima Nova"/>
                          <a:cs typeface="Proxima Nova"/>
                          <a:sym typeface="Proxima Nova"/>
                        </a:rPr>
                        <a:t>Jobs</a:t>
                      </a:r>
                      <a:endParaRPr sz="100" u="none" cap="none" strike="noStrike">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1"/>
                          </a:solidFill>
                          <a:latin typeface="Proxima Nova"/>
                          <a:ea typeface="Proxima Nova"/>
                          <a:cs typeface="Proxima Nova"/>
                          <a:sym typeface="Proxima Nova"/>
                        </a:rPr>
                        <a:t>The estimated change in employment over the course of a year by sector</a:t>
                      </a:r>
                      <a:endParaRPr sz="1400" u="none" cap="none" strike="noStrike">
                        <a:solidFill>
                          <a:schemeClr val="lt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1"/>
                          </a:solidFill>
                          <a:latin typeface="Proxima Nova"/>
                          <a:ea typeface="Proxima Nova"/>
                          <a:cs typeface="Proxima Nova"/>
                          <a:sym typeface="Proxima Nova"/>
                        </a:rPr>
                        <a:t>Full and part time jobs for a sector in a year.</a:t>
                      </a:r>
                      <a:endParaRPr sz="1400" u="none" cap="none" strike="noStrike">
                        <a:solidFill>
                          <a:schemeClr val="lt1"/>
                        </a:solidFill>
                        <a:latin typeface="Proxima Nova"/>
                        <a:ea typeface="Proxima Nova"/>
                        <a:cs typeface="Proxima Nova"/>
                        <a:sym typeface="Proxima Nova"/>
                      </a:endParaRPr>
                    </a:p>
                  </a:txBody>
                  <a:tcPr marT="91425" marB="91425" marR="91425" marL="91425"/>
                </a:tc>
              </a:tr>
              <a:tr h="846625">
                <a:tc>
                  <a:txBody>
                    <a:bodyPr/>
                    <a:lstStyle/>
                    <a:p>
                      <a:pPr indent="0" lvl="0" marL="0" marR="0" rtl="0" algn="l">
                        <a:lnSpc>
                          <a:spcPct val="100000"/>
                        </a:lnSpc>
                        <a:spcBef>
                          <a:spcPts val="0"/>
                        </a:spcBef>
                        <a:spcAft>
                          <a:spcPts val="0"/>
                        </a:spcAft>
                        <a:buClr>
                          <a:schemeClr val="dk1"/>
                        </a:buClr>
                        <a:buSzPts val="2800"/>
                        <a:buFont typeface="Arial"/>
                        <a:buNone/>
                      </a:pPr>
                      <a:r>
                        <a:rPr lang="en" sz="1500" u="none" cap="none" strike="noStrike">
                          <a:solidFill>
                            <a:schemeClr val="lt1"/>
                          </a:solidFill>
                          <a:latin typeface="Proxima Nova"/>
                          <a:ea typeface="Proxima Nova"/>
                          <a:cs typeface="Proxima Nova"/>
                          <a:sym typeface="Proxima Nova"/>
                        </a:rPr>
                        <a:t>Value Added </a:t>
                      </a:r>
                      <a:endParaRPr sz="100" u="none" cap="none" strike="noStrike">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1"/>
                          </a:solidFill>
                          <a:latin typeface="Proxima Nova"/>
                          <a:ea typeface="Proxima Nova"/>
                          <a:cs typeface="Proxima Nova"/>
                          <a:sym typeface="Proxima Nova"/>
                        </a:rPr>
                        <a:t>A measure close to Gross Domestic Product given by the difference between Gross Revenues and non-labor business expenses, change.</a:t>
                      </a:r>
                      <a:endParaRPr sz="1400" u="none" cap="none" strike="noStrike">
                        <a:solidFill>
                          <a:schemeClr val="lt1"/>
                        </a:solidFill>
                        <a:latin typeface="Proxima Nova"/>
                        <a:ea typeface="Proxima Nova"/>
                        <a:cs typeface="Proxima Nova"/>
                        <a:sym typeface="Proxima Nova"/>
                      </a:endParaRPr>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 sz="1400" u="none" cap="none" strike="noStrike">
                          <a:solidFill>
                            <a:schemeClr val="lt1"/>
                          </a:solidFill>
                          <a:latin typeface="Proxima Nova"/>
                          <a:ea typeface="Proxima Nova"/>
                          <a:cs typeface="Proxima Nova"/>
                          <a:sym typeface="Proxima Nova"/>
                        </a:rPr>
                        <a:t>US Dollars annualized (2024)</a:t>
                      </a:r>
                      <a:endParaRPr sz="1400" u="none" cap="none" strike="noStrike">
                        <a:solidFill>
                          <a:schemeClr val="lt1"/>
                        </a:solidFill>
                        <a:latin typeface="Proxima Nova"/>
                        <a:ea typeface="Proxima Nova"/>
                        <a:cs typeface="Proxima Nova"/>
                        <a:sym typeface="Proxima Nova"/>
                      </a:endParaRPr>
                    </a:p>
                  </a:txBody>
                  <a:tcPr marT="91425" marB="91425" marR="91425" marL="91425"/>
                </a:tc>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798" name="Shape 798"/>
        <p:cNvGrpSpPr/>
        <p:nvPr/>
      </p:nvGrpSpPr>
      <p:grpSpPr>
        <a:xfrm>
          <a:off x="0" y="0"/>
          <a:ext cx="0" cy="0"/>
          <a:chOff x="0" y="0"/>
          <a:chExt cx="0" cy="0"/>
        </a:xfrm>
      </p:grpSpPr>
      <p:sp>
        <p:nvSpPr>
          <p:cNvPr id="799" name="Google Shape;799;p107"/>
          <p:cNvSpPr txBox="1"/>
          <p:nvPr/>
        </p:nvSpPr>
        <p:spPr>
          <a:xfrm>
            <a:off x="365760" y="201168"/>
            <a:ext cx="8412480" cy="64008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i="0" lang="en" sz="2800" u="none" cap="none" strike="noStrike">
                <a:solidFill>
                  <a:srgbClr val="7ED957"/>
                </a:solidFill>
                <a:latin typeface="Proxima Nova"/>
                <a:ea typeface="Proxima Nova"/>
                <a:cs typeface="Proxima Nova"/>
                <a:sym typeface="Proxima Nova"/>
              </a:rPr>
              <a:t>Delta Sub-regional Zones</a:t>
            </a:r>
            <a:endParaRPr/>
          </a:p>
        </p:txBody>
      </p:sp>
      <p:sp>
        <p:nvSpPr>
          <p:cNvPr id="800" name="Google Shape;800;p107"/>
          <p:cNvSpPr txBox="1"/>
          <p:nvPr/>
        </p:nvSpPr>
        <p:spPr>
          <a:xfrm>
            <a:off x="365760" y="868680"/>
            <a:ext cx="8412480" cy="82296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None/>
            </a:pPr>
            <a:r>
              <a:rPr b="0" i="0" lang="en" sz="1300" u="none" cap="none" strike="noStrike">
                <a:solidFill>
                  <a:srgbClr val="FFFFFF"/>
                </a:solidFill>
                <a:latin typeface="Proxima Nova"/>
                <a:ea typeface="Proxima Nova"/>
                <a:cs typeface="Proxima Nova"/>
                <a:sym typeface="Proxima Nova"/>
              </a:rPr>
              <a:t>Four zones: North, Central and South Delta (water agency boundaries) and West Delta. Suisun Marsh lies outside these zones and enters through the Eco Machine land-use estimate.</a:t>
            </a:r>
            <a:endParaRPr/>
          </a:p>
        </p:txBody>
      </p:sp>
      <p:pic>
        <p:nvPicPr>
          <p:cNvPr descr="image3_new.png" id="801" name="Google Shape;801;p107"/>
          <p:cNvPicPr preferRelativeResize="0"/>
          <p:nvPr/>
        </p:nvPicPr>
        <p:blipFill rotWithShape="1">
          <a:blip r:embed="rId3">
            <a:alphaModFix/>
          </a:blip>
          <a:srcRect b="0" l="0" r="0" t="0"/>
          <a:stretch/>
        </p:blipFill>
        <p:spPr>
          <a:xfrm>
            <a:off x="365750" y="1446775"/>
            <a:ext cx="8412500" cy="3337571"/>
          </a:xfrm>
          <a:prstGeom prst="rect">
            <a:avLst/>
          </a:prstGeom>
          <a:noFill/>
          <a:ln>
            <a:noFill/>
          </a:ln>
        </p:spPr>
      </p:pic>
      <p:sp>
        <p:nvSpPr>
          <p:cNvPr id="802" name="Google Shape;802;p107"/>
          <p:cNvSpPr txBox="1"/>
          <p:nvPr/>
        </p:nvSpPr>
        <p:spPr>
          <a:xfrm>
            <a:off x="365760" y="4816877"/>
            <a:ext cx="8412600" cy="20940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None/>
            </a:pPr>
            <a:r>
              <a:rPr b="0" i="1" lang="en" sz="1000" u="none" cap="none" strike="noStrike">
                <a:solidFill>
                  <a:srgbClr val="B8C7CC"/>
                </a:solidFill>
                <a:latin typeface="Proxima Nova"/>
                <a:ea typeface="Proxima Nova"/>
                <a:cs typeface="Proxima Nova"/>
                <a:sym typeface="Proxima Nova"/>
              </a:rPr>
              <a:t>Change in value added ($) by zone, dry year 2020, salinity pathway. Each panel uses its own color scale.</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806" name="Shape 806"/>
        <p:cNvGrpSpPr/>
        <p:nvPr/>
      </p:nvGrpSpPr>
      <p:grpSpPr>
        <a:xfrm>
          <a:off x="0" y="0"/>
          <a:ext cx="0" cy="0"/>
          <a:chOff x="0" y="0"/>
          <a:chExt cx="0" cy="0"/>
        </a:xfrm>
      </p:grpSpPr>
      <p:sp>
        <p:nvSpPr>
          <p:cNvPr id="807" name="Google Shape;807;p108"/>
          <p:cNvSpPr txBox="1"/>
          <p:nvPr/>
        </p:nvSpPr>
        <p:spPr>
          <a:xfrm>
            <a:off x="365760" y="201168"/>
            <a:ext cx="8412480" cy="64008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i="0" lang="en" sz="2800" u="none" cap="none" strike="noStrike">
                <a:solidFill>
                  <a:srgbClr val="7ED957"/>
                </a:solidFill>
                <a:latin typeface="Proxima Nova"/>
                <a:ea typeface="Proxima Nova"/>
                <a:cs typeface="Proxima Nova"/>
                <a:sym typeface="Proxima Nova"/>
              </a:rPr>
              <a:t>Overall Results</a:t>
            </a:r>
            <a:endParaRPr/>
          </a:p>
        </p:txBody>
      </p:sp>
      <p:sp>
        <p:nvSpPr>
          <p:cNvPr id="808" name="Google Shape;808;p108"/>
          <p:cNvSpPr txBox="1"/>
          <p:nvPr/>
        </p:nvSpPr>
        <p:spPr>
          <a:xfrm>
            <a:off x="365760" y="914400"/>
            <a:ext cx="8412600" cy="384180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None/>
            </a:pPr>
            <a:r>
              <a:rPr b="1" i="0" lang="en" sz="1800" u="none" cap="none" strike="noStrike">
                <a:solidFill>
                  <a:srgbClr val="7ED957"/>
                </a:solidFill>
                <a:latin typeface="Proxima Nova"/>
                <a:ea typeface="Proxima Nova"/>
                <a:cs typeface="Proxima Nova"/>
                <a:sym typeface="Proxima Nova"/>
              </a:rPr>
              <a:t>Salinity barely moves the farm economy. </a:t>
            </a:r>
            <a:r>
              <a:rPr b="0" i="0" lang="en" sz="1800" u="none" cap="none" strike="noStrike">
                <a:solidFill>
                  <a:srgbClr val="FFFFFF"/>
                </a:solidFill>
                <a:latin typeface="Proxima Nova"/>
                <a:ea typeface="Proxima Nova"/>
                <a:cs typeface="Proxima Nova"/>
                <a:sym typeface="Proxima Nova"/>
              </a:rPr>
              <a:t>In every scenario modeled so far (A Tunnel pending), gross revenue changes by less than 0.01% in both the wet and the dry year.</a:t>
            </a:r>
            <a:endParaRPr sz="1700"/>
          </a:p>
          <a:p>
            <a:pPr indent="0" lvl="0" marL="0" marR="0" rtl="0" algn="l">
              <a:lnSpc>
                <a:spcPct val="100000"/>
              </a:lnSpc>
              <a:spcBef>
                <a:spcPts val="1200"/>
              </a:spcBef>
              <a:spcAft>
                <a:spcPts val="0"/>
              </a:spcAft>
              <a:buNone/>
            </a:pPr>
            <a:r>
              <a:rPr b="1" i="0" lang="en" sz="1800" u="none" cap="none" strike="noStrike">
                <a:solidFill>
                  <a:srgbClr val="7ED957"/>
                </a:solidFill>
                <a:latin typeface="Proxima Nova"/>
                <a:ea typeface="Proxima Nova"/>
                <a:cs typeface="Proxima Nova"/>
                <a:sym typeface="Proxima Nova"/>
              </a:rPr>
              <a:t>New Green Watershed is the large effect. </a:t>
            </a:r>
            <a:r>
              <a:rPr b="0" i="0" lang="en" sz="1800" u="none" cap="none" strike="noStrike">
                <a:solidFill>
                  <a:srgbClr val="FFFFFF"/>
                </a:solidFill>
                <a:latin typeface="Proxima Nova"/>
                <a:ea typeface="Proxima Nova"/>
                <a:cs typeface="Proxima Nova"/>
                <a:sym typeface="Proxima Nova"/>
              </a:rPr>
              <a:t>Converting farmland lowers direct farm revenue by $212.7M–$505.6M/yr (19–46%) and total regional revenue by $329.0M–$749.0M/yr.</a:t>
            </a:r>
            <a:endParaRPr sz="1700"/>
          </a:p>
          <a:p>
            <a:pPr indent="0" lvl="0" marL="0" marR="0" rtl="0" algn="l">
              <a:lnSpc>
                <a:spcPct val="100000"/>
              </a:lnSpc>
              <a:spcBef>
                <a:spcPts val="1200"/>
              </a:spcBef>
              <a:spcAft>
                <a:spcPts val="0"/>
              </a:spcAft>
              <a:buNone/>
            </a:pPr>
            <a:r>
              <a:rPr b="1" i="0" lang="en" sz="1800" u="none" cap="none" strike="noStrike">
                <a:solidFill>
                  <a:srgbClr val="7ED957"/>
                </a:solidFill>
                <a:latin typeface="Proxima Nova"/>
                <a:ea typeface="Proxima Nova"/>
                <a:cs typeface="Proxima Nova"/>
                <a:sym typeface="Proxima Nova"/>
              </a:rPr>
              <a:t>Eco Machine takes little farmland. </a:t>
            </a:r>
            <a:r>
              <a:rPr b="0" i="0" lang="en" sz="1800" u="none" cap="none" strike="noStrike">
                <a:solidFill>
                  <a:srgbClr val="FFFFFF"/>
                </a:solidFill>
                <a:latin typeface="Proxima Nova"/>
                <a:ea typeface="Proxima Nova"/>
                <a:cs typeface="Proxima Nova"/>
                <a:sym typeface="Proxima Nova"/>
              </a:rPr>
              <a:t>It converts 14,000–54,000 acres to tidal marsh but loses at most $1.2M/yr of farm revenue; its main cost is construction, about $0.85–1.5 billion.</a:t>
            </a:r>
            <a:endParaRPr sz="1700"/>
          </a:p>
          <a:p>
            <a:pPr indent="0" lvl="0" marL="0" marR="0" rtl="0" algn="l">
              <a:lnSpc>
                <a:spcPct val="100000"/>
              </a:lnSpc>
              <a:spcBef>
                <a:spcPts val="1200"/>
              </a:spcBef>
              <a:spcAft>
                <a:spcPts val="0"/>
              </a:spcAft>
              <a:buNone/>
            </a:pPr>
            <a:r>
              <a:rPr b="1" i="0" lang="en" sz="1800" u="none" cap="none" strike="noStrike">
                <a:solidFill>
                  <a:srgbClr val="7ED957"/>
                </a:solidFill>
                <a:latin typeface="Proxima Nova"/>
                <a:ea typeface="Proxima Nova"/>
                <a:cs typeface="Proxima Nova"/>
                <a:sym typeface="Proxima Nova"/>
              </a:rPr>
              <a:t>Carbon credits offset only a small part. </a:t>
            </a:r>
            <a:r>
              <a:rPr b="0" i="0" lang="en" sz="1800" u="none" cap="none" strike="noStrike">
                <a:solidFill>
                  <a:srgbClr val="FFFFFF"/>
                </a:solidFill>
                <a:latin typeface="Proxima Nova"/>
                <a:ea typeface="Proxima Nova"/>
                <a:cs typeface="Proxima Nova"/>
                <a:sym typeface="Proxima Nova"/>
              </a:rPr>
              <a:t>At $15/tCO2e they cover about 8–11% of New Green Watershed's revenue loss (including Eco Machine), and probably less (see cautions).</a:t>
            </a:r>
            <a:endParaRPr sz="1700"/>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812" name="Shape 812"/>
        <p:cNvGrpSpPr/>
        <p:nvPr/>
      </p:nvGrpSpPr>
      <p:grpSpPr>
        <a:xfrm>
          <a:off x="0" y="0"/>
          <a:ext cx="0" cy="0"/>
          <a:chOff x="0" y="0"/>
          <a:chExt cx="0" cy="0"/>
        </a:xfrm>
      </p:grpSpPr>
      <p:sp>
        <p:nvSpPr>
          <p:cNvPr id="813" name="Google Shape;813;p109"/>
          <p:cNvSpPr txBox="1"/>
          <p:nvPr/>
        </p:nvSpPr>
        <p:spPr>
          <a:xfrm>
            <a:off x="365760" y="201168"/>
            <a:ext cx="8412480" cy="64008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i="0" lang="en" sz="2800" u="none" cap="none" strike="noStrike">
                <a:solidFill>
                  <a:srgbClr val="7ED957"/>
                </a:solidFill>
                <a:latin typeface="Proxima Nova"/>
                <a:ea typeface="Proxima Nova"/>
                <a:cs typeface="Proxima Nova"/>
                <a:sym typeface="Proxima Nova"/>
              </a:rPr>
              <a:t>Salinity Pathway: Gross Revenue</a:t>
            </a:r>
            <a:endParaRPr/>
          </a:p>
        </p:txBody>
      </p:sp>
      <p:pic>
        <p:nvPicPr>
          <p:cNvPr descr="image1_new.png" id="814" name="Google Shape;814;p109"/>
          <p:cNvPicPr preferRelativeResize="0"/>
          <p:nvPr/>
        </p:nvPicPr>
        <p:blipFill rotWithShape="1">
          <a:blip r:embed="rId3">
            <a:alphaModFix/>
          </a:blip>
          <a:srcRect b="0" l="0" r="0" t="0"/>
          <a:stretch/>
        </p:blipFill>
        <p:spPr>
          <a:xfrm>
            <a:off x="365760" y="868680"/>
            <a:ext cx="5124659" cy="3886200"/>
          </a:xfrm>
          <a:prstGeom prst="rect">
            <a:avLst/>
          </a:prstGeom>
          <a:noFill/>
          <a:ln>
            <a:noFill/>
          </a:ln>
        </p:spPr>
      </p:pic>
      <p:sp>
        <p:nvSpPr>
          <p:cNvPr id="815" name="Google Shape;815;p109"/>
          <p:cNvSpPr txBox="1"/>
          <p:nvPr/>
        </p:nvSpPr>
        <p:spPr>
          <a:xfrm>
            <a:off x="5577840" y="1097280"/>
            <a:ext cx="3200400" cy="260550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None/>
            </a:pPr>
            <a:r>
              <a:rPr b="0" i="0" lang="en" sz="1600" u="none" cap="none" strike="noStrike">
                <a:solidFill>
                  <a:srgbClr val="B8C7CC"/>
                </a:solidFill>
                <a:latin typeface="Proxima Nova"/>
                <a:ea typeface="Proxima Nova"/>
                <a:cs typeface="Proxima Nova"/>
                <a:sym typeface="Proxima Nova"/>
              </a:rPr>
              <a:t>Base: $1.107 billion/yr</a:t>
            </a:r>
            <a:endParaRPr sz="1700"/>
          </a:p>
          <a:p>
            <a:pPr indent="-201930" lvl="0" marL="201168" marR="0" rtl="0" algn="l">
              <a:lnSpc>
                <a:spcPct val="100000"/>
              </a:lnSpc>
              <a:spcBef>
                <a:spcPts val="1000"/>
              </a:spcBef>
              <a:spcAft>
                <a:spcPts val="0"/>
              </a:spcAft>
              <a:buClr>
                <a:srgbClr val="000000"/>
              </a:buClr>
              <a:buSzPts val="1600"/>
              <a:buFont typeface="Arial"/>
              <a:buChar char="•"/>
            </a:pPr>
            <a:r>
              <a:rPr b="1" i="0" lang="en" sz="1600" u="none" cap="none" strike="noStrike">
                <a:solidFill>
                  <a:srgbClr val="7ED957"/>
                </a:solidFill>
                <a:latin typeface="Proxima Nova"/>
                <a:ea typeface="Proxima Nova"/>
                <a:cs typeface="Proxima Nova"/>
                <a:sym typeface="Proxima Nova"/>
              </a:rPr>
              <a:t>Largest dry-year loss: </a:t>
            </a:r>
            <a:r>
              <a:rPr b="0" i="0" lang="en" sz="1600" u="none" cap="none" strike="noStrike">
                <a:solidFill>
                  <a:srgbClr val="FFFFFF"/>
                </a:solidFill>
                <a:latin typeface="Proxima Nova"/>
                <a:ea typeface="Proxima Nova"/>
                <a:cs typeface="Proxima Nova"/>
                <a:sym typeface="Proxima Nova"/>
              </a:rPr>
              <a:t>Bolster and Fortify, –$34,000 (–0.003%), mostly Central Delta</a:t>
            </a:r>
            <a:endParaRPr sz="1700"/>
          </a:p>
          <a:p>
            <a:pPr indent="-201930" lvl="0" marL="201168" marR="0" rtl="0" algn="l">
              <a:lnSpc>
                <a:spcPct val="100000"/>
              </a:lnSpc>
              <a:spcBef>
                <a:spcPts val="800"/>
              </a:spcBef>
              <a:spcAft>
                <a:spcPts val="0"/>
              </a:spcAft>
              <a:buClr>
                <a:srgbClr val="000000"/>
              </a:buClr>
              <a:buSzPts val="1600"/>
              <a:buFont typeface="Arial"/>
              <a:buChar char="•"/>
            </a:pPr>
            <a:r>
              <a:rPr b="1" i="0" lang="en" sz="1600" u="none" cap="none" strike="noStrike">
                <a:solidFill>
                  <a:srgbClr val="7ED957"/>
                </a:solidFill>
                <a:latin typeface="Proxima Nova"/>
                <a:ea typeface="Proxima Nova"/>
                <a:cs typeface="Proxima Nova"/>
                <a:sym typeface="Proxima Nova"/>
              </a:rPr>
              <a:t>Calling on Reserves: </a:t>
            </a:r>
            <a:r>
              <a:rPr b="0" i="0" lang="en" sz="1600" u="none" cap="none" strike="noStrike">
                <a:solidFill>
                  <a:srgbClr val="FFFFFF"/>
                </a:solidFill>
                <a:latin typeface="Proxima Nova"/>
                <a:ea typeface="Proxima Nova"/>
                <a:cs typeface="Proxima Nova"/>
                <a:sym typeface="Proxima Nova"/>
              </a:rPr>
              <a:t>about –$1,000 (dry) and +$4,000 (wet)</a:t>
            </a:r>
            <a:endParaRPr sz="1700"/>
          </a:p>
          <a:p>
            <a:pPr indent="-201930" lvl="0" marL="201168" marR="0" rtl="0" algn="l">
              <a:lnSpc>
                <a:spcPct val="100000"/>
              </a:lnSpc>
              <a:spcBef>
                <a:spcPts val="800"/>
              </a:spcBef>
              <a:spcAft>
                <a:spcPts val="0"/>
              </a:spcAft>
              <a:buClr>
                <a:srgbClr val="000000"/>
              </a:buClr>
              <a:buSzPts val="1600"/>
              <a:buFont typeface="Arial"/>
              <a:buChar char="•"/>
            </a:pPr>
            <a:r>
              <a:rPr b="1" i="0" lang="en" sz="1600" u="none" cap="none" strike="noStrike">
                <a:solidFill>
                  <a:srgbClr val="7ED957"/>
                </a:solidFill>
                <a:latin typeface="Proxima Nova"/>
                <a:ea typeface="Proxima Nova"/>
                <a:cs typeface="Proxima Nova"/>
                <a:sym typeface="Proxima Nova"/>
              </a:rPr>
              <a:t>Wet year: </a:t>
            </a:r>
            <a:r>
              <a:rPr b="0" i="0" lang="en" sz="1600" u="none" cap="none" strike="noStrike">
                <a:solidFill>
                  <a:srgbClr val="FFFFFF"/>
                </a:solidFill>
                <a:latin typeface="Proxima Nova"/>
                <a:ea typeface="Proxima Nova"/>
                <a:cs typeface="Proxima Nova"/>
                <a:sym typeface="Proxima Nova"/>
              </a:rPr>
              <a:t>New Green Watershed salinity run +$468,000 (+0.04%)</a:t>
            </a:r>
            <a:endParaRPr sz="1700"/>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819" name="Shape 819"/>
        <p:cNvGrpSpPr/>
        <p:nvPr/>
      </p:nvGrpSpPr>
      <p:grpSpPr>
        <a:xfrm>
          <a:off x="0" y="0"/>
          <a:ext cx="0" cy="0"/>
          <a:chOff x="0" y="0"/>
          <a:chExt cx="0" cy="0"/>
        </a:xfrm>
      </p:grpSpPr>
      <p:sp>
        <p:nvSpPr>
          <p:cNvPr id="820" name="Google Shape;820;p110"/>
          <p:cNvSpPr txBox="1"/>
          <p:nvPr/>
        </p:nvSpPr>
        <p:spPr>
          <a:xfrm>
            <a:off x="365760" y="201168"/>
            <a:ext cx="8412480" cy="64008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i="0" lang="en" sz="2800" u="none" cap="none" strike="noStrike">
                <a:solidFill>
                  <a:srgbClr val="7ED957"/>
                </a:solidFill>
                <a:latin typeface="Proxima Nova"/>
                <a:ea typeface="Proxima Nova"/>
                <a:cs typeface="Proxima Nova"/>
                <a:sym typeface="Proxima Nova"/>
              </a:rPr>
              <a:t>Salinity Pathway: Jobs and Value Added</a:t>
            </a:r>
            <a:endParaRPr/>
          </a:p>
        </p:txBody>
      </p:sp>
      <p:pic>
        <p:nvPicPr>
          <p:cNvPr descr="image6_new.png" id="821" name="Google Shape;821;p110"/>
          <p:cNvPicPr preferRelativeResize="0"/>
          <p:nvPr/>
        </p:nvPicPr>
        <p:blipFill rotWithShape="1">
          <a:blip r:embed="rId3">
            <a:alphaModFix/>
          </a:blip>
          <a:srcRect b="0" l="0" r="0" t="0"/>
          <a:stretch/>
        </p:blipFill>
        <p:spPr>
          <a:xfrm>
            <a:off x="365760" y="822960"/>
            <a:ext cx="3365405" cy="4069080"/>
          </a:xfrm>
          <a:prstGeom prst="rect">
            <a:avLst/>
          </a:prstGeom>
          <a:noFill/>
          <a:ln>
            <a:noFill/>
          </a:ln>
        </p:spPr>
      </p:pic>
      <p:sp>
        <p:nvSpPr>
          <p:cNvPr id="822" name="Google Shape;822;p110"/>
          <p:cNvSpPr txBox="1"/>
          <p:nvPr/>
        </p:nvSpPr>
        <p:spPr>
          <a:xfrm>
            <a:off x="4023360" y="1188720"/>
            <a:ext cx="4755000" cy="2251500"/>
          </a:xfrm>
          <a:prstGeom prst="rect">
            <a:avLst/>
          </a:prstGeom>
          <a:noFill/>
          <a:ln>
            <a:noFill/>
          </a:ln>
        </p:spPr>
        <p:txBody>
          <a:bodyPr anchorCtr="0" anchor="t" bIns="27425" lIns="45700" spcFirstLastPara="1" rIns="45700" wrap="square" tIns="27425">
            <a:spAutoFit/>
          </a:bodyPr>
          <a:lstStyle/>
          <a:p>
            <a:pPr indent="-208280" lvl="0" marL="201168" marR="0" rtl="0" algn="l">
              <a:lnSpc>
                <a:spcPct val="100000"/>
              </a:lnSpc>
              <a:spcBef>
                <a:spcPts val="0"/>
              </a:spcBef>
              <a:spcAft>
                <a:spcPts val="0"/>
              </a:spcAft>
              <a:buClr>
                <a:srgbClr val="000000"/>
              </a:buClr>
              <a:buSzPts val="1800"/>
              <a:buFont typeface="Arial"/>
              <a:buChar char="•"/>
            </a:pPr>
            <a:r>
              <a:rPr b="1" i="0" lang="en" sz="1800" u="none" cap="none" strike="noStrike">
                <a:solidFill>
                  <a:srgbClr val="7ED957"/>
                </a:solidFill>
                <a:latin typeface="Proxima Nova"/>
                <a:ea typeface="Proxima Nova"/>
                <a:cs typeface="Proxima Nova"/>
                <a:sym typeface="Proxima Nova"/>
              </a:rPr>
              <a:t>All changes below 0.01% </a:t>
            </a:r>
            <a:r>
              <a:rPr b="0" i="0" lang="en" sz="1800" u="none" cap="none" strike="noStrike">
                <a:solidFill>
                  <a:srgbClr val="FFFFFF"/>
                </a:solidFill>
                <a:latin typeface="Proxima Nova"/>
                <a:ea typeface="Proxima Nova"/>
                <a:cs typeface="Proxima Nova"/>
                <a:sym typeface="Proxima Nova"/>
              </a:rPr>
              <a:t>of the Delta baseline (11,860 jobs; $1.0 billion value added)</a:t>
            </a:r>
            <a:endParaRPr sz="1800"/>
          </a:p>
          <a:p>
            <a:pPr indent="-208280" lvl="0" marL="201168" marR="0" rtl="0" algn="l">
              <a:lnSpc>
                <a:spcPct val="100000"/>
              </a:lnSpc>
              <a:spcBef>
                <a:spcPts val="1000"/>
              </a:spcBef>
              <a:spcAft>
                <a:spcPts val="0"/>
              </a:spcAft>
              <a:buClr>
                <a:srgbClr val="000000"/>
              </a:buClr>
              <a:buSzPts val="1800"/>
              <a:buFont typeface="Arial"/>
              <a:buChar char="•"/>
            </a:pPr>
            <a:r>
              <a:rPr b="1" i="0" lang="en" sz="1800" u="none" cap="none" strike="noStrike">
                <a:solidFill>
                  <a:srgbClr val="7ED957"/>
                </a:solidFill>
                <a:latin typeface="Proxima Nova"/>
                <a:ea typeface="Proxima Nova"/>
                <a:cs typeface="Proxima Nova"/>
                <a:sym typeface="Proxima Nova"/>
              </a:rPr>
              <a:t>Largest job change: </a:t>
            </a:r>
            <a:r>
              <a:rPr b="0" i="0" lang="en" sz="1800" u="none" cap="none" strike="noStrike">
                <a:solidFill>
                  <a:srgbClr val="FFFFFF"/>
                </a:solidFill>
                <a:latin typeface="Proxima Nova"/>
                <a:ea typeface="Proxima Nova"/>
                <a:cs typeface="Proxima Nova"/>
                <a:sym typeface="Proxima Nova"/>
              </a:rPr>
              <a:t>+0.13 jobs (Eco Machine, dry year)</a:t>
            </a:r>
            <a:endParaRPr sz="1800"/>
          </a:p>
          <a:p>
            <a:pPr indent="-208280" lvl="0" marL="201168" marR="0" rtl="0" algn="l">
              <a:lnSpc>
                <a:spcPct val="100000"/>
              </a:lnSpc>
              <a:spcBef>
                <a:spcPts val="1000"/>
              </a:spcBef>
              <a:spcAft>
                <a:spcPts val="0"/>
              </a:spcAft>
              <a:buClr>
                <a:srgbClr val="000000"/>
              </a:buClr>
              <a:buSzPts val="1800"/>
              <a:buFont typeface="Arial"/>
              <a:buChar char="•"/>
            </a:pPr>
            <a:r>
              <a:rPr b="1" i="0" lang="en" sz="1800" u="none" cap="none" strike="noStrike">
                <a:solidFill>
                  <a:srgbClr val="7ED957"/>
                </a:solidFill>
                <a:latin typeface="Proxima Nova"/>
                <a:ea typeface="Proxima Nova"/>
                <a:cs typeface="Proxima Nova"/>
                <a:sym typeface="Proxima Nova"/>
              </a:rPr>
              <a:t>Largest value-added loss: </a:t>
            </a:r>
            <a:r>
              <a:rPr b="0" i="0" lang="en" sz="1800" u="none" cap="none" strike="noStrike">
                <a:solidFill>
                  <a:srgbClr val="FFFFFF"/>
                </a:solidFill>
                <a:latin typeface="Proxima Nova"/>
                <a:ea typeface="Proxima Nova"/>
                <a:cs typeface="Proxima Nova"/>
                <a:sym typeface="Proxima Nova"/>
              </a:rPr>
              <a:t>–$9,500 (Bolster and Fortify, dry year)</a:t>
            </a:r>
            <a:endParaRPr sz="1800"/>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826" name="Shape 826"/>
        <p:cNvGrpSpPr/>
        <p:nvPr/>
      </p:nvGrpSpPr>
      <p:grpSpPr>
        <a:xfrm>
          <a:off x="0" y="0"/>
          <a:ext cx="0" cy="0"/>
          <a:chOff x="0" y="0"/>
          <a:chExt cx="0" cy="0"/>
        </a:xfrm>
      </p:grpSpPr>
      <p:sp>
        <p:nvSpPr>
          <p:cNvPr id="827" name="Google Shape;827;p111"/>
          <p:cNvSpPr txBox="1"/>
          <p:nvPr/>
        </p:nvSpPr>
        <p:spPr>
          <a:xfrm>
            <a:off x="365760" y="201168"/>
            <a:ext cx="8412480" cy="64008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i="0" lang="en" sz="2800" u="none" cap="none" strike="noStrike">
                <a:solidFill>
                  <a:srgbClr val="7ED957"/>
                </a:solidFill>
                <a:latin typeface="Proxima Nova"/>
                <a:ea typeface="Proxima Nova"/>
                <a:cs typeface="Proxima Nova"/>
                <a:sym typeface="Proxima Nova"/>
              </a:rPr>
              <a:t>New Green Watershed: Land Conversion</a:t>
            </a:r>
            <a:endParaRPr/>
          </a:p>
        </p:txBody>
      </p:sp>
      <p:graphicFrame>
        <p:nvGraphicFramePr>
          <p:cNvPr id="828" name="Google Shape;828;p111"/>
          <p:cNvGraphicFramePr/>
          <p:nvPr/>
        </p:nvGraphicFramePr>
        <p:xfrm>
          <a:off x="365760" y="914400"/>
          <a:ext cx="3000000" cy="3000000"/>
        </p:xfrm>
        <a:graphic>
          <a:graphicData uri="http://schemas.openxmlformats.org/drawingml/2006/table">
            <a:tbl>
              <a:tblPr>
                <a:noFill/>
                <a:tableStyleId>{0CC4AB25-8DFD-4ACA-88D2-885EBE8A8D3D}</a:tableStyleId>
              </a:tblPr>
              <a:tblGrid>
                <a:gridCol w="1280150"/>
                <a:gridCol w="1325875"/>
                <a:gridCol w="1097275"/>
                <a:gridCol w="1600200"/>
                <a:gridCol w="1737350"/>
                <a:gridCol w="1371600"/>
              </a:tblGrid>
              <a:tr h="384050">
                <a:tc>
                  <a:txBody>
                    <a:bodyPr/>
                    <a:lstStyle/>
                    <a:p>
                      <a:pPr indent="0" lvl="0" marL="0" marR="0" rtl="0" algn="l">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Restoration level</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Managed wetland (ac)</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Rice (ac)</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Direct revenue change</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Total revenue change (IMPLAN)</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Total jobs change</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r>
              <a:tr h="384050">
                <a:tc>
                  <a:txBody>
                    <a:bodyPr/>
                    <a:lstStyle/>
                    <a:p>
                      <a:pPr indent="0" lvl="0" marL="0" marR="0" rtl="0" algn="l">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Full MW</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207,004</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0</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–$504.5M (-45.6%)</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–$747.3M (-45.8%)</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-5,125 (-43.4%)</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384050">
                <a:tc>
                  <a:txBody>
                    <a:bodyPr/>
                    <a:lstStyle/>
                    <a:p>
                      <a:pPr indent="0" lvl="0" marL="0" marR="0" rtl="0" algn="l">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0.5MW</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85,523</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121,500</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–$282.5M (-25.5%)</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–$429.2M (-26.3%)</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-4,121 (-34.9%)</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r h="384050">
                <a:tc>
                  <a:txBody>
                    <a:bodyPr/>
                    <a:lstStyle/>
                    <a:p>
                      <a:pPr indent="0" lvl="0" marL="0" marR="0" rtl="0" algn="l">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0.25MW</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48,213</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156,700</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–$212.4M (-19.2%)</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–$328.6M (-20.1%)</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-3,783 (-32.0%)</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bl>
          </a:graphicData>
        </a:graphic>
      </p:graphicFrame>
      <p:sp>
        <p:nvSpPr>
          <p:cNvPr id="829" name="Google Shape;829;p111"/>
          <p:cNvSpPr txBox="1"/>
          <p:nvPr/>
        </p:nvSpPr>
        <p:spPr>
          <a:xfrm>
            <a:off x="365760" y="2606040"/>
            <a:ext cx="8412480" cy="2194560"/>
          </a:xfrm>
          <a:prstGeom prst="rect">
            <a:avLst/>
          </a:prstGeom>
          <a:noFill/>
          <a:ln>
            <a:noFill/>
          </a:ln>
        </p:spPr>
        <p:txBody>
          <a:bodyPr anchorCtr="0" anchor="t" bIns="27425" lIns="45700" spcFirstLastPara="1" rIns="45700" wrap="square" tIns="27425">
            <a:spAutoFit/>
          </a:bodyPr>
          <a:lstStyle/>
          <a:p>
            <a:pPr indent="-182880" lvl="0" marL="201168" marR="0" rtl="0" algn="l">
              <a:lnSpc>
                <a:spcPct val="100000"/>
              </a:lnSpc>
              <a:spcBef>
                <a:spcPts val="0"/>
              </a:spcBef>
              <a:spcAft>
                <a:spcPts val="0"/>
              </a:spcAft>
              <a:buClr>
                <a:srgbClr val="000000"/>
              </a:buClr>
              <a:buSzPts val="1300"/>
              <a:buFont typeface="Arial"/>
              <a:buChar char="•"/>
            </a:pPr>
            <a:r>
              <a:rPr b="1" i="0" lang="en" sz="1300" u="none" cap="none" strike="noStrike">
                <a:solidFill>
                  <a:srgbClr val="7ED957"/>
                </a:solidFill>
                <a:latin typeface="Proxima Nova"/>
                <a:ea typeface="Proxima Nova"/>
                <a:cs typeface="Proxima Nova"/>
                <a:sym typeface="Proxima Nova"/>
              </a:rPr>
              <a:t>Where: </a:t>
            </a:r>
            <a:r>
              <a:rPr b="0" i="0" lang="en" sz="1300" u="none" cap="none" strike="noStrike">
                <a:solidFill>
                  <a:srgbClr val="FFFFFF"/>
                </a:solidFill>
                <a:latin typeface="Proxima Nova"/>
                <a:ea typeface="Proxima Nova"/>
                <a:cs typeface="Proxima Nova"/>
                <a:sym typeface="Proxima Nova"/>
              </a:rPr>
              <a:t>at Full MW, total revenue falls most in the West (–65%) and Central Delta (–64%), less in the North (–42%) and South (–33%).</a:t>
            </a:r>
            <a:endParaRPr/>
          </a:p>
          <a:p>
            <a:pPr indent="-182880" lvl="0" marL="201168" marR="0" rtl="0" algn="l">
              <a:lnSpc>
                <a:spcPct val="100000"/>
              </a:lnSpc>
              <a:spcBef>
                <a:spcPts val="800"/>
              </a:spcBef>
              <a:spcAft>
                <a:spcPts val="0"/>
              </a:spcAft>
              <a:buClr>
                <a:srgbClr val="000000"/>
              </a:buClr>
              <a:buSzPts val="1300"/>
              <a:buFont typeface="Arial"/>
              <a:buChar char="•"/>
            </a:pPr>
            <a:r>
              <a:rPr b="1" i="0" lang="en" sz="1300" u="none" cap="none" strike="noStrike">
                <a:solidFill>
                  <a:srgbClr val="7ED957"/>
                </a:solidFill>
                <a:latin typeface="Proxima Nova"/>
                <a:ea typeface="Proxima Nova"/>
                <a:cs typeface="Proxima Nova"/>
                <a:sym typeface="Proxima Nova"/>
              </a:rPr>
              <a:t>Rice islands keep some revenue: </a:t>
            </a:r>
            <a:r>
              <a:rPr b="0" i="0" lang="en" sz="1300" u="none" cap="none" strike="noStrike">
                <a:solidFill>
                  <a:srgbClr val="FFFFFF"/>
                </a:solidFill>
                <a:latin typeface="Proxima Nova"/>
                <a:ea typeface="Proxima Nova"/>
                <a:cs typeface="Proxima Nova"/>
                <a:sym typeface="Proxima Nova"/>
              </a:rPr>
              <a:t>rice earns about $1,827/ac gross, so 0.25MW and 0.5MW lose less than Full MW.</a:t>
            </a:r>
            <a:endParaRPr/>
          </a:p>
          <a:p>
            <a:pPr indent="-182880" lvl="0" marL="201168" marR="0" rtl="0" algn="l">
              <a:lnSpc>
                <a:spcPct val="100000"/>
              </a:lnSpc>
              <a:spcBef>
                <a:spcPts val="800"/>
              </a:spcBef>
              <a:spcAft>
                <a:spcPts val="0"/>
              </a:spcAft>
              <a:buClr>
                <a:srgbClr val="000000"/>
              </a:buClr>
              <a:buSzPts val="1300"/>
              <a:buFont typeface="Arial"/>
              <a:buChar char="•"/>
            </a:pPr>
            <a:r>
              <a:rPr b="1" i="0" lang="en" sz="1300" u="none" cap="none" strike="noStrike">
                <a:solidFill>
                  <a:srgbClr val="7ED957"/>
                </a:solidFill>
                <a:latin typeface="Proxima Nova"/>
                <a:ea typeface="Proxima Nova"/>
                <a:cs typeface="Proxima Nova"/>
                <a:sym typeface="Proxima Nova"/>
              </a:rPr>
              <a:t>Including Eco Machine </a:t>
            </a:r>
            <a:r>
              <a:rPr b="0" i="0" lang="en" sz="1300" u="none" cap="none" strike="noStrike">
                <a:solidFill>
                  <a:srgbClr val="FFFFFF"/>
                </a:solidFill>
                <a:latin typeface="Proxima Nova"/>
                <a:ea typeface="Proxima Nova"/>
                <a:cs typeface="Proxima Nova"/>
                <a:sym typeface="Proxima Nova"/>
              </a:rPr>
              <a:t>adds only $0.3M–$1.2M/yr to the direct loss; the percentages do not change.</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833" name="Shape 833"/>
        <p:cNvGrpSpPr/>
        <p:nvPr/>
      </p:nvGrpSpPr>
      <p:grpSpPr>
        <a:xfrm>
          <a:off x="0" y="0"/>
          <a:ext cx="0" cy="0"/>
          <a:chOff x="0" y="0"/>
          <a:chExt cx="0" cy="0"/>
        </a:xfrm>
      </p:grpSpPr>
      <p:sp>
        <p:nvSpPr>
          <p:cNvPr id="834" name="Google Shape;834;p112"/>
          <p:cNvSpPr txBox="1"/>
          <p:nvPr/>
        </p:nvSpPr>
        <p:spPr>
          <a:xfrm>
            <a:off x="365760" y="201168"/>
            <a:ext cx="8412480" cy="64008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i="0" lang="en" sz="2800" u="none" cap="none" strike="noStrike">
                <a:solidFill>
                  <a:srgbClr val="7ED957"/>
                </a:solidFill>
                <a:latin typeface="Proxima Nova"/>
                <a:ea typeface="Proxima Nova"/>
                <a:cs typeface="Proxima Nova"/>
                <a:sym typeface="Proxima Nova"/>
              </a:rPr>
              <a:t>Carbon Offsets at $15/tCO2e</a:t>
            </a:r>
            <a:endParaRPr/>
          </a:p>
        </p:txBody>
      </p:sp>
      <p:pic>
        <p:nvPicPr>
          <p:cNvPr id="835" name="Google Shape;835;p112"/>
          <p:cNvPicPr preferRelativeResize="0"/>
          <p:nvPr/>
        </p:nvPicPr>
        <p:blipFill rotWithShape="1">
          <a:blip r:embed="rId3">
            <a:alphaModFix/>
          </a:blip>
          <a:srcRect b="0" l="0" r="0" t="0"/>
          <a:stretch/>
        </p:blipFill>
        <p:spPr>
          <a:xfrm>
            <a:off x="274320" y="868680"/>
            <a:ext cx="4937760" cy="4023360"/>
          </a:xfrm>
          <a:prstGeom prst="rect">
            <a:avLst/>
          </a:prstGeom>
          <a:noFill/>
          <a:ln>
            <a:noFill/>
          </a:ln>
        </p:spPr>
      </p:pic>
      <p:sp>
        <p:nvSpPr>
          <p:cNvPr id="836" name="Google Shape;836;p112"/>
          <p:cNvSpPr txBox="1"/>
          <p:nvPr/>
        </p:nvSpPr>
        <p:spPr>
          <a:xfrm>
            <a:off x="5349240" y="868680"/>
            <a:ext cx="3520500" cy="279780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None/>
            </a:pPr>
            <a:r>
              <a:rPr b="0" i="0" lang="en" sz="1200" u="none" cap="none" strike="noStrike">
                <a:solidFill>
                  <a:srgbClr val="FFFFFF"/>
                </a:solidFill>
                <a:latin typeface="Proxima Nova"/>
                <a:ea typeface="Proxima Nova"/>
                <a:cs typeface="Proxima Nova"/>
                <a:sym typeface="Proxima Nova"/>
              </a:rPr>
              <a:t>Headline: $21.5M–$34.2M/yr, about 7–10% of the loss (Delta-wide part; Eco Machine adds $1.6M–$5.9M/yr).</a:t>
            </a:r>
            <a:endParaRPr/>
          </a:p>
          <a:p>
            <a:pPr indent="0" lvl="0" marL="0" marR="0" rtl="0" algn="l">
              <a:lnSpc>
                <a:spcPct val="100000"/>
              </a:lnSpc>
              <a:spcBef>
                <a:spcPts val="800"/>
              </a:spcBef>
              <a:spcAft>
                <a:spcPts val="0"/>
              </a:spcAft>
              <a:buNone/>
            </a:pPr>
            <a:r>
              <a:rPr b="1" i="0" lang="en" sz="1300" u="none" cap="none" strike="noStrike">
                <a:solidFill>
                  <a:srgbClr val="7ED957"/>
                </a:solidFill>
                <a:latin typeface="Proxima Nova"/>
                <a:ea typeface="Proxima Nova"/>
                <a:cs typeface="Proxima Nova"/>
                <a:sym typeface="Proxima Nova"/>
              </a:rPr>
              <a:t>Cautions</a:t>
            </a:r>
            <a:endParaRPr/>
          </a:p>
          <a:p>
            <a:pPr indent="-182880" lvl="0" marL="201168" marR="0" rtl="0" algn="l">
              <a:lnSpc>
                <a:spcPct val="100000"/>
              </a:lnSpc>
              <a:spcBef>
                <a:spcPts val="300"/>
              </a:spcBef>
              <a:spcAft>
                <a:spcPts val="0"/>
              </a:spcAft>
              <a:buClr>
                <a:schemeClr val="lt1"/>
              </a:buClr>
              <a:buSzPts val="1100"/>
              <a:buFont typeface="Arial"/>
              <a:buChar char="•"/>
            </a:pPr>
            <a:r>
              <a:rPr b="0" i="0" lang="en" sz="1100" u="none" cap="none" strike="noStrike">
                <a:solidFill>
                  <a:schemeClr val="lt1"/>
                </a:solidFill>
                <a:latin typeface="Proxima Nova"/>
                <a:ea typeface="Proxima Nova"/>
                <a:cs typeface="Proxima Nova"/>
                <a:sym typeface="Proxima Nova"/>
              </a:rPr>
              <a:t>Rates come from four deeply subsided islands owned by MWD (Deverel et al., in press)</a:t>
            </a:r>
            <a:endParaRPr>
              <a:solidFill>
                <a:schemeClr val="lt1"/>
              </a:solidFill>
            </a:endParaRPr>
          </a:p>
          <a:p>
            <a:pPr indent="-182880" lvl="0" marL="201168" marR="0" rtl="0" algn="l">
              <a:lnSpc>
                <a:spcPct val="100000"/>
              </a:lnSpc>
              <a:spcBef>
                <a:spcPts val="400"/>
              </a:spcBef>
              <a:spcAft>
                <a:spcPts val="0"/>
              </a:spcAft>
              <a:buClr>
                <a:schemeClr val="lt1"/>
              </a:buClr>
              <a:buSzPts val="1100"/>
              <a:buFont typeface="Arial"/>
              <a:buChar char="•"/>
            </a:pPr>
            <a:r>
              <a:rPr b="0" i="0" lang="en" sz="1100" u="none" cap="none" strike="noStrike">
                <a:solidFill>
                  <a:schemeClr val="lt1"/>
                </a:solidFill>
                <a:latin typeface="Proxima Nova"/>
                <a:ea typeface="Proxima Nova"/>
                <a:cs typeface="Proxima Nova"/>
                <a:sym typeface="Proxima Nova"/>
              </a:rPr>
              <a:t>65% of Full MW wetland acres are on minimally subsided, likely mineral soils: carbon could be 57–65% lower</a:t>
            </a:r>
            <a:endParaRPr>
              <a:solidFill>
                <a:schemeClr val="lt1"/>
              </a:solidFill>
            </a:endParaRPr>
          </a:p>
          <a:p>
            <a:pPr indent="-182880" lvl="0" marL="201168" marR="0" rtl="0" algn="l">
              <a:lnSpc>
                <a:spcPct val="100000"/>
              </a:lnSpc>
              <a:spcBef>
                <a:spcPts val="400"/>
              </a:spcBef>
              <a:spcAft>
                <a:spcPts val="0"/>
              </a:spcAft>
              <a:buClr>
                <a:schemeClr val="lt1"/>
              </a:buClr>
              <a:buSzPts val="1100"/>
              <a:buFont typeface="Arial"/>
              <a:buChar char="•"/>
            </a:pPr>
            <a:r>
              <a:rPr b="0" i="0" lang="en" sz="1100" u="none" cap="none" strike="noStrike">
                <a:solidFill>
                  <a:schemeClr val="lt1"/>
                </a:solidFill>
                <a:latin typeface="Proxima Nova"/>
                <a:ea typeface="Proxima Nova"/>
                <a:cs typeface="Proxima Nova"/>
                <a:sym typeface="Proxima Nova"/>
              </a:rPr>
              <a:t>Corn assumed as the baseline crop on every acre; 10% uncertainty deduction and verification costs not subtracted</a:t>
            </a:r>
            <a:endParaRPr>
              <a:solidFill>
                <a:schemeClr val="lt1"/>
              </a:solidFill>
            </a:endParaRPr>
          </a:p>
          <a:p>
            <a:pPr indent="-182880" lvl="0" marL="201168" marR="0" rtl="0" algn="l">
              <a:lnSpc>
                <a:spcPct val="100000"/>
              </a:lnSpc>
              <a:spcBef>
                <a:spcPts val="400"/>
              </a:spcBef>
              <a:spcAft>
                <a:spcPts val="0"/>
              </a:spcAft>
              <a:buClr>
                <a:schemeClr val="lt1"/>
              </a:buClr>
              <a:buSzPts val="1100"/>
              <a:buFont typeface="Arial"/>
              <a:buChar char="•"/>
            </a:pPr>
            <a:r>
              <a:rPr b="0" i="0" lang="en" sz="1100" u="none" cap="none" strike="noStrike">
                <a:solidFill>
                  <a:schemeClr val="lt1"/>
                </a:solidFill>
                <a:latin typeface="Proxima Nova"/>
                <a:ea typeface="Proxima Nova"/>
                <a:cs typeface="Proxima Nova"/>
                <a:sym typeface="Proxima Nova"/>
              </a:rPr>
              <a:t>$30/tCO2e (not in writing) would double the headline</a:t>
            </a:r>
            <a:endParaRPr>
              <a:solidFill>
                <a:schemeClr val="lt1"/>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840" name="Shape 840"/>
        <p:cNvGrpSpPr/>
        <p:nvPr/>
      </p:nvGrpSpPr>
      <p:grpSpPr>
        <a:xfrm>
          <a:off x="0" y="0"/>
          <a:ext cx="0" cy="0"/>
          <a:chOff x="0" y="0"/>
          <a:chExt cx="0" cy="0"/>
        </a:xfrm>
      </p:grpSpPr>
      <p:sp>
        <p:nvSpPr>
          <p:cNvPr id="841" name="Google Shape;841;p113"/>
          <p:cNvSpPr txBox="1"/>
          <p:nvPr/>
        </p:nvSpPr>
        <p:spPr>
          <a:xfrm>
            <a:off x="365760" y="201168"/>
            <a:ext cx="8412480" cy="64008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i="0" lang="en" sz="2800" u="none" cap="none" strike="noStrike">
                <a:solidFill>
                  <a:srgbClr val="7ED957"/>
                </a:solidFill>
                <a:latin typeface="Proxima Nova"/>
                <a:ea typeface="Proxima Nova"/>
                <a:cs typeface="Proxima Nova"/>
                <a:sym typeface="Proxima Nova"/>
              </a:rPr>
              <a:t>Eco Machine: Suisun + Franks Tract</a:t>
            </a:r>
            <a:endParaRPr/>
          </a:p>
        </p:txBody>
      </p:sp>
      <p:graphicFrame>
        <p:nvGraphicFramePr>
          <p:cNvPr id="842" name="Google Shape;842;p113"/>
          <p:cNvGraphicFramePr/>
          <p:nvPr/>
        </p:nvGraphicFramePr>
        <p:xfrm>
          <a:off x="365760" y="868680"/>
          <a:ext cx="3000000" cy="3000000"/>
        </p:xfrm>
        <a:graphic>
          <a:graphicData uri="http://schemas.openxmlformats.org/drawingml/2006/table">
            <a:tbl>
              <a:tblPr>
                <a:noFill/>
                <a:tableStyleId>{0CC4AB25-8DFD-4ACA-88D2-885EBE8A8D3D}</a:tableStyleId>
              </a:tblPr>
              <a:tblGrid>
                <a:gridCol w="1005850"/>
                <a:gridCol w="1051550"/>
                <a:gridCol w="1051550"/>
                <a:gridCol w="914400"/>
                <a:gridCol w="1097275"/>
              </a:tblGrid>
              <a:tr h="347475">
                <a:tc>
                  <a:txBody>
                    <a:bodyPr/>
                    <a:lstStyle/>
                    <a:p>
                      <a:pPr indent="0" lvl="0" marL="0" marR="0" rtl="0" algn="l">
                        <a:lnSpc>
                          <a:spcPct val="100000"/>
                        </a:lnSpc>
                        <a:spcBef>
                          <a:spcPts val="0"/>
                        </a:spcBef>
                        <a:spcAft>
                          <a:spcPts val="0"/>
                        </a:spcAft>
                        <a:buNone/>
                      </a:pPr>
                      <a:r>
                        <a:rPr b="1" i="0" lang="en" sz="1000" u="none" cap="none" strike="noStrike">
                          <a:solidFill>
                            <a:srgbClr val="7ED957"/>
                          </a:solidFill>
                          <a:latin typeface="Proxima Nova"/>
                          <a:ea typeface="Proxima Nova"/>
                          <a:cs typeface="Proxima Nova"/>
                          <a:sym typeface="Proxima Nova"/>
                        </a:rPr>
                        <a:t>Suisun land restored</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000" u="none" cap="none" strike="noStrike">
                          <a:solidFill>
                            <a:srgbClr val="7ED957"/>
                          </a:solidFill>
                          <a:latin typeface="Proxima Nova"/>
                          <a:ea typeface="Proxima Nova"/>
                          <a:cs typeface="Proxima Nova"/>
                          <a:sym typeface="Proxima Nova"/>
                        </a:rPr>
                        <a:t>Acres to tidal marsh*</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000" u="none" cap="none" strike="noStrike">
                          <a:solidFill>
                            <a:srgbClr val="7ED957"/>
                          </a:solidFill>
                          <a:latin typeface="Proxima Nova"/>
                          <a:ea typeface="Proxima Nova"/>
                          <a:cs typeface="Proxima Nova"/>
                          <a:sym typeface="Proxima Nova"/>
                        </a:rPr>
                        <a:t>Farm revenue lost</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000" u="none" cap="none" strike="noStrike">
                          <a:solidFill>
                            <a:srgbClr val="7ED957"/>
                          </a:solidFill>
                          <a:latin typeface="Proxima Nova"/>
                          <a:ea typeface="Proxima Nova"/>
                          <a:cs typeface="Proxima Nova"/>
                          <a:sym typeface="Proxima Nova"/>
                        </a:rPr>
                        <a:t>Carbon ($15/t)</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000" u="none" cap="none" strike="noStrike">
                          <a:solidFill>
                            <a:srgbClr val="7ED957"/>
                          </a:solidFill>
                          <a:latin typeface="Proxima Nova"/>
                          <a:ea typeface="Proxima Nova"/>
                          <a:cs typeface="Proxima Nova"/>
                          <a:sym typeface="Proxima Nova"/>
                        </a:rPr>
                        <a:t>Construction (one-time)</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r>
              <a:tr h="347475">
                <a:tc>
                  <a:txBody>
                    <a:bodyPr/>
                    <a:lstStyle/>
                    <a:p>
                      <a:pPr indent="0" lvl="0" marL="0" marR="0" rtl="0" algn="l">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25%</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14,431</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–$0.29M/yr</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$1.6M/yr</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$855M</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347475">
                <a:tc>
                  <a:txBody>
                    <a:bodyPr/>
                    <a:lstStyle/>
                    <a:p>
                      <a:pPr indent="0" lvl="0" marL="0" marR="0" rtl="0" algn="l">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50%</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27,492</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–$0.58M/yr</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$3.0M/yr</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$1,076M</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r h="347475">
                <a:tc>
                  <a:txBody>
                    <a:bodyPr/>
                    <a:lstStyle/>
                    <a:p>
                      <a:pPr indent="0" lvl="0" marL="0" marR="0" rtl="0" algn="l">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100%</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53,614</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–$1.15M/yr</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$5.9M/yr</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$1,519M</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bl>
          </a:graphicData>
        </a:graphic>
      </p:graphicFrame>
      <p:sp>
        <p:nvSpPr>
          <p:cNvPr id="843" name="Google Shape;843;p113"/>
          <p:cNvSpPr txBox="1"/>
          <p:nvPr/>
        </p:nvSpPr>
        <p:spPr>
          <a:xfrm>
            <a:off x="365760" y="2331720"/>
            <a:ext cx="5120640" cy="256032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None/>
            </a:pPr>
            <a:r>
              <a:rPr b="0" i="1" lang="en" sz="1000" u="none" cap="none" strike="noStrike">
                <a:solidFill>
                  <a:srgbClr val="B8C7CC"/>
                </a:solidFill>
                <a:latin typeface="Proxima Nova"/>
                <a:ea typeface="Proxima Nova"/>
                <a:cs typeface="Proxima Nova"/>
                <a:sym typeface="Proxima Nova"/>
              </a:rPr>
              <a:t>*Includes 1,370 acres at Franks Tract.</a:t>
            </a:r>
            <a:endParaRPr/>
          </a:p>
          <a:p>
            <a:pPr indent="-182880" lvl="0" marL="201168" marR="0" rtl="0" algn="l">
              <a:lnSpc>
                <a:spcPct val="100000"/>
              </a:lnSpc>
              <a:spcBef>
                <a:spcPts val="600"/>
              </a:spcBef>
              <a:spcAft>
                <a:spcPts val="0"/>
              </a:spcAft>
              <a:buClr>
                <a:srgbClr val="000000"/>
              </a:buClr>
              <a:buSzPts val="1100"/>
              <a:buFont typeface="Arial"/>
              <a:buChar char="•"/>
            </a:pPr>
            <a:r>
              <a:rPr b="0" i="0" lang="en" sz="1100" u="none" cap="none" strike="noStrike">
                <a:solidFill>
                  <a:srgbClr val="FFFFFF"/>
                </a:solidFill>
                <a:latin typeface="Proxima Nova"/>
                <a:ea typeface="Proxima Nova"/>
                <a:cs typeface="Proxima Nova"/>
                <a:sym typeface="Proxima Nova"/>
              </a:rPr>
              <a:t>Suisun: 52,244 leveed acres, mostly managed wetlands used as duck clubs; about 2,000 acres farmed. The scenario does not yet fix how much is restored.</a:t>
            </a:r>
            <a:endParaRPr/>
          </a:p>
          <a:p>
            <a:pPr indent="-182880" lvl="0" marL="201168" marR="0" rtl="0" algn="l">
              <a:lnSpc>
                <a:spcPct val="100000"/>
              </a:lnSpc>
              <a:spcBef>
                <a:spcPts val="500"/>
              </a:spcBef>
              <a:spcAft>
                <a:spcPts val="0"/>
              </a:spcAft>
              <a:buClr>
                <a:srgbClr val="000000"/>
              </a:buClr>
              <a:buSzPts val="1100"/>
              <a:buFont typeface="Arial"/>
              <a:buChar char="•"/>
            </a:pPr>
            <a:r>
              <a:rPr b="0" i="0" lang="en" sz="1100" u="none" cap="none" strike="noStrike">
                <a:solidFill>
                  <a:srgbClr val="FFFFFF"/>
                </a:solidFill>
                <a:latin typeface="Proxima Nova"/>
                <a:ea typeface="Proxima Nova"/>
                <a:cs typeface="Proxima Nova"/>
                <a:sym typeface="Proxima Nova"/>
              </a:rPr>
              <a:t>Franks Tract Futures 2020 design: 1,370 acres of marsh and land from 37 million cubic yards dredged on site; $560M (2020) ≈ $633M (2022), 4–9 years to build.</a:t>
            </a:r>
            <a:endParaRPr/>
          </a:p>
          <a:p>
            <a:pPr indent="-182880" lvl="0" marL="201168" marR="0" rtl="0" algn="l">
              <a:lnSpc>
                <a:spcPct val="100000"/>
              </a:lnSpc>
              <a:spcBef>
                <a:spcPts val="500"/>
              </a:spcBef>
              <a:spcAft>
                <a:spcPts val="0"/>
              </a:spcAft>
              <a:buClr>
                <a:srgbClr val="000000"/>
              </a:buClr>
              <a:buSzPts val="1100"/>
              <a:buFont typeface="Arial"/>
              <a:buChar char="•"/>
            </a:pPr>
            <a:r>
              <a:rPr b="0" i="0" lang="en" sz="1100" u="none" cap="none" strike="noStrike">
                <a:solidFill>
                  <a:srgbClr val="FFFFFF"/>
                </a:solidFill>
                <a:latin typeface="Proxima Nova"/>
                <a:ea typeface="Proxima Nova"/>
                <a:cs typeface="Proxima Nova"/>
                <a:sym typeface="Proxima Nova"/>
              </a:rPr>
              <a:t>Carbon at $15/t would take more than 200 years to repay construction.</a:t>
            </a:r>
            <a:endParaRPr/>
          </a:p>
        </p:txBody>
      </p:sp>
      <p:sp>
        <p:nvSpPr>
          <p:cNvPr id="844" name="Google Shape;844;p113"/>
          <p:cNvSpPr/>
          <p:nvPr/>
        </p:nvSpPr>
        <p:spPr>
          <a:xfrm>
            <a:off x="5669280" y="868680"/>
            <a:ext cx="3108960" cy="4023360"/>
          </a:xfrm>
          <a:prstGeom prst="rect">
            <a:avLst/>
          </a:prstGeom>
          <a:solidFill>
            <a:srgbClr val="2F44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5" name="Google Shape;845;p113"/>
          <p:cNvSpPr txBox="1"/>
          <p:nvPr/>
        </p:nvSpPr>
        <p:spPr>
          <a:xfrm>
            <a:off x="5806440" y="960120"/>
            <a:ext cx="2880360" cy="384048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None/>
            </a:pPr>
            <a:r>
              <a:rPr b="1" i="0" lang="en" sz="1300" u="none" cap="none" strike="noStrike">
                <a:solidFill>
                  <a:srgbClr val="7ED957"/>
                </a:solidFill>
                <a:latin typeface="Proxima Nova"/>
                <a:ea typeface="Proxima Nova"/>
                <a:cs typeface="Proxima Nova"/>
                <a:sym typeface="Proxima Nova"/>
              </a:rPr>
              <a:t>Franks Tract benefits (not in the dollar totals)</a:t>
            </a:r>
            <a:endParaRPr/>
          </a:p>
          <a:p>
            <a:pPr indent="-182880" lvl="0" marL="201168" marR="0" rtl="0" algn="l">
              <a:lnSpc>
                <a:spcPct val="100000"/>
              </a:lnSpc>
              <a:spcBef>
                <a:spcPts val="600"/>
              </a:spcBef>
              <a:spcAft>
                <a:spcPts val="0"/>
              </a:spcAft>
              <a:buClr>
                <a:srgbClr val="000000"/>
              </a:buClr>
              <a:buSzPts val="1100"/>
              <a:buFont typeface="Arial"/>
              <a:buChar char="•"/>
            </a:pPr>
            <a:r>
              <a:rPr b="0" i="0" lang="en" sz="1100" u="none" cap="none" strike="noStrike">
                <a:solidFill>
                  <a:srgbClr val="FFFFFF"/>
                </a:solidFill>
                <a:latin typeface="Proxima Nova"/>
                <a:ea typeface="Proxima Nova"/>
                <a:cs typeface="Proxima Nova"/>
                <a:sym typeface="Proxima Nova"/>
              </a:rPr>
              <a:t>Lower salinity and fewer fish drawn to the export pumps</a:t>
            </a:r>
            <a:endParaRPr/>
          </a:p>
          <a:p>
            <a:pPr indent="-182880" lvl="0" marL="201168" marR="0" rtl="0" algn="l">
              <a:lnSpc>
                <a:spcPct val="100000"/>
              </a:lnSpc>
              <a:spcBef>
                <a:spcPts val="400"/>
              </a:spcBef>
              <a:spcAft>
                <a:spcPts val="0"/>
              </a:spcAft>
              <a:buClr>
                <a:srgbClr val="000000"/>
              </a:buClr>
              <a:buSzPts val="1100"/>
              <a:buFont typeface="Arial"/>
              <a:buChar char="•"/>
            </a:pPr>
            <a:r>
              <a:rPr b="0" i="0" lang="en" sz="1100" u="none" cap="none" strike="noStrike">
                <a:solidFill>
                  <a:srgbClr val="FFFFFF"/>
                </a:solidFill>
                <a:latin typeface="Proxima Nova"/>
                <a:ea typeface="Proxima Nova"/>
                <a:cs typeface="Proxima Nova"/>
                <a:sym typeface="Proxima Nova"/>
              </a:rPr>
              <a:t>Fewer emergency drought barriers (2015 barrier: about $37M)</a:t>
            </a:r>
            <a:endParaRPr/>
          </a:p>
          <a:p>
            <a:pPr indent="-182880" lvl="0" marL="201168" marR="0" rtl="0" algn="l">
              <a:lnSpc>
                <a:spcPct val="100000"/>
              </a:lnSpc>
              <a:spcBef>
                <a:spcPts val="400"/>
              </a:spcBef>
              <a:spcAft>
                <a:spcPts val="0"/>
              </a:spcAft>
              <a:buClr>
                <a:srgbClr val="000000"/>
              </a:buClr>
              <a:buSzPts val="1100"/>
              <a:buFont typeface="Arial"/>
              <a:buChar char="•"/>
            </a:pPr>
            <a:r>
              <a:rPr b="0" i="0" lang="en" sz="1100" u="none" cap="none" strike="noStrike">
                <a:solidFill>
                  <a:srgbClr val="FFFFFF"/>
                </a:solidFill>
                <a:latin typeface="Proxima Nova"/>
                <a:ea typeface="Proxima Nova"/>
                <a:cs typeface="Proxima Nova"/>
                <a:sym typeface="Proxima Nova"/>
              </a:rPr>
              <a:t>More effective use of the $4–8M/yr now spent on weed control</a:t>
            </a:r>
            <a:endParaRPr/>
          </a:p>
          <a:p>
            <a:pPr indent="-182880" lvl="0" marL="201168" marR="0" rtl="0" algn="l">
              <a:lnSpc>
                <a:spcPct val="100000"/>
              </a:lnSpc>
              <a:spcBef>
                <a:spcPts val="400"/>
              </a:spcBef>
              <a:spcAft>
                <a:spcPts val="0"/>
              </a:spcAft>
              <a:buClr>
                <a:srgbClr val="000000"/>
              </a:buClr>
              <a:buSzPts val="1100"/>
              <a:buFont typeface="Arial"/>
              <a:buChar char="•"/>
            </a:pPr>
            <a:r>
              <a:rPr b="0" i="0" lang="en" sz="1100" u="none" cap="none" strike="noStrike">
                <a:solidFill>
                  <a:srgbClr val="FFFFFF"/>
                </a:solidFill>
                <a:latin typeface="Proxima Nova"/>
                <a:ea typeface="Proxima Nova"/>
                <a:cs typeface="Proxima Nova"/>
                <a:sym typeface="Proxima Nova"/>
              </a:rPr>
              <a:t>Wave protection for Bethel Island levees</a:t>
            </a:r>
            <a:endParaRPr/>
          </a:p>
          <a:p>
            <a:pPr indent="-182880" lvl="0" marL="201168" marR="0" rtl="0" algn="l">
              <a:lnSpc>
                <a:spcPct val="100000"/>
              </a:lnSpc>
              <a:spcBef>
                <a:spcPts val="400"/>
              </a:spcBef>
              <a:spcAft>
                <a:spcPts val="0"/>
              </a:spcAft>
              <a:buClr>
                <a:srgbClr val="000000"/>
              </a:buClr>
              <a:buSzPts val="1100"/>
              <a:buFont typeface="Arial"/>
              <a:buChar char="•"/>
            </a:pPr>
            <a:r>
              <a:rPr b="0" i="0" lang="en" sz="1100" u="none" cap="none" strike="noStrike">
                <a:solidFill>
                  <a:srgbClr val="FFFFFF"/>
                </a:solidFill>
                <a:latin typeface="Proxima Nova"/>
                <a:ea typeface="Proxima Nova"/>
                <a:cs typeface="Proxima Nova"/>
                <a:sym typeface="Proxima Nova"/>
              </a:rPr>
              <a:t>Better boating and bass fishing; about half of Bethel Island jobs depend on recreation</a:t>
            </a:r>
            <a:endParaRPr/>
          </a:p>
          <a:p>
            <a:pPr indent="0" lvl="0" marL="0" marR="0" rtl="0" algn="l">
              <a:lnSpc>
                <a:spcPct val="100000"/>
              </a:lnSpc>
              <a:spcBef>
                <a:spcPts val="400"/>
              </a:spcBef>
              <a:spcAft>
                <a:spcPts val="0"/>
              </a:spcAft>
              <a:buNone/>
            </a:pPr>
            <a:r>
              <a:rPr b="0" i="1" lang="en" sz="1000" u="none" cap="none" strike="noStrike">
                <a:solidFill>
                  <a:srgbClr val="B8C7CC"/>
                </a:solidFill>
                <a:latin typeface="Proxima Nova"/>
                <a:ea typeface="Proxima Nova"/>
                <a:cs typeface="Proxima Nova"/>
                <a:sym typeface="Proxima Nova"/>
              </a:rPr>
              <a:t>Costs noted: construction disruption; 29–36 fewer water-based duck blinds.</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849" name="Shape 849"/>
        <p:cNvGrpSpPr/>
        <p:nvPr/>
      </p:nvGrpSpPr>
      <p:grpSpPr>
        <a:xfrm>
          <a:off x="0" y="0"/>
          <a:ext cx="0" cy="0"/>
          <a:chOff x="0" y="0"/>
          <a:chExt cx="0" cy="0"/>
        </a:xfrm>
      </p:grpSpPr>
      <p:sp>
        <p:nvSpPr>
          <p:cNvPr id="850" name="Google Shape;850;p114"/>
          <p:cNvSpPr txBox="1"/>
          <p:nvPr/>
        </p:nvSpPr>
        <p:spPr>
          <a:xfrm>
            <a:off x="365760" y="201168"/>
            <a:ext cx="8412480" cy="64008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i="0" lang="en" sz="2800" u="none" cap="none" strike="noStrike">
                <a:solidFill>
                  <a:srgbClr val="7ED957"/>
                </a:solidFill>
                <a:latin typeface="Proxima Nova"/>
                <a:ea typeface="Proxima Nova"/>
                <a:cs typeface="Proxima Nova"/>
                <a:sym typeface="Proxima Nova"/>
              </a:rPr>
              <a:t>Scenario Ranking: Economy</a:t>
            </a:r>
            <a:endParaRPr/>
          </a:p>
        </p:txBody>
      </p:sp>
      <p:graphicFrame>
        <p:nvGraphicFramePr>
          <p:cNvPr id="851" name="Google Shape;851;p114"/>
          <p:cNvGraphicFramePr/>
          <p:nvPr/>
        </p:nvGraphicFramePr>
        <p:xfrm>
          <a:off x="365760" y="868680"/>
          <a:ext cx="3000000" cy="3000000"/>
        </p:xfrm>
        <a:graphic>
          <a:graphicData uri="http://schemas.openxmlformats.org/drawingml/2006/table">
            <a:tbl>
              <a:tblPr>
                <a:noFill/>
                <a:tableStyleId>{0CC4AB25-8DFD-4ACA-88D2-885EBE8A8D3D}</a:tableStyleId>
              </a:tblPr>
              <a:tblGrid>
                <a:gridCol w="2377450"/>
                <a:gridCol w="548650"/>
                <a:gridCol w="548650"/>
                <a:gridCol w="548650"/>
                <a:gridCol w="548650"/>
                <a:gridCol w="548650"/>
                <a:gridCol w="548650"/>
                <a:gridCol w="548650"/>
                <a:gridCol w="548650"/>
                <a:gridCol w="548650"/>
                <a:gridCol w="548650"/>
                <a:gridCol w="548650"/>
              </a:tblGrid>
              <a:tr h="365750">
                <a:tc>
                  <a:txBody>
                    <a:bodyPr/>
                    <a:lstStyle/>
                    <a:p>
                      <a:pPr indent="0" lvl="0" marL="0" marR="0" rtl="0" algn="l">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Scenario</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-5</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-4</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-3</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-2</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-1</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0</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+1</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+2</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+3</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+4</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c>
                  <a:txBody>
                    <a:bodyPr/>
                    <a:lstStyle/>
                    <a:p>
                      <a:pPr indent="0" lvl="0" marL="0" marR="0" rtl="0" algn="ctr">
                        <a:lnSpc>
                          <a:spcPct val="100000"/>
                        </a:lnSpc>
                        <a:spcBef>
                          <a:spcPts val="0"/>
                        </a:spcBef>
                        <a:spcAft>
                          <a:spcPts val="0"/>
                        </a:spcAft>
                        <a:buNone/>
                      </a:pPr>
                      <a:r>
                        <a:rPr b="1" i="0" lang="en" sz="1100" u="none" cap="none" strike="noStrike">
                          <a:solidFill>
                            <a:srgbClr val="7ED957"/>
                          </a:solidFill>
                          <a:latin typeface="Proxima Nova"/>
                          <a:ea typeface="Proxima Nova"/>
                          <a:cs typeface="Proxima Nova"/>
                          <a:sym typeface="Proxima Nova"/>
                        </a:rPr>
                        <a:t>+5</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1B282C"/>
                    </a:solidFill>
                  </a:tcPr>
                </a:tc>
              </a:tr>
              <a:tr h="365750">
                <a:tc>
                  <a:txBody>
                    <a:bodyPr/>
                    <a:lstStyle/>
                    <a:p>
                      <a:pPr indent="0" lvl="0" marL="0" marR="0" rtl="0" algn="l">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Business As Usual</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365750">
                <a:tc>
                  <a:txBody>
                    <a:bodyPr/>
                    <a:lstStyle/>
                    <a:p>
                      <a:pPr indent="0" lvl="0" marL="0" marR="0" rtl="0" algn="l">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Calling on Reserves</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 dry</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 wet</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r h="365750">
                <a:tc>
                  <a:txBody>
                    <a:bodyPr/>
                    <a:lstStyle/>
                    <a:p>
                      <a:pPr indent="0" lvl="0" marL="0" marR="0" rtl="0" algn="l">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Bolster and Fortify</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365750">
                <a:tc>
                  <a:txBody>
                    <a:bodyPr/>
                    <a:lstStyle/>
                    <a:p>
                      <a:pPr indent="0" lvl="0" marL="0" marR="0" rtl="0" algn="l">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Eco Machine</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r h="365750">
                <a:tc>
                  <a:txBody>
                    <a:bodyPr/>
                    <a:lstStyle/>
                    <a:p>
                      <a:pPr indent="0" lvl="0" marL="0" marR="0" rtl="0" algn="l">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A Tunnel (pending)</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365750">
                <a:tc>
                  <a:txBody>
                    <a:bodyPr/>
                    <a:lstStyle/>
                    <a:p>
                      <a:pPr indent="0" lvl="0" marL="0" marR="0" rtl="0" algn="l">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New Green Watershed 0.25MW</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r h="365750">
                <a:tc>
                  <a:txBody>
                    <a:bodyPr/>
                    <a:lstStyle/>
                    <a:p>
                      <a:pPr indent="0" lvl="0" marL="0" marR="0" rtl="0" algn="l">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New Green Watershed 0.5MW</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F444B"/>
                    </a:solidFill>
                  </a:tcPr>
                </a:tc>
              </a:tr>
              <a:tr h="365750">
                <a:tc>
                  <a:txBody>
                    <a:bodyPr/>
                    <a:lstStyle/>
                    <a:p>
                      <a:pPr indent="0" lvl="0" marL="0" marR="0" rtl="0" algn="l">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New Green Watershed Full MW</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rPr b="0" i="0" lang="en" sz="1100" u="none" cap="none" strike="noStrike">
                          <a:solidFill>
                            <a:srgbClr val="FFFFFF"/>
                          </a:solidFill>
                          <a:latin typeface="Proxima Nova"/>
                          <a:ea typeface="Proxima Nova"/>
                          <a:cs typeface="Proxima Nova"/>
                          <a:sym typeface="Proxima Nova"/>
                        </a:rPr>
                        <a:t>●</a:t>
                      </a:r>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c>
                  <a:txBody>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27425" marB="27425" marR="54875" marL="54875" anchor="ctr">
                    <a:lnL cap="flat" cmpd="sng" w="9525">
                      <a:solidFill>
                        <a:srgbClr val="4A6169"/>
                      </a:solidFill>
                      <a:prstDash val="solid"/>
                      <a:round/>
                      <a:headEnd len="sm" w="sm" type="none"/>
                      <a:tailEnd len="sm" w="sm" type="none"/>
                    </a:lnL>
                    <a:lnR cap="flat" cmpd="sng" w="9525">
                      <a:solidFill>
                        <a:srgbClr val="4A6169"/>
                      </a:solidFill>
                      <a:prstDash val="solid"/>
                      <a:round/>
                      <a:headEnd len="sm" w="sm" type="none"/>
                      <a:tailEnd len="sm" w="sm" type="none"/>
                    </a:lnR>
                    <a:lnT cap="flat" cmpd="sng" w="9525">
                      <a:solidFill>
                        <a:srgbClr val="4A6169"/>
                      </a:solidFill>
                      <a:prstDash val="solid"/>
                      <a:round/>
                      <a:headEnd len="sm" w="sm" type="none"/>
                      <a:tailEnd len="sm" w="sm" type="none"/>
                    </a:lnT>
                    <a:lnB cap="flat" cmpd="sng" w="9525">
                      <a:solidFill>
                        <a:srgbClr val="4A6169"/>
                      </a:solidFill>
                      <a:prstDash val="solid"/>
                      <a:round/>
                      <a:headEnd len="sm" w="sm" type="none"/>
                      <a:tailEnd len="sm" w="sm" type="none"/>
                    </a:lnB>
                    <a:solidFill>
                      <a:srgbClr val="253439"/>
                    </a:solidFill>
                  </a:tcPr>
                </a:tc>
              </a:tr>
            </a:tbl>
          </a:graphicData>
        </a:graphic>
      </p:graphicFrame>
      <p:sp>
        <p:nvSpPr>
          <p:cNvPr id="852" name="Google Shape;852;p114"/>
          <p:cNvSpPr txBox="1"/>
          <p:nvPr/>
        </p:nvSpPr>
        <p:spPr>
          <a:xfrm>
            <a:off x="365760" y="4206240"/>
            <a:ext cx="8412480" cy="64008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None/>
            </a:pPr>
            <a:r>
              <a:rPr b="0" i="1" lang="en" sz="1100" u="none" cap="none" strike="noStrike">
                <a:solidFill>
                  <a:srgbClr val="B8C7CC"/>
                </a:solidFill>
                <a:latin typeface="Proxima Nova"/>
                <a:ea typeface="Proxima Nova"/>
                <a:cs typeface="Proxima Nova"/>
                <a:sym typeface="Proxima Nova"/>
              </a:rPr>
              <a:t>Same score for gross revenue, jobs and value added. 0 = Business As Usual. A Tunnel: results pending.</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856" name="Shape 856"/>
        <p:cNvGrpSpPr/>
        <p:nvPr/>
      </p:nvGrpSpPr>
      <p:grpSpPr>
        <a:xfrm>
          <a:off x="0" y="0"/>
          <a:ext cx="0" cy="0"/>
          <a:chOff x="0" y="0"/>
          <a:chExt cx="0" cy="0"/>
        </a:xfrm>
      </p:grpSpPr>
      <p:sp>
        <p:nvSpPr>
          <p:cNvPr id="857" name="Google Shape;857;p115"/>
          <p:cNvSpPr txBox="1"/>
          <p:nvPr/>
        </p:nvSpPr>
        <p:spPr>
          <a:xfrm>
            <a:off x="365760" y="102427"/>
            <a:ext cx="8412600" cy="48630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i="0" lang="en" sz="2800" u="none" cap="none" strike="noStrike">
                <a:solidFill>
                  <a:srgbClr val="7ED957"/>
                </a:solidFill>
                <a:latin typeface="Proxima Nova"/>
                <a:ea typeface="Proxima Nova"/>
                <a:cs typeface="Proxima Nova"/>
                <a:sym typeface="Proxima Nova"/>
              </a:rPr>
              <a:t>Takeaways and Next Steps</a:t>
            </a:r>
            <a:endParaRPr/>
          </a:p>
        </p:txBody>
      </p:sp>
      <p:sp>
        <p:nvSpPr>
          <p:cNvPr id="858" name="Google Shape;858;p115"/>
          <p:cNvSpPr/>
          <p:nvPr/>
        </p:nvSpPr>
        <p:spPr>
          <a:xfrm>
            <a:off x="365750" y="734859"/>
            <a:ext cx="4069200" cy="4177200"/>
          </a:xfrm>
          <a:prstGeom prst="rect">
            <a:avLst/>
          </a:prstGeom>
          <a:solidFill>
            <a:srgbClr val="2F44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9" name="Google Shape;859;p115"/>
          <p:cNvSpPr/>
          <p:nvPr/>
        </p:nvSpPr>
        <p:spPr>
          <a:xfrm>
            <a:off x="4709150" y="734859"/>
            <a:ext cx="4069200" cy="4177200"/>
          </a:xfrm>
          <a:prstGeom prst="rect">
            <a:avLst/>
          </a:prstGeom>
          <a:solidFill>
            <a:srgbClr val="2F44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0" name="Google Shape;860;p115"/>
          <p:cNvSpPr txBox="1"/>
          <p:nvPr/>
        </p:nvSpPr>
        <p:spPr>
          <a:xfrm>
            <a:off x="502920" y="826311"/>
            <a:ext cx="3794700" cy="413430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Takeaways</a:t>
            </a:r>
            <a:endParaRPr/>
          </a:p>
          <a:p>
            <a:pPr indent="-182880" lvl="0" marL="201168" marR="0" rtl="0" algn="l">
              <a:lnSpc>
                <a:spcPct val="100000"/>
              </a:lnSpc>
              <a:spcBef>
                <a:spcPts val="600"/>
              </a:spcBef>
              <a:spcAft>
                <a:spcPts val="0"/>
              </a:spcAft>
              <a:buClr>
                <a:schemeClr val="lt1"/>
              </a:buClr>
              <a:buSzPts val="1400"/>
              <a:buFont typeface="Arial"/>
              <a:buChar char="•"/>
            </a:pPr>
            <a:r>
              <a:rPr b="0" i="0" lang="en" sz="1400" u="none" cap="none" strike="noStrike">
                <a:solidFill>
                  <a:schemeClr val="lt1"/>
                </a:solidFill>
                <a:latin typeface="Proxima Nova"/>
                <a:ea typeface="Proxima Nova"/>
                <a:cs typeface="Proxima Nova"/>
                <a:sym typeface="Proxima Nova"/>
              </a:rPr>
              <a:t>Salinity management alone has a negligible effect on the Delta farm economy</a:t>
            </a:r>
            <a:endParaRPr>
              <a:solidFill>
                <a:schemeClr val="lt1"/>
              </a:solidFill>
            </a:endParaRPr>
          </a:p>
          <a:p>
            <a:pPr indent="-182880" lvl="0" marL="201168" marR="0" rtl="0" algn="l">
              <a:lnSpc>
                <a:spcPct val="100000"/>
              </a:lnSpc>
              <a:spcBef>
                <a:spcPts val="800"/>
              </a:spcBef>
              <a:spcAft>
                <a:spcPts val="0"/>
              </a:spcAft>
              <a:buClr>
                <a:schemeClr val="lt1"/>
              </a:buClr>
              <a:buSzPts val="1400"/>
              <a:buFont typeface="Arial"/>
              <a:buChar char="•"/>
            </a:pPr>
            <a:r>
              <a:rPr b="0" i="0" lang="en" sz="1400" u="none" cap="none" strike="noStrike">
                <a:solidFill>
                  <a:schemeClr val="lt1"/>
                </a:solidFill>
                <a:latin typeface="Proxima Nova"/>
                <a:ea typeface="Proxima Nova"/>
                <a:cs typeface="Proxima Nova"/>
                <a:sym typeface="Proxima Nova"/>
              </a:rPr>
              <a:t>New Green Watershed is a real economic tradeoff: 19–46% of direct farm revenue, and 32–43% of total farm-related jobs. T</a:t>
            </a:r>
            <a:r>
              <a:rPr lang="en">
                <a:solidFill>
                  <a:schemeClr val="lt1"/>
                </a:solidFill>
                <a:latin typeface="Proxima Nova"/>
                <a:ea typeface="Proxima Nova"/>
                <a:cs typeface="Proxima Nova"/>
                <a:sym typeface="Proxima Nova"/>
              </a:rPr>
              <a:t>h</a:t>
            </a:r>
            <a:r>
              <a:rPr b="0" i="0" lang="en" sz="1400" u="none" cap="none" strike="noStrike">
                <a:solidFill>
                  <a:schemeClr val="lt1"/>
                </a:solidFill>
                <a:latin typeface="Proxima Nova"/>
                <a:ea typeface="Proxima Nova"/>
                <a:cs typeface="Proxima Nova"/>
                <a:sym typeface="Proxima Nova"/>
              </a:rPr>
              <a:t>is would </a:t>
            </a:r>
            <a:r>
              <a:rPr lang="en">
                <a:solidFill>
                  <a:schemeClr val="lt1"/>
                </a:solidFill>
                <a:latin typeface="Proxima Nova"/>
                <a:ea typeface="Proxima Nova"/>
                <a:cs typeface="Proxima Nova"/>
                <a:sym typeface="Proxima Nova"/>
              </a:rPr>
              <a:t>require economic </a:t>
            </a:r>
            <a:r>
              <a:rPr b="0" i="0" lang="en" sz="1400" u="none" cap="none" strike="noStrike">
                <a:solidFill>
                  <a:schemeClr val="lt1"/>
                </a:solidFill>
                <a:latin typeface="Proxima Nova"/>
                <a:ea typeface="Proxima Nova"/>
                <a:cs typeface="Proxima Nova"/>
                <a:sym typeface="Proxima Nova"/>
              </a:rPr>
              <a:t>tran</a:t>
            </a:r>
            <a:r>
              <a:rPr lang="en">
                <a:solidFill>
                  <a:schemeClr val="lt1"/>
                </a:solidFill>
                <a:latin typeface="Proxima Nova"/>
                <a:ea typeface="Proxima Nova"/>
                <a:cs typeface="Proxima Nova"/>
                <a:sym typeface="Proxima Nova"/>
              </a:rPr>
              <a:t>sitions, such as likely increases in the recreational sector and potential </a:t>
            </a:r>
            <a:r>
              <a:rPr lang="en">
                <a:solidFill>
                  <a:schemeClr val="lt1"/>
                </a:solidFill>
                <a:latin typeface="Proxima Nova"/>
                <a:ea typeface="Proxima Nova"/>
                <a:cs typeface="Proxima Nova"/>
                <a:sym typeface="Proxima Nova"/>
              </a:rPr>
              <a:t>conservation</a:t>
            </a:r>
            <a:r>
              <a:rPr lang="en">
                <a:solidFill>
                  <a:schemeClr val="lt1"/>
                </a:solidFill>
                <a:latin typeface="Proxima Nova"/>
                <a:ea typeface="Proxima Nova"/>
                <a:cs typeface="Proxima Nova"/>
                <a:sym typeface="Proxima Nova"/>
              </a:rPr>
              <a:t> incentivizing mechanism (i.e. CA 30 x 30 </a:t>
            </a:r>
            <a:r>
              <a:rPr lang="en">
                <a:solidFill>
                  <a:schemeClr val="lt1"/>
                </a:solidFill>
                <a:latin typeface="Proxima Nova"/>
                <a:ea typeface="Proxima Nova"/>
                <a:cs typeface="Proxima Nova"/>
                <a:sym typeface="Proxima Nova"/>
              </a:rPr>
              <a:t>initiative</a:t>
            </a:r>
            <a:r>
              <a:rPr lang="en">
                <a:solidFill>
                  <a:schemeClr val="lt1"/>
                </a:solidFill>
                <a:latin typeface="Proxima Nova"/>
                <a:ea typeface="Proxima Nova"/>
                <a:cs typeface="Proxima Nova"/>
                <a:sym typeface="Proxima Nova"/>
              </a:rPr>
              <a:t>). In the long term, this </a:t>
            </a:r>
            <a:r>
              <a:rPr lang="en">
                <a:solidFill>
                  <a:schemeClr val="lt1"/>
                </a:solidFill>
                <a:latin typeface="Proxima Nova"/>
                <a:ea typeface="Proxima Nova"/>
                <a:cs typeface="Proxima Nova"/>
                <a:sym typeface="Proxima Nova"/>
              </a:rPr>
              <a:t>scenario</a:t>
            </a:r>
            <a:r>
              <a:rPr lang="en">
                <a:solidFill>
                  <a:schemeClr val="lt1"/>
                </a:solidFill>
                <a:latin typeface="Proxima Nova"/>
                <a:ea typeface="Proxima Nova"/>
                <a:cs typeface="Proxima Nova"/>
                <a:sym typeface="Proxima Nova"/>
              </a:rPr>
              <a:t> may keep more land viable for </a:t>
            </a:r>
            <a:r>
              <a:rPr lang="en">
                <a:solidFill>
                  <a:schemeClr val="lt1"/>
                </a:solidFill>
                <a:latin typeface="Proxima Nova"/>
                <a:ea typeface="Proxima Nova"/>
                <a:cs typeface="Proxima Nova"/>
                <a:sym typeface="Proxima Nova"/>
              </a:rPr>
              <a:t>agricultural</a:t>
            </a:r>
            <a:r>
              <a:rPr lang="en">
                <a:solidFill>
                  <a:schemeClr val="lt1"/>
                </a:solidFill>
                <a:latin typeface="Proxima Nova"/>
                <a:ea typeface="Proxima Nova"/>
                <a:cs typeface="Proxima Nova"/>
                <a:sym typeface="Proxima Nova"/>
              </a:rPr>
              <a:t> production due to subsidence reversal and flood risk reduction.</a:t>
            </a:r>
            <a:endParaRPr>
              <a:solidFill>
                <a:schemeClr val="lt1"/>
              </a:solidFill>
            </a:endParaRPr>
          </a:p>
          <a:p>
            <a:pPr indent="-182880" lvl="0" marL="201168" marR="0" rtl="0" algn="l">
              <a:lnSpc>
                <a:spcPct val="100000"/>
              </a:lnSpc>
              <a:spcBef>
                <a:spcPts val="800"/>
              </a:spcBef>
              <a:spcAft>
                <a:spcPts val="0"/>
              </a:spcAft>
              <a:buClr>
                <a:schemeClr val="lt1"/>
              </a:buClr>
              <a:buSzPts val="1400"/>
              <a:buFont typeface="Arial"/>
              <a:buChar char="•"/>
            </a:pPr>
            <a:r>
              <a:rPr b="0" i="0" lang="en" sz="1400" u="none" cap="none" strike="noStrike">
                <a:solidFill>
                  <a:schemeClr val="lt1"/>
                </a:solidFill>
                <a:latin typeface="Proxima Nova"/>
                <a:ea typeface="Proxima Nova"/>
                <a:cs typeface="Proxima Nova"/>
                <a:sym typeface="Proxima Nova"/>
              </a:rPr>
              <a:t>Eco Machine's costs are construction and the Suisun duck-club economy, not farming</a:t>
            </a:r>
            <a:endParaRPr>
              <a:solidFill>
                <a:schemeClr val="lt1"/>
              </a:solidFill>
            </a:endParaRPr>
          </a:p>
          <a:p>
            <a:pPr indent="-182880" lvl="0" marL="201168" marR="0" rtl="0" algn="l">
              <a:lnSpc>
                <a:spcPct val="100000"/>
              </a:lnSpc>
              <a:spcBef>
                <a:spcPts val="800"/>
              </a:spcBef>
              <a:spcAft>
                <a:spcPts val="0"/>
              </a:spcAft>
              <a:buClr>
                <a:schemeClr val="lt1"/>
              </a:buClr>
              <a:buSzPts val="1400"/>
              <a:buFont typeface="Arial"/>
              <a:buChar char="•"/>
            </a:pPr>
            <a:r>
              <a:rPr b="0" i="0" lang="en" sz="1400" u="none" cap="none" strike="noStrike">
                <a:solidFill>
                  <a:schemeClr val="lt1"/>
                </a:solidFill>
                <a:latin typeface="Proxima Nova"/>
                <a:ea typeface="Proxima Nova"/>
                <a:cs typeface="Proxima Nova"/>
                <a:sym typeface="Proxima Nova"/>
              </a:rPr>
              <a:t>Carbon credits help at the margin; they are not a replacement for farm income</a:t>
            </a:r>
            <a:endParaRPr>
              <a:solidFill>
                <a:schemeClr val="lt1"/>
              </a:solidFill>
            </a:endParaRPr>
          </a:p>
        </p:txBody>
      </p:sp>
      <p:sp>
        <p:nvSpPr>
          <p:cNvPr id="861" name="Google Shape;861;p115"/>
          <p:cNvSpPr txBox="1"/>
          <p:nvPr/>
        </p:nvSpPr>
        <p:spPr>
          <a:xfrm>
            <a:off x="4864275" y="817334"/>
            <a:ext cx="3794700" cy="3901500"/>
          </a:xfrm>
          <a:prstGeom prst="rect">
            <a:avLst/>
          </a:prstGeom>
          <a:noFill/>
          <a:ln cap="flat" cmpd="sng" w="9525">
            <a:solidFill>
              <a:schemeClr val="lt1"/>
            </a:solidFill>
            <a:prstDash val="solid"/>
            <a:round/>
            <a:headEnd len="sm" w="sm" type="none"/>
            <a:tailEnd len="sm" w="sm" type="none"/>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None/>
            </a:pPr>
            <a:r>
              <a:rPr b="1" i="0" lang="en" sz="1600" u="none" cap="none" strike="noStrike">
                <a:solidFill>
                  <a:srgbClr val="7ED957"/>
                </a:solidFill>
                <a:latin typeface="Proxima Nova"/>
                <a:ea typeface="Proxima Nova"/>
                <a:cs typeface="Proxima Nova"/>
                <a:sym typeface="Proxima Nova"/>
              </a:rPr>
              <a:t>Next steps</a:t>
            </a:r>
            <a:endParaRPr/>
          </a:p>
          <a:p>
            <a:pPr indent="0" lvl="0" marL="0" rtl="0" algn="l">
              <a:lnSpc>
                <a:spcPct val="115000"/>
              </a:lnSpc>
              <a:spcBef>
                <a:spcPts val="0"/>
              </a:spcBef>
              <a:spcAft>
                <a:spcPts val="0"/>
              </a:spcAft>
              <a:buClr>
                <a:schemeClr val="dk1"/>
              </a:buClr>
              <a:buSzPts val="1100"/>
              <a:buFont typeface="Arial"/>
              <a:buNone/>
            </a:pPr>
            <a:r>
              <a:rPr lang="en">
                <a:solidFill>
                  <a:schemeClr val="lt1"/>
                </a:solidFill>
              </a:rPr>
              <a:t>•</a:t>
            </a:r>
            <a:r>
              <a:rPr lang="en">
                <a:solidFill>
                  <a:schemeClr val="lt1"/>
                </a:solidFill>
                <a:latin typeface="Proxima Nova"/>
                <a:ea typeface="Proxima Nova"/>
                <a:cs typeface="Proxima Nova"/>
                <a:sym typeface="Proxima Nova"/>
              </a:rPr>
              <a:t>Refine Suisun footprint in the RMA Eco Machine run</a:t>
            </a:r>
            <a:endParaRPr>
              <a:solidFill>
                <a:schemeClr val="lt1"/>
              </a:solidFill>
              <a:latin typeface="Proxima Nova"/>
              <a:ea typeface="Proxima Nova"/>
              <a:cs typeface="Proxima Nova"/>
              <a:sym typeface="Proxima Nova"/>
            </a:endParaRPr>
          </a:p>
          <a:p>
            <a:pPr indent="0" lvl="0" marL="0" rtl="0" algn="l">
              <a:lnSpc>
                <a:spcPct val="115000"/>
              </a:lnSpc>
              <a:spcBef>
                <a:spcPts val="800"/>
              </a:spcBef>
              <a:spcAft>
                <a:spcPts val="0"/>
              </a:spcAft>
              <a:buClr>
                <a:schemeClr val="dk1"/>
              </a:buClr>
              <a:buSzPts val="1100"/>
              <a:buFont typeface="Arial"/>
              <a:buNone/>
            </a:pPr>
            <a:r>
              <a:rPr lang="en">
                <a:solidFill>
                  <a:schemeClr val="lt1"/>
                </a:solidFill>
              </a:rPr>
              <a:t>•</a:t>
            </a:r>
            <a:r>
              <a:rPr lang="en">
                <a:solidFill>
                  <a:schemeClr val="lt1"/>
                </a:solidFill>
                <a:latin typeface="Proxima Nova"/>
                <a:ea typeface="Proxima Nova"/>
                <a:cs typeface="Proxima Nova"/>
                <a:sym typeface="Proxima Nova"/>
              </a:rPr>
              <a:t>Island-level carbon estimates</a:t>
            </a:r>
            <a:endParaRPr>
              <a:solidFill>
                <a:schemeClr val="lt1"/>
              </a:solidFill>
              <a:latin typeface="Proxima Nova"/>
              <a:ea typeface="Proxima Nova"/>
              <a:cs typeface="Proxima Nova"/>
              <a:sym typeface="Proxima Nova"/>
            </a:endParaRPr>
          </a:p>
          <a:p>
            <a:pPr indent="0" lvl="0" marL="0" rtl="0" algn="l">
              <a:lnSpc>
                <a:spcPct val="115000"/>
              </a:lnSpc>
              <a:spcBef>
                <a:spcPts val="800"/>
              </a:spcBef>
              <a:spcAft>
                <a:spcPts val="0"/>
              </a:spcAft>
              <a:buClr>
                <a:schemeClr val="dk1"/>
              </a:buClr>
              <a:buSzPts val="1100"/>
              <a:buFont typeface="Arial"/>
              <a:buNone/>
            </a:pPr>
            <a:r>
              <a:rPr lang="en">
                <a:solidFill>
                  <a:schemeClr val="lt1"/>
                </a:solidFill>
              </a:rPr>
              <a:t>•</a:t>
            </a:r>
            <a:r>
              <a:rPr lang="en">
                <a:solidFill>
                  <a:schemeClr val="lt1"/>
                </a:solidFill>
                <a:latin typeface="Proxima Nova"/>
                <a:ea typeface="Proxima Nova"/>
                <a:cs typeface="Proxima Nova"/>
                <a:sym typeface="Proxima Nova"/>
              </a:rPr>
              <a:t>Potentially, added economic value of Suisun duck clubs, waterfowl hunting and other types of recreation and recreation services</a:t>
            </a:r>
            <a:endParaRPr>
              <a:solidFill>
                <a:schemeClr val="lt1"/>
              </a:solidFill>
              <a:latin typeface="Proxima Nova"/>
              <a:ea typeface="Proxima Nova"/>
              <a:cs typeface="Proxima Nova"/>
              <a:sym typeface="Proxima Nova"/>
            </a:endParaRPr>
          </a:p>
          <a:p>
            <a:pPr indent="0" lvl="0" marL="0" rtl="0" algn="l">
              <a:lnSpc>
                <a:spcPct val="115000"/>
              </a:lnSpc>
              <a:spcBef>
                <a:spcPts val="800"/>
              </a:spcBef>
              <a:spcAft>
                <a:spcPts val="0"/>
              </a:spcAft>
              <a:buClr>
                <a:schemeClr val="dk1"/>
              </a:buClr>
              <a:buSzPts val="1100"/>
              <a:buFont typeface="Arial"/>
              <a:buNone/>
            </a:pPr>
            <a:r>
              <a:rPr lang="en">
                <a:solidFill>
                  <a:schemeClr val="lt1"/>
                </a:solidFill>
              </a:rPr>
              <a:t>•</a:t>
            </a:r>
            <a:r>
              <a:rPr lang="en">
                <a:solidFill>
                  <a:schemeClr val="lt1"/>
                </a:solidFill>
                <a:latin typeface="Proxima Nova"/>
                <a:ea typeface="Proxima Nova"/>
                <a:cs typeface="Proxima Nova"/>
                <a:sym typeface="Proxima Nova"/>
              </a:rPr>
              <a:t>Long term retention (rather than loss) and flood risk reduction of agricultural land through subsidence reversal techniques (New Green Watershed scenario)</a:t>
            </a:r>
            <a:endParaRPr>
              <a:solidFill>
                <a:schemeClr val="lt1"/>
              </a:solidFill>
              <a:latin typeface="Proxima Nova"/>
              <a:ea typeface="Proxima Nova"/>
              <a:cs typeface="Proxima Nova"/>
              <a:sym typeface="Proxima Nova"/>
            </a:endParaRPr>
          </a:p>
          <a:p>
            <a:pPr indent="0" lvl="0" marL="0" rtl="0" algn="l">
              <a:lnSpc>
                <a:spcPct val="115000"/>
              </a:lnSpc>
              <a:spcBef>
                <a:spcPts val="800"/>
              </a:spcBef>
              <a:spcAft>
                <a:spcPts val="800"/>
              </a:spcAft>
              <a:buClr>
                <a:schemeClr val="dk1"/>
              </a:buClr>
              <a:buSzPts val="1100"/>
              <a:buFont typeface="Arial"/>
              <a:buNone/>
            </a:pPr>
            <a:r>
              <a:rPr lang="en">
                <a:solidFill>
                  <a:schemeClr val="lt1"/>
                </a:solidFill>
              </a:rPr>
              <a:t>•</a:t>
            </a:r>
            <a:r>
              <a:rPr lang="en">
                <a:solidFill>
                  <a:schemeClr val="lt1"/>
                </a:solidFill>
                <a:latin typeface="Proxima Nova"/>
                <a:ea typeface="Proxima Nova"/>
                <a:cs typeface="Proxima Nova"/>
                <a:sym typeface="Proxima Nova"/>
              </a:rPr>
              <a:t>Additional model runs on tunnel scenario plus other land conversion impacts in Eco-Machine and New Green Watershed</a:t>
            </a:r>
            <a:endParaRPr>
              <a:solidFill>
                <a:srgbClr val="FFFFFF"/>
              </a:solidFill>
              <a:latin typeface="Proxima Nova"/>
              <a:ea typeface="Proxima Nova"/>
              <a:cs typeface="Proxima Nova"/>
              <a:sym typeface="Proxima Nova"/>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865" name="Shape 865"/>
        <p:cNvGrpSpPr/>
        <p:nvPr/>
      </p:nvGrpSpPr>
      <p:grpSpPr>
        <a:xfrm>
          <a:off x="0" y="0"/>
          <a:ext cx="0" cy="0"/>
          <a:chOff x="0" y="0"/>
          <a:chExt cx="0" cy="0"/>
        </a:xfrm>
      </p:grpSpPr>
      <p:sp>
        <p:nvSpPr>
          <p:cNvPr id="866" name="Google Shape;866;p116"/>
          <p:cNvSpPr txBox="1"/>
          <p:nvPr/>
        </p:nvSpPr>
        <p:spPr>
          <a:xfrm>
            <a:off x="50" y="102425"/>
            <a:ext cx="9144000" cy="871200"/>
          </a:xfrm>
          <a:prstGeom prst="rect">
            <a:avLst/>
          </a:prstGeom>
          <a:noFill/>
          <a:ln>
            <a:noFill/>
          </a:ln>
        </p:spPr>
        <p:txBody>
          <a:bodyPr anchorCtr="0" anchor="ctr" bIns="27425" lIns="45700" spcFirstLastPara="1" rIns="45700" wrap="square" tIns="27425">
            <a:spAutoFit/>
          </a:bodyPr>
          <a:lstStyle/>
          <a:p>
            <a:pPr indent="0" lvl="0" marL="0" marR="0" rtl="0" algn="ctr">
              <a:lnSpc>
                <a:spcPct val="100000"/>
              </a:lnSpc>
              <a:spcBef>
                <a:spcPts val="0"/>
              </a:spcBef>
              <a:spcAft>
                <a:spcPts val="0"/>
              </a:spcAft>
              <a:buNone/>
            </a:pPr>
            <a:r>
              <a:rPr b="1" lang="en" sz="5300">
                <a:solidFill>
                  <a:srgbClr val="7ED957"/>
                </a:solidFill>
                <a:latin typeface="Proxima Nova"/>
                <a:ea typeface="Proxima Nova"/>
                <a:cs typeface="Proxima Nova"/>
                <a:sym typeface="Proxima Nova"/>
              </a:rPr>
              <a:t>LIVE POLL</a:t>
            </a:r>
            <a:endParaRPr sz="5300"/>
          </a:p>
        </p:txBody>
      </p:sp>
      <p:pic>
        <p:nvPicPr>
          <p:cNvPr id="867" name="Google Shape;867;p116"/>
          <p:cNvPicPr preferRelativeResize="0"/>
          <p:nvPr/>
        </p:nvPicPr>
        <p:blipFill>
          <a:blip r:embed="rId3">
            <a:alphaModFix/>
          </a:blip>
          <a:stretch>
            <a:fillRect/>
          </a:stretch>
        </p:blipFill>
        <p:spPr>
          <a:xfrm>
            <a:off x="2639463" y="973625"/>
            <a:ext cx="3865074" cy="3865074"/>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871" name="Shape 871"/>
        <p:cNvGrpSpPr/>
        <p:nvPr/>
      </p:nvGrpSpPr>
      <p:grpSpPr>
        <a:xfrm>
          <a:off x="0" y="0"/>
          <a:ext cx="0" cy="0"/>
          <a:chOff x="0" y="0"/>
          <a:chExt cx="0" cy="0"/>
        </a:xfrm>
      </p:grpSpPr>
      <p:pic>
        <p:nvPicPr>
          <p:cNvPr id="872" name="Google Shape;872;p117"/>
          <p:cNvPicPr preferRelativeResize="0"/>
          <p:nvPr/>
        </p:nvPicPr>
        <p:blipFill>
          <a:blip r:embed="rId3">
            <a:alphaModFix/>
          </a:blip>
          <a:stretch>
            <a:fillRect/>
          </a:stretch>
        </p:blipFill>
        <p:spPr>
          <a:xfrm>
            <a:off x="45900" y="1070055"/>
            <a:ext cx="9098101" cy="3713499"/>
          </a:xfrm>
          <a:prstGeom prst="rect">
            <a:avLst/>
          </a:prstGeom>
          <a:noFill/>
          <a:ln>
            <a:noFill/>
          </a:ln>
        </p:spPr>
      </p:pic>
      <p:sp>
        <p:nvSpPr>
          <p:cNvPr id="873" name="Google Shape;873;p117"/>
          <p:cNvSpPr txBox="1"/>
          <p:nvPr/>
        </p:nvSpPr>
        <p:spPr>
          <a:xfrm>
            <a:off x="225275" y="102425"/>
            <a:ext cx="8918700" cy="655800"/>
          </a:xfrm>
          <a:prstGeom prst="rect">
            <a:avLst/>
          </a:prstGeom>
          <a:noFill/>
          <a:ln>
            <a:noFill/>
          </a:ln>
        </p:spPr>
        <p:txBody>
          <a:bodyPr anchorCtr="0" anchor="ctr" bIns="27425" lIns="45700" spcFirstLastPara="1" rIns="45700" wrap="square" tIns="27425">
            <a:spAutoFit/>
          </a:bodyPr>
          <a:lstStyle/>
          <a:p>
            <a:pPr indent="0" lvl="0" marL="0" marR="0" rtl="0" algn="l">
              <a:lnSpc>
                <a:spcPct val="100000"/>
              </a:lnSpc>
              <a:spcBef>
                <a:spcPts val="0"/>
              </a:spcBef>
              <a:spcAft>
                <a:spcPts val="0"/>
              </a:spcAft>
              <a:buNone/>
            </a:pPr>
            <a:r>
              <a:rPr b="1" lang="en" sz="3900">
                <a:solidFill>
                  <a:srgbClr val="7ED957"/>
                </a:solidFill>
                <a:latin typeface="Proxima Nova"/>
                <a:ea typeface="Proxima Nova"/>
                <a:cs typeface="Proxima Nova"/>
                <a:sym typeface="Proxima Nova"/>
              </a:rPr>
              <a:t>SCENARIO RANKING</a:t>
            </a:r>
            <a:endParaRPr sz="39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